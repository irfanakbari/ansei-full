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1c7d3f547e414d" /><Relationship Type="http://schemas.openxmlformats.org/officeDocument/2006/relationships/extended-properties" Target="/docProps/app.xml" Id="R3045a4e170604012" /><Relationship Type="http://schemas.openxmlformats.org/officeDocument/2006/relationships/officeDocument" Target="/ppt/presentation.xml" Id="R6d3d14395bd84b44" /></Relationships>
</file>

<file path=ppt/presentation.xml><?xml version="1.0" encoding="utf-8"?>
<p:presentation xmlns:p="http://schemas.openxmlformats.org/presentationml/2006/main">
  <p:sldMasterIdLst>
    <p:sldMasterId xmlns:r="http://schemas.openxmlformats.org/officeDocument/2006/relationships" id="2147483648" r:id="R8ae377386e004db4"/>
  </p:sldMasterIdLst>
  <p:notesMasterIdLst>
    <p:notesMasterId xmlns:r="http://schemas.openxmlformats.org/officeDocument/2006/relationships" r:id="R18c394ffdae64691"/>
  </p:notesMasterIdLst>
  <p:sldIdLst>
    <p:sldId xmlns:r="http://schemas.openxmlformats.org/officeDocument/2006/relationships" id="256" r:id="R3f3370ca551b4fda"/>
    <p:sldId xmlns:r="http://schemas.openxmlformats.org/officeDocument/2006/relationships" id="257" r:id="R2a55c6a4ab2045e7"/>
    <p:sldId xmlns:r="http://schemas.openxmlformats.org/officeDocument/2006/relationships" id="258" r:id="R8c9580ffada4447b"/>
    <p:sldId xmlns:r="http://schemas.openxmlformats.org/officeDocument/2006/relationships" id="259" r:id="R5daac7639a00402d"/>
    <p:sldId xmlns:r="http://schemas.openxmlformats.org/officeDocument/2006/relationships" id="260" r:id="R44e70e32361246c0"/>
    <p:sldId xmlns:r="http://schemas.openxmlformats.org/officeDocument/2006/relationships" id="261" r:id="Rad857e899f264cf5"/>
    <p:sldId xmlns:r="http://schemas.openxmlformats.org/officeDocument/2006/relationships" id="262" r:id="Re0102fd5a12d43a0"/>
    <p:sldId xmlns:r="http://schemas.openxmlformats.org/officeDocument/2006/relationships" id="263" r:id="Rd3555c3cca444d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eee66c765e4a92" /><Relationship Type="http://schemas.openxmlformats.org/officeDocument/2006/relationships/slideMaster" Target="/ppt/slideMasters/slideMaster1.xml" Id="R8ae377386e004db4" /><Relationship Type="http://schemas.openxmlformats.org/officeDocument/2006/relationships/notesMaster" Target="/ppt/notesMasters/notesMaster1.xml" Id="R18c394ffdae64691" /><Relationship Type="http://schemas.openxmlformats.org/officeDocument/2006/relationships/presProps" Target="/ppt/presProps.xml" Id="R713d7f96bd5f48ce" /><Relationship Type="http://schemas.openxmlformats.org/officeDocument/2006/relationships/tableStyles" Target="/ppt/tableStyles.xml" Id="R08cc99e73a434a95" /><Relationship Type="http://schemas.openxmlformats.org/officeDocument/2006/relationships/slide" Target="/ppt/slides/slide1.xml" Id="R3f3370ca551b4fda" /><Relationship Type="http://schemas.openxmlformats.org/officeDocument/2006/relationships/slide" Target="/ppt/slides/slide2.xml" Id="R2a55c6a4ab2045e7" /><Relationship Type="http://schemas.openxmlformats.org/officeDocument/2006/relationships/slide" Target="/ppt/slides/slide3.xml" Id="R8c9580ffada4447b" /><Relationship Type="http://schemas.openxmlformats.org/officeDocument/2006/relationships/slide" Target="/ppt/slides/slide4.xml" Id="R5daac7639a00402d" /><Relationship Type="http://schemas.openxmlformats.org/officeDocument/2006/relationships/slide" Target="/ppt/slides/slide5.xml" Id="R44e70e32361246c0" /><Relationship Type="http://schemas.openxmlformats.org/officeDocument/2006/relationships/slide" Target="/ppt/slides/slide6.xml" Id="Rad857e899f264cf5" /><Relationship Type="http://schemas.openxmlformats.org/officeDocument/2006/relationships/slide" Target="/ppt/slides/slide7.xml" Id="Re0102fd5a12d43a0" /><Relationship Type="http://schemas.openxmlformats.org/officeDocument/2006/relationships/slide" Target="/ppt/slides/slide8.xml" Id="Rd3555c3cca444d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f54caf206741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dcaa378d9c4324" /><Relationship Type="http://schemas.openxmlformats.org/officeDocument/2006/relationships/notesMaster" Target="/ppt/notesMasters/notesMaster1.xml" Id="Rbef954f1cdea44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0941d4773f4004" /><Relationship Type="http://schemas.openxmlformats.org/officeDocument/2006/relationships/notesMaster" Target="/ppt/notesMasters/notesMaster1.xml" Id="R35f5c4c05b1544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e5e40ab5af4134" /><Relationship Type="http://schemas.openxmlformats.org/officeDocument/2006/relationships/notesMaster" Target="/ppt/notesMasters/notesMaster1.xml" Id="R3ed63a1548d34b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209305bd3048ef" /><Relationship Type="http://schemas.openxmlformats.org/officeDocument/2006/relationships/notesMaster" Target="/ppt/notesMasters/notesMaster1.xml" Id="R319d0df72d9e49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7e30d4058a4323" /><Relationship Type="http://schemas.openxmlformats.org/officeDocument/2006/relationships/notesMaster" Target="/ppt/notesMasters/notesMaster1.xml" Id="Rfedf1777f37d48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b23595a56b4e54" /><Relationship Type="http://schemas.openxmlformats.org/officeDocument/2006/relationships/notesMaster" Target="/ppt/notesMasters/notesMaster1.xml" Id="Rdc2b54c0f55c43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c497f92c1c4998" /><Relationship Type="http://schemas.openxmlformats.org/officeDocument/2006/relationships/notesMaster" Target="/ppt/notesMasters/notesMaster1.xml" Id="R4796c2d4ac5946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f02722fe054c30" /><Relationship Type="http://schemas.openxmlformats.org/officeDocument/2006/relationships/notesMaster" Target="/ppt/notesMasters/notesMaster1.xml" Id="R99f4d5b0196943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Pembuka: usulan ini menyatukan data produksi ANSEI ke SAP melalui NOVA. NOVA berfungsi sebagai Shopfloor/MES, sedangkan SAP tetap menjadi pusat data dan transaksi bisnis.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Tekankan bahwa isu awal bukan kemampuan produksi, tetapi kejelasan kepemilikan material dan aset inventory. Trial IT dan Accounting menunjukkan skenario tersebut dapat ditangani. Detail konfigurasi final tetap memerlukan persetujuan Accounting dan tim SAP.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Alur yang berlaku: release produksi, shopping material, hasil produksi/assembly, Poka-Yoke, delivery, kemudian close setelah seluruh forecast atau PO selesai delivery. InventoryLedger adalah dasar saldo lokal ANSEI saat ini. Slide ini menjelaskan kondisi berjalan, bukan rancangan akhir integrasi SAP.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Pesan utama: SAP memiliki master, saldo, dokumen, dan status bisnis. NOVA hanya menyediakan pengalaman Shopfloor/MES bagi operator. Jika diperlukan, NOVA boleh menyimpan antrean teknis dan jejak integrasi sementara, tetapi bukan saldo atau transaksi bisnis tandingan.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Empat titik inti: GR material, consumption material, production result/finish good receipt, serta delivery dan penutupan. Poka-Yoke menjadi syarat sebelum delivery. Nama transaksi pada slide bersifat konsep bisnis, bukan keputusan konfigurasi atau transaction code SAP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Kontrol utama mencegah dua risiko: transaksi ganda dan selisih saldo tersembunyi. Setiap event harus mempunyai integration ID, status posting, nomor dokumen SAP, serta jalur exception dan rekonsiliasi.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Usulkan pilot terbatas, bukan big bang. Kelulusan pilot harus ditentukan oleh bukti transaksi SAP, rekonsiliasi saldo, penanganan exception, dan kesiapan operasional tanpa Excel sebagai sumber transaksi.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Penutup: minta dukungan manajemen agar Produksi menjadi sponsor pengajuan resmi ke Accounting. Persetujuan hari ini berfokus pada arah arsitektur dan pilot, bukan keputusan final konfigurasi SAP.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cae619e9b647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460c36119444db" /><Relationship Type="http://schemas.openxmlformats.org/officeDocument/2006/relationships/slideLayout" Target="/ppt/slideLayouts/slideLayout1.xml" Id="R6d7afd8d56fc41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7afd8d56fc41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741c5c03304957" /><Relationship Type="http://schemas.openxmlformats.org/officeDocument/2006/relationships/image" Target="/ppt/media/image.png" Id="R3cdc521373004161" /><Relationship Type="http://schemas.openxmlformats.org/officeDocument/2006/relationships/image" Target="/ppt/media/image2.png" Id="R7618690982b2481c" /><Relationship Type="http://schemas.openxmlformats.org/officeDocument/2006/relationships/notesSlide" Target="/ppt/notesSlides/notesSlide1.xml" Id="R639b7d88ac7843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1386afe45c49e8" /><Relationship Type="http://schemas.openxmlformats.org/officeDocument/2006/relationships/notesSlide" Target="/ppt/notesSlides/notesSlide2.xml" Id="R18c246f098f748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5560863abf46d1" /><Relationship Type="http://schemas.openxmlformats.org/officeDocument/2006/relationships/notesSlide" Target="/ppt/notesSlides/notesSlide3.xml" Id="R3e514c35cbe341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d9b42b6494428e" /><Relationship Type="http://schemas.openxmlformats.org/officeDocument/2006/relationships/notesSlide" Target="/ppt/notesSlides/notesSlide4.xml" Id="R36766768444f43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fc60a397cdd4256" /><Relationship Type="http://schemas.openxmlformats.org/officeDocument/2006/relationships/notesSlide" Target="/ppt/notesSlides/notesSlide5.xml" Id="Rc1df173aa9694d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fbdc434fc84f8f" /><Relationship Type="http://schemas.openxmlformats.org/officeDocument/2006/relationships/notesSlide" Target="/ppt/notesSlides/notesSlide6.xml" Id="R1bdbf5f0f5d741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9ec31da24f54acb" /><Relationship Type="http://schemas.openxmlformats.org/officeDocument/2006/relationships/notesSlide" Target="/ppt/notesSlides/notesSlide7.xml" Id="R15c138e5a96b4a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98489ab8da4c76" /><Relationship Type="http://schemas.openxmlformats.org/officeDocument/2006/relationships/notesSlide" Target="/ppt/notesSlides/notesSlide8.xml" Id="R0fa08495268449c3" /></Relationships>
</file>

<file path=ppt/slides/slide1.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cdc5213730041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618690982b2481c"/>
          <a:stretch xmlns:a="http://schemas.openxmlformats.org/drawingml/2006/main"/>
        </p:blipFill>
        <p:spPr>
          <a:xfrm xmlns:a="http://schemas.openxmlformats.org/drawingml/2006/main">
            <a:off x="696776" y="495300"/>
            <a:ext cx="2702199" cy="10668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5F6EC05-CAC6-4546-8CEF-C0D424F406E5}"/>
              </a:ext>
            </a:extLst>
          </p:cNvPr>
          <p:cNvSpPr>
            <a:spLocks xmlns:a="http://schemas.openxmlformats.org/drawingml/2006/main" noGrp="1"/>
          </p:cNvSpPr>
          <p:nvPr/>
        </p:nvSpPr>
        <p:spPr>
          <a:xfrm xmlns:a="http://schemas.openxmlformats.org/drawingml/2006/main">
            <a:off x="685800" y="1809750"/>
            <a:ext cx="2266950" cy="285750"/>
          </a:xfrm>
          <a:prstGeom xmlns:a="http://schemas.openxmlformats.org/drawingml/2006/main" prst="roundRect">
            <a:avLst>
              <a:gd name="adj" fmla="val 26667"/>
            </a:avLst>
          </a:prstGeom>
          <a:solidFill xmlns:a="http://schemas.openxmlformats.org/drawingml/2006/main">
            <a:srgbClr val="D94141"/>
          </a:solidFill>
          <a:ln xmlns:a="http://schemas.openxmlformats.org/drawingml/2006/main" w="0">
            <a:noFill/>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USULAN UNTUK MANAJEMEN</a:t>
            </a:r>
          </a:p>
        </p:txBody>
      </p:sp>
      <p:sp>
        <p:nvSpPr>
          <p:cNvPr id="4" name="">
            <a:extLst xmlns:a="http://schemas.openxmlformats.org/drawingml/2006/main">
              <a:ext uri="{FF2B5EF4-FFF2-40B4-BE49-F238E27FC236}">
                <a16:creationId xmlns:a16="http://schemas.microsoft.com/office/drawing/2014/main" id="{56FBB7EF-06D5-42F7-96E4-2D3BFFE574ED}"/>
              </a:ext>
            </a:extLst>
          </p:cNvPr>
          <p:cNvSpPr>
            <a:spLocks xmlns:a="http://schemas.openxmlformats.org/drawingml/2006/main" noGrp="1"/>
          </p:cNvSpPr>
          <p:nvPr/>
        </p:nvSpPr>
        <p:spPr>
          <a:xfrm xmlns:a="http://schemas.openxmlformats.org/drawingml/2006/main">
            <a:off x="685800" y="2266950"/>
            <a:ext cx="5334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a:solidFill>
                  <a:srgbClr val="FFFFFF"/>
                </a:solidFill>
                <a:latin typeface="Aptos"/>
                <a:ea typeface="Aptos"/>
                <a:cs typeface="Aptos"/>
              </a:defRPr>
            </a:pPr>
            <a:r>
              <a:rPr sz="4050" b="1">
                <a:solidFill>
                  <a:srgbClr val="FFFFFF"/>
                </a:solidFill>
                <a:latin typeface="Aptos"/>
                <a:ea typeface="Aptos"/>
                <a:cs typeface="Aptos"/>
              </a:rPr>
              <a:t>Sinkronisasi Data</a:t>
            </a:r>
          </a:p>
          <a:p xmlns:a="http://schemas.openxmlformats.org/drawingml/2006/main">
            <a:pPr algn="l">
              <a:lnSpc>
                <a:spcPct val="92000"/>
              </a:lnSpc>
              <a:buNone/>
              <a:defRPr sz="4050" b="1">
                <a:solidFill>
                  <a:srgbClr val="FFFFFF"/>
                </a:solidFill>
                <a:latin typeface="Aptos"/>
                <a:ea typeface="Aptos"/>
                <a:cs typeface="Aptos"/>
              </a:defRPr>
            </a:pPr>
            <a:r>
              <a:rPr sz="4050" b="1">
                <a:solidFill>
                  <a:srgbClr val="FFFFFF"/>
                </a:solidFill>
                <a:latin typeface="Aptos"/>
                <a:ea typeface="Aptos"/>
                <a:cs typeface="Aptos"/>
              </a:rPr>
              <a:t>Produksi ANSEI ke SAP</a:t>
            </a:r>
          </a:p>
        </p:txBody>
      </p:sp>
      <p:sp>
        <p:nvSpPr>
          <p:cNvPr id="5" name="">
            <a:extLst xmlns:a="http://schemas.openxmlformats.org/drawingml/2006/main">
              <a:ext uri="{FF2B5EF4-FFF2-40B4-BE49-F238E27FC236}">
                <a16:creationId xmlns:a16="http://schemas.microsoft.com/office/drawing/2014/main" id="{86549A1D-ACF0-4306-9E31-3E79D9F1FE07}"/>
              </a:ext>
            </a:extLst>
          </p:cNvPr>
          <p:cNvSpPr>
            <a:spLocks xmlns:a="http://schemas.openxmlformats.org/drawingml/2006/main" noGrp="1"/>
          </p:cNvSpPr>
          <p:nvPr/>
        </p:nvSpPr>
        <p:spPr>
          <a:xfrm xmlns:a="http://schemas.openxmlformats.org/drawingml/2006/main">
            <a:off x="704850" y="400050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a:solidFill>
                  <a:srgbClr val="CFE8F7"/>
                </a:solidFill>
                <a:latin typeface="Aptos"/>
                <a:ea typeface="Aptos"/>
                <a:cs typeface="Aptos"/>
              </a:defRPr>
            </a:pPr>
            <a:r>
              <a:rPr sz="1875" b="0">
                <a:solidFill>
                  <a:srgbClr val="CFE8F7"/>
                </a:solidFill>
                <a:latin typeface="Aptos"/>
                <a:ea typeface="Aptos"/>
                <a:cs typeface="Aptos"/>
              </a:rPr>
              <a:t>Konsep integrasi melalui NOVA Shopfloor/MES</a:t>
            </a:r>
          </a:p>
        </p:txBody>
      </p:sp>
      <p:sp>
        <p:nvSpPr>
          <p:cNvPr id="6" name="">
            <a:extLst xmlns:a="http://schemas.openxmlformats.org/drawingml/2006/main">
              <a:ext uri="{FF2B5EF4-FFF2-40B4-BE49-F238E27FC236}">
                <a16:creationId xmlns:a16="http://schemas.microsoft.com/office/drawing/2014/main" id="{D78B1407-F483-4256-9FCA-817DA112EEDB}"/>
              </a:ext>
            </a:extLst>
          </p:cNvPr>
          <p:cNvSpPr>
            <a:spLocks xmlns:a="http://schemas.openxmlformats.org/drawingml/2006/main" noGrp="1"/>
          </p:cNvSpPr>
          <p:nvPr/>
        </p:nvSpPr>
        <p:spPr>
          <a:xfrm xmlns:a="http://schemas.openxmlformats.org/drawingml/2006/main">
            <a:off x="695325" y="4695825"/>
            <a:ext cx="800100" cy="47625"/>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F5A960C-89B0-4A6A-A91F-126EB818D8AD}"/>
              </a:ext>
            </a:extLst>
          </p:cNvPr>
          <p:cNvSpPr>
            <a:spLocks xmlns:a="http://schemas.openxmlformats.org/drawingml/2006/main" noGrp="1"/>
          </p:cNvSpPr>
          <p:nvPr/>
        </p:nvSpPr>
        <p:spPr>
          <a:xfrm xmlns:a="http://schemas.openxmlformats.org/drawingml/2006/main">
            <a:off x="704850" y="4953000"/>
            <a:ext cx="4810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FFFFFF"/>
                </a:solidFill>
                <a:latin typeface="Aptos"/>
                <a:ea typeface="Aptos"/>
                <a:cs typeface="Aptos"/>
              </a:defRPr>
            </a:pPr>
            <a:r>
              <a:rPr sz="1575" b="0">
                <a:solidFill>
                  <a:srgbClr val="FFFFFF"/>
                </a:solidFill>
                <a:latin typeface="Aptos"/>
                <a:ea typeface="Aptos"/>
                <a:cs typeface="Aptos"/>
              </a:rPr>
              <a:t>Tujuan jangka panjang: seluruh data dan transaksi bisnis berpusat di SAP</a:t>
            </a:r>
          </a:p>
        </p:txBody>
      </p:sp>
      <p:sp>
        <p:nvSpPr>
          <p:cNvPr id="8" name="">
            <a:extLst xmlns:a="http://schemas.openxmlformats.org/drawingml/2006/main">
              <a:ext uri="{FF2B5EF4-FFF2-40B4-BE49-F238E27FC236}">
                <a16:creationId xmlns:a16="http://schemas.microsoft.com/office/drawing/2014/main" id="{038B50DF-7642-4FED-A5FF-0E66037974E5}"/>
              </a:ext>
            </a:extLst>
          </p:cNvPr>
          <p:cNvSpPr>
            <a:spLocks xmlns:a="http://schemas.openxmlformats.org/drawingml/2006/main" noGrp="1"/>
          </p:cNvSpPr>
          <p:nvPr/>
        </p:nvSpPr>
        <p:spPr>
          <a:xfrm xmlns:a="http://schemas.openxmlformats.org/drawingml/2006/main">
            <a:off x="704850" y="6115050"/>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B5CADD"/>
                </a:solidFill>
                <a:latin typeface="Aptos"/>
                <a:ea typeface="Aptos"/>
                <a:cs typeface="Aptos"/>
              </a:defRPr>
            </a:pPr>
            <a:r>
              <a:rPr sz="1200" b="0">
                <a:solidFill>
                  <a:srgbClr val="B5CADD"/>
                </a:solidFill>
                <a:latin typeface="Aptos"/>
                <a:ea typeface="Aptos"/>
                <a:cs typeface="Aptos"/>
              </a:rPr>
              <a:t>IT &amp; Accounting</a:t>
            </a:r>
          </a:p>
          <a:p xmlns:a="http://schemas.openxmlformats.org/drawingml/2006/main">
            <a:pPr algn="l">
              <a:lnSpc>
                <a:spcPct val="100000"/>
              </a:lnSpc>
              <a:buNone/>
              <a:defRPr sz="1200" b="0">
                <a:solidFill>
                  <a:srgbClr val="B5CADD"/>
                </a:solidFill>
                <a:latin typeface="Aptos"/>
                <a:ea typeface="Aptos"/>
                <a:cs typeface="Aptos"/>
              </a:defRPr>
            </a:pPr>
            <a:r>
              <a:rPr sz="1200" b="0">
                <a:solidFill>
                  <a:srgbClr val="B5CADD"/>
                </a:solidFill>
                <a:latin typeface="Aptos"/>
                <a:ea typeface="Aptos"/>
                <a:cs typeface="Aptos"/>
              </a:rPr>
              <a:t>September 2026</a:t>
            </a:r>
          </a:p>
        </p:txBody>
      </p:sp>
    </p:spTree>
    <p:extLst>
      <p:ext uri="{BB962C8B-B14F-4D97-AF65-F5344CB8AC3E}">
        <p14:creationId xmlns:p14="http://schemas.microsoft.com/office/powerpoint/2010/main" val="3394642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56D7507-3BD2-4E0B-8962-5961BB731E3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12EE45-CA8B-4984-A3E4-99E3CEF3FC00}"/>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Mengapa usulan ini diperlukan</a:t>
            </a:r>
          </a:p>
        </p:txBody>
      </p:sp>
      <p:sp>
        <p:nvSpPr>
          <p:cNvPr id="3" name="">
            <a:extLst xmlns:a="http://schemas.openxmlformats.org/drawingml/2006/main">
              <a:ext uri="{FF2B5EF4-FFF2-40B4-BE49-F238E27FC236}">
                <a16:creationId xmlns:a16="http://schemas.microsoft.com/office/drawing/2014/main" id="{2C7FBA91-9754-4454-8072-BB9B1FCAC5D8}"/>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Trial bersama IT dan Accounting membuka opsi integrasi yang sebelumnya dianggap tidak memungkinkan</a:t>
            </a:r>
          </a:p>
        </p:txBody>
      </p:sp>
      <p:sp>
        <p:nvSpPr>
          <p:cNvPr id="4" name="">
            <a:extLst xmlns:a="http://schemas.openxmlformats.org/drawingml/2006/main">
              <a:ext uri="{FF2B5EF4-FFF2-40B4-BE49-F238E27FC236}">
                <a16:creationId xmlns:a16="http://schemas.microsoft.com/office/drawing/2014/main" id="{52F8B6BB-E9A8-426F-A2B3-644BFBBF28EB}"/>
              </a:ext>
            </a:extLst>
          </p:cNvPr>
          <p:cNvSpPr>
            <a:spLocks xmlns:a="http://schemas.openxmlformats.org/drawingml/2006/main" noGrp="1"/>
          </p:cNvSpPr>
          <p:nvPr/>
        </p:nvSpPr>
        <p:spPr>
          <a:xfrm xmlns:a="http://schemas.openxmlformats.org/drawingml/2006/main">
            <a:off x="685800" y="15240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D94141"/>
                </a:solidFill>
                <a:latin typeface="Aptos"/>
                <a:ea typeface="Aptos"/>
                <a:cs typeface="Aptos"/>
              </a:defRPr>
            </a:pPr>
            <a:r>
              <a:rPr sz="2025" b="1">
                <a:solidFill>
                  <a:srgbClr val="D94141"/>
                </a:solidFill>
                <a:latin typeface="Aptos"/>
                <a:ea typeface="Aptos"/>
                <a:cs typeface="Aptos"/>
              </a:rPr>
              <a:t>Kondisi saat ini</a:t>
            </a:r>
          </a:p>
        </p:txBody>
      </p:sp>
      <p:sp>
        <p:nvSpPr>
          <p:cNvPr id="5" name="">
            <a:extLst xmlns:a="http://schemas.openxmlformats.org/drawingml/2006/main">
              <a:ext uri="{FF2B5EF4-FFF2-40B4-BE49-F238E27FC236}">
                <a16:creationId xmlns:a16="http://schemas.microsoft.com/office/drawing/2014/main" id="{CAC7B511-B3F3-43B1-9DB1-39018845195E}"/>
              </a:ext>
            </a:extLst>
          </p:cNvPr>
          <p:cNvSpPr>
            <a:spLocks xmlns:a="http://schemas.openxmlformats.org/drawingml/2006/main" noGrp="1"/>
          </p:cNvSpPr>
          <p:nvPr/>
        </p:nvSpPr>
        <p:spPr>
          <a:xfrm xmlns:a="http://schemas.openxmlformats.org/drawingml/2006/main">
            <a:off x="5905500" y="1466850"/>
            <a:ext cx="0" cy="4095750"/>
          </a:xfrm>
          <a:prstGeom xmlns:a="http://schemas.openxmlformats.org/drawingml/2006/main" prst="line">
            <a:avLst/>
          </a:prstGeom>
          <a:noFill xmlns:a="http://schemas.openxmlformats.org/drawingml/2006/main"/>
          <a:ln xmlns:a="http://schemas.openxmlformats.org/drawingml/2006/main" w="19050">
            <a:solidFill>
              <a:srgbClr val="D5DEE6"/>
            </a:solidFill>
            <a:prstDash val="solid"/>
          </a:ln>
        </p:spPr>
      </p:sp>
      <p:sp>
        <p:nvSpPr>
          <p:cNvPr id="6" name="">
            <a:extLst xmlns:a="http://schemas.openxmlformats.org/drawingml/2006/main">
              <a:ext uri="{FF2B5EF4-FFF2-40B4-BE49-F238E27FC236}">
                <a16:creationId xmlns:a16="http://schemas.microsoft.com/office/drawing/2014/main" id="{2C6F3187-CE4A-46F1-AA65-4F0140B2D90A}"/>
              </a:ext>
            </a:extLst>
          </p:cNvPr>
          <p:cNvSpPr>
            <a:spLocks xmlns:a="http://schemas.openxmlformats.org/drawingml/2006/main" noGrp="1"/>
          </p:cNvSpPr>
          <p:nvPr/>
        </p:nvSpPr>
        <p:spPr>
          <a:xfrm xmlns:a="http://schemas.openxmlformats.org/drawingml/2006/main">
            <a:off x="685800" y="2171700"/>
            <a:ext cx="95250" cy="95250"/>
          </a:xfrm>
          <a:prstGeom xmlns:a="http://schemas.openxmlformats.org/drawingml/2006/main" prst="ellipse">
            <a:avLst/>
          </a:prstGeom>
          <a:solidFill xmlns:a="http://schemas.openxmlformats.org/drawingml/2006/main">
            <a:srgbClr val="12B7E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8D7AC1-7877-4474-A0A3-9CF5B8F5AB54}"/>
              </a:ext>
            </a:extLst>
          </p:cNvPr>
          <p:cNvSpPr>
            <a:spLocks xmlns:a="http://schemas.openxmlformats.org/drawingml/2006/main" noGrp="1"/>
          </p:cNvSpPr>
          <p:nvPr/>
        </p:nvSpPr>
        <p:spPr>
          <a:xfrm xmlns:a="http://schemas.openxmlformats.org/drawingml/2006/main">
            <a:off x="895350" y="2095500"/>
            <a:ext cx="4552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Data produksi ANSEI masih banyak direkap melalui Excel dan belum menjadi transaksi SAP.</a:t>
            </a:r>
          </a:p>
        </p:txBody>
      </p:sp>
      <p:sp>
        <p:nvSpPr>
          <p:cNvPr id="8" name="">
            <a:extLst xmlns:a="http://schemas.openxmlformats.org/drawingml/2006/main">
              <a:ext uri="{FF2B5EF4-FFF2-40B4-BE49-F238E27FC236}">
                <a16:creationId xmlns:a16="http://schemas.microsoft.com/office/drawing/2014/main" id="{857E0B7F-FDB7-4FB0-938D-0FA9C6CC6363}"/>
              </a:ext>
            </a:extLst>
          </p:cNvPr>
          <p:cNvSpPr>
            <a:spLocks xmlns:a="http://schemas.openxmlformats.org/drawingml/2006/main" noGrp="1"/>
          </p:cNvSpPr>
          <p:nvPr/>
        </p:nvSpPr>
        <p:spPr>
          <a:xfrm xmlns:a="http://schemas.openxmlformats.org/drawingml/2006/main">
            <a:off x="685800" y="3028950"/>
            <a:ext cx="95250" cy="95250"/>
          </a:xfrm>
          <a:prstGeom xmlns:a="http://schemas.openxmlformats.org/drawingml/2006/main" prst="ellipse">
            <a:avLst/>
          </a:prstGeom>
          <a:solidFill xmlns:a="http://schemas.openxmlformats.org/drawingml/2006/main">
            <a:srgbClr val="D9414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0FF5815-72C8-452F-BDD5-2E1CC3214109}"/>
              </a:ext>
            </a:extLst>
          </p:cNvPr>
          <p:cNvSpPr>
            <a:spLocks xmlns:a="http://schemas.openxmlformats.org/drawingml/2006/main" noGrp="1"/>
          </p:cNvSpPr>
          <p:nvPr/>
        </p:nvSpPr>
        <p:spPr>
          <a:xfrm xmlns:a="http://schemas.openxmlformats.org/drawingml/2006/main">
            <a:off x="895350" y="2952750"/>
            <a:ext cx="4552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Material dan aset inventory bukan milik Vuteq, sehingga posting tanpa desain yang tepat berisiko mengaburkan kepemilikan dan nilai inventory.</a:t>
            </a:r>
          </a:p>
        </p:txBody>
      </p:sp>
      <p:sp>
        <p:nvSpPr>
          <p:cNvPr id="10" name="">
            <a:extLst xmlns:a="http://schemas.openxmlformats.org/drawingml/2006/main">
              <a:ext uri="{FF2B5EF4-FFF2-40B4-BE49-F238E27FC236}">
                <a16:creationId xmlns:a16="http://schemas.microsoft.com/office/drawing/2014/main" id="{ABAF81D3-23D3-4013-94CA-C10C38477910}"/>
              </a:ext>
            </a:extLst>
          </p:cNvPr>
          <p:cNvSpPr>
            <a:spLocks xmlns:a="http://schemas.openxmlformats.org/drawingml/2006/main" noGrp="1"/>
          </p:cNvSpPr>
          <p:nvPr/>
        </p:nvSpPr>
        <p:spPr>
          <a:xfrm xmlns:a="http://schemas.openxmlformats.org/drawingml/2006/main">
            <a:off x="685800" y="4191000"/>
            <a:ext cx="95250" cy="95250"/>
          </a:xfrm>
          <a:prstGeom xmlns:a="http://schemas.openxmlformats.org/drawingml/2006/main" prst="ellipse">
            <a:avLst/>
          </a:prstGeom>
          <a:solidFill xmlns:a="http://schemas.openxmlformats.org/drawingml/2006/main">
            <a:srgbClr val="12B7E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9D558A4-BBF7-4F42-94FA-39CE7AAAF06E}"/>
              </a:ext>
            </a:extLst>
          </p:cNvPr>
          <p:cNvSpPr>
            <a:spLocks xmlns:a="http://schemas.openxmlformats.org/drawingml/2006/main" noGrp="1"/>
          </p:cNvSpPr>
          <p:nvPr/>
        </p:nvSpPr>
        <p:spPr>
          <a:xfrm xmlns:a="http://schemas.openxmlformats.org/drawingml/2006/main">
            <a:off x="895350" y="4114800"/>
            <a:ext cx="4552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Akibatnya, data operasional tersebar dan membutuhkan rekonsiliasi manual.</a:t>
            </a:r>
          </a:p>
        </p:txBody>
      </p:sp>
      <p:sp>
        <p:nvSpPr>
          <p:cNvPr id="12" name="">
            <a:extLst xmlns:a="http://schemas.openxmlformats.org/drawingml/2006/main">
              <a:ext uri="{FF2B5EF4-FFF2-40B4-BE49-F238E27FC236}">
                <a16:creationId xmlns:a16="http://schemas.microsoft.com/office/drawing/2014/main" id="{5F470536-5225-4037-A312-AC92A7573B9A}"/>
              </a:ext>
            </a:extLst>
          </p:cNvPr>
          <p:cNvSpPr>
            <a:spLocks xmlns:a="http://schemas.openxmlformats.org/drawingml/2006/main" noGrp="1"/>
          </p:cNvSpPr>
          <p:nvPr/>
        </p:nvSpPr>
        <p:spPr>
          <a:xfrm xmlns:a="http://schemas.openxmlformats.org/drawingml/2006/main">
            <a:off x="6457950" y="152400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23845B"/>
                </a:solidFill>
                <a:latin typeface="Aptos"/>
                <a:ea typeface="Aptos"/>
                <a:cs typeface="Aptos"/>
              </a:defRPr>
            </a:pPr>
            <a:r>
              <a:rPr sz="2025" b="1">
                <a:solidFill>
                  <a:srgbClr val="23845B"/>
                </a:solidFill>
                <a:latin typeface="Aptos"/>
                <a:ea typeface="Aptos"/>
                <a:cs typeface="Aptos"/>
              </a:rPr>
              <a:t>Yang sudah berubah</a:t>
            </a:r>
          </a:p>
        </p:txBody>
      </p:sp>
      <p:sp>
        <p:nvSpPr>
          <p:cNvPr id="13" name="">
            <a:extLst xmlns:a="http://schemas.openxmlformats.org/drawingml/2006/main">
              <a:ext uri="{FF2B5EF4-FFF2-40B4-BE49-F238E27FC236}">
                <a16:creationId xmlns:a16="http://schemas.microsoft.com/office/drawing/2014/main" id="{538423D7-FE37-4C84-BCBF-424675D23AAF}"/>
              </a:ext>
            </a:extLst>
          </p:cNvPr>
          <p:cNvSpPr>
            <a:spLocks xmlns:a="http://schemas.openxmlformats.org/drawingml/2006/main" noGrp="1"/>
          </p:cNvSpPr>
          <p:nvPr/>
        </p:nvSpPr>
        <p:spPr>
          <a:xfrm xmlns:a="http://schemas.openxmlformats.org/drawingml/2006/main">
            <a:off x="6457950" y="217170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1A9761E-35CC-4A33-9F1E-83C89A2E0AEB}"/>
              </a:ext>
            </a:extLst>
          </p:cNvPr>
          <p:cNvSpPr>
            <a:spLocks xmlns:a="http://schemas.openxmlformats.org/drawingml/2006/main" noGrp="1"/>
          </p:cNvSpPr>
          <p:nvPr/>
        </p:nvSpPr>
        <p:spPr>
          <a:xfrm xmlns:a="http://schemas.openxmlformats.org/drawingml/2006/main">
            <a:off x="6667500" y="2095500"/>
            <a:ext cx="4552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IT dan Accounting telah melakukan trial serta simulasi fitur SAP untuk kasus ANSEI.</a:t>
            </a:r>
          </a:p>
        </p:txBody>
      </p:sp>
      <p:sp>
        <p:nvSpPr>
          <p:cNvPr id="15" name="">
            <a:extLst xmlns:a="http://schemas.openxmlformats.org/drawingml/2006/main">
              <a:ext uri="{FF2B5EF4-FFF2-40B4-BE49-F238E27FC236}">
                <a16:creationId xmlns:a16="http://schemas.microsoft.com/office/drawing/2014/main" id="{9DEF1DE4-79DE-40F8-B468-BF96E3621696}"/>
              </a:ext>
            </a:extLst>
          </p:cNvPr>
          <p:cNvSpPr>
            <a:spLocks xmlns:a="http://schemas.openxmlformats.org/drawingml/2006/main" noGrp="1"/>
          </p:cNvSpPr>
          <p:nvPr/>
        </p:nvSpPr>
        <p:spPr>
          <a:xfrm xmlns:a="http://schemas.openxmlformats.org/drawingml/2006/main">
            <a:off x="6457950" y="302895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CEF86E0-EADC-48FB-8BFF-60361E535D32}"/>
              </a:ext>
            </a:extLst>
          </p:cNvPr>
          <p:cNvSpPr>
            <a:spLocks xmlns:a="http://schemas.openxmlformats.org/drawingml/2006/main" noGrp="1"/>
          </p:cNvSpPr>
          <p:nvPr/>
        </p:nvSpPr>
        <p:spPr>
          <a:xfrm xmlns:a="http://schemas.openxmlformats.org/drawingml/2006/main">
            <a:off x="6667500" y="2952750"/>
            <a:ext cx="4552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Hasil simulasi menunjukkan pencatatan di SAP dapat dilakukan dengan konfigurasi organisasi, ownership, valuation, dan accounting yang disepakati.</a:t>
            </a:r>
          </a:p>
        </p:txBody>
      </p:sp>
      <p:sp>
        <p:nvSpPr>
          <p:cNvPr id="17" name="">
            <a:extLst xmlns:a="http://schemas.openxmlformats.org/drawingml/2006/main">
              <a:ext uri="{FF2B5EF4-FFF2-40B4-BE49-F238E27FC236}">
                <a16:creationId xmlns:a16="http://schemas.microsoft.com/office/drawing/2014/main" id="{A6454E75-954A-4A2B-9294-FA06DC132EBF}"/>
              </a:ext>
            </a:extLst>
          </p:cNvPr>
          <p:cNvSpPr>
            <a:spLocks xmlns:a="http://schemas.openxmlformats.org/drawingml/2006/main" noGrp="1"/>
          </p:cNvSpPr>
          <p:nvPr/>
        </p:nvSpPr>
        <p:spPr>
          <a:xfrm xmlns:a="http://schemas.openxmlformats.org/drawingml/2006/main">
            <a:off x="6457950" y="419100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06D0024-B880-4B13-9C4A-00F5082FE6F4}"/>
              </a:ext>
            </a:extLst>
          </p:cNvPr>
          <p:cNvSpPr>
            <a:spLocks xmlns:a="http://schemas.openxmlformats.org/drawingml/2006/main" noGrp="1"/>
          </p:cNvSpPr>
          <p:nvPr/>
        </p:nvSpPr>
        <p:spPr>
          <a:xfrm xmlns:a="http://schemas.openxmlformats.org/drawingml/2006/main">
            <a:off x="6667500" y="4114800"/>
            <a:ext cx="4552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57"/>
          </a:bodyPr>
          <a:lstStyle xmlns:a="http://schemas.openxmlformats.org/drawingml/2006/main"/>
          <a:p xmlns:a="http://schemas.openxmlformats.org/drawingml/2006/main">
            <a:pPr algn="l">
              <a:lnSpc>
                <a:spcPct val="105000"/>
              </a:lnSpc>
              <a:buNone/>
              <a:defRPr sz="1650" b="0">
                <a:solidFill>
                  <a:srgbClr val="142433"/>
                </a:solidFill>
                <a:latin typeface="Aptos"/>
                <a:ea typeface="Aptos"/>
                <a:cs typeface="Aptos"/>
              </a:defRPr>
            </a:pPr>
            <a:r>
              <a:rPr sz="1650" b="0">
                <a:solidFill>
                  <a:srgbClr val="142433"/>
                </a:solidFill>
                <a:latin typeface="Aptos"/>
                <a:ea typeface="Aptos"/>
                <a:cs typeface="Aptos"/>
              </a:rPr>
              <a:t>Peluang berikutnya adalah memindahkan transaksi ke SAP dan memakai NOVA sebagai antarmuka eksekusi produksi.</a:t>
            </a:r>
          </a:p>
        </p:txBody>
      </p:sp>
      <p:sp>
        <p:nvSpPr>
          <p:cNvPr id="19" name="">
            <a:extLst xmlns:a="http://schemas.openxmlformats.org/drawingml/2006/main">
              <a:ext uri="{FF2B5EF4-FFF2-40B4-BE49-F238E27FC236}">
                <a16:creationId xmlns:a16="http://schemas.microsoft.com/office/drawing/2014/main" id="{FBE27035-2484-42B4-88B8-E9916E9887DD}"/>
              </a:ext>
            </a:extLst>
          </p:cNvPr>
          <p:cNvSpPr>
            <a:spLocks xmlns:a="http://schemas.openxmlformats.org/drawingml/2006/main" noGrp="1"/>
          </p:cNvSpPr>
          <p:nvPr/>
        </p:nvSpPr>
        <p:spPr>
          <a:xfrm xmlns:a="http://schemas.openxmlformats.org/drawingml/2006/main">
            <a:off x="1371600" y="5286375"/>
            <a:ext cx="9448800" cy="742950"/>
          </a:xfrm>
          <a:prstGeom xmlns:a="http://schemas.openxmlformats.org/drawingml/2006/main" prst="roundRect">
            <a:avLst>
              <a:gd name="adj" fmla="val 10256"/>
            </a:avLst>
          </a:prstGeom>
          <a:solidFill xmlns:a="http://schemas.openxmlformats.org/drawingml/2006/main">
            <a:srgbClr val="0E2C4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F96468A-E428-46E5-A9ED-EC585AB7C224}"/>
              </a:ext>
            </a:extLst>
          </p:cNvPr>
          <p:cNvSpPr>
            <a:spLocks xmlns:a="http://schemas.openxmlformats.org/drawingml/2006/main" noGrp="1"/>
          </p:cNvSpPr>
          <p:nvPr/>
        </p:nvSpPr>
        <p:spPr>
          <a:xfrm xmlns:a="http://schemas.openxmlformats.org/drawingml/2006/main">
            <a:off x="1695450" y="5438775"/>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0002"/>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Arah yang diusulkan: SAP menjadi single source of truth, tanpa inventory bisnis independen di NOVA atau Excel.</a:t>
            </a:r>
          </a:p>
        </p:txBody>
      </p:sp>
      <p:sp>
        <p:nvSpPr>
          <p:cNvPr id="21" name="">
            <a:extLst xmlns:a="http://schemas.openxmlformats.org/drawingml/2006/main">
              <a:ext uri="{FF2B5EF4-FFF2-40B4-BE49-F238E27FC236}">
                <a16:creationId xmlns:a16="http://schemas.microsoft.com/office/drawing/2014/main" id="{4BE60E72-103E-4F08-981F-E3C56F8EC12C}"/>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22" name="">
            <a:extLst xmlns:a="http://schemas.openxmlformats.org/drawingml/2006/main">
              <a:ext uri="{FF2B5EF4-FFF2-40B4-BE49-F238E27FC236}">
                <a16:creationId xmlns:a16="http://schemas.microsoft.com/office/drawing/2014/main" id="{4A34315D-8D70-46DF-AF54-D282C5E826F8}"/>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Shopfloor/MES / SAP</a:t>
            </a:r>
          </a:p>
        </p:txBody>
      </p:sp>
      <p:sp>
        <p:nvSpPr>
          <p:cNvPr id="23" name="">
            <a:extLst xmlns:a="http://schemas.openxmlformats.org/drawingml/2006/main">
              <a:ext uri="{FF2B5EF4-FFF2-40B4-BE49-F238E27FC236}">
                <a16:creationId xmlns:a16="http://schemas.microsoft.com/office/drawing/2014/main" id="{7D0A46CC-56C1-425B-8489-49E3C1AD03FE}"/>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02</a:t>
            </a:r>
          </a:p>
        </p:txBody>
      </p:sp>
    </p:spTree>
    <p:extLst>
      <p:ext uri="{BB962C8B-B14F-4D97-AF65-F5344CB8AC3E}">
        <p14:creationId xmlns:p14="http://schemas.microsoft.com/office/powerpoint/2010/main" val="1359537710"/>
      </p:ext>
    </p:extLst>
  </p:cSld>
</p:sld>
</file>

<file path=ppt/slides/slide3.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B283B21F-D0F1-4528-B1C7-ADDD51E6961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E2745A-B9CF-44AE-BD96-1B350611B870}"/>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Alur data ANSEI saat ini</a:t>
            </a:r>
          </a:p>
        </p:txBody>
      </p:sp>
      <p:sp>
        <p:nvSpPr>
          <p:cNvPr id="3" name="">
            <a:extLst xmlns:a="http://schemas.openxmlformats.org/drawingml/2006/main">
              <a:ext uri="{FF2B5EF4-FFF2-40B4-BE49-F238E27FC236}">
                <a16:creationId xmlns:a16="http://schemas.microsoft.com/office/drawing/2014/main" id="{4AF5C48A-B22B-4EF9-8A89-2B78C1AF276D}"/>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ANSEI mencatat transaksi operasional dan saldo inventory secara lokal, sementara SAP belum menerima rangkaian transaksi ini</a:t>
            </a:r>
          </a:p>
        </p:txBody>
      </p:sp>
      <p:sp>
        <p:nvSpPr>
          <p:cNvPr id="4" name="">
            <a:extLst xmlns:a="http://schemas.openxmlformats.org/drawingml/2006/main">
              <a:ext uri="{FF2B5EF4-FFF2-40B4-BE49-F238E27FC236}">
                <a16:creationId xmlns:a16="http://schemas.microsoft.com/office/drawing/2014/main" id="{873B3781-33D5-4C10-A5C4-875D0FFD8C6E}"/>
              </a:ext>
            </a:extLst>
          </p:cNvPr>
          <p:cNvSpPr>
            <a:spLocks xmlns:a="http://schemas.openxmlformats.org/drawingml/2006/main" noGrp="1"/>
          </p:cNvSpPr>
          <p:nvPr/>
        </p:nvSpPr>
        <p:spPr>
          <a:xfrm xmlns:a="http://schemas.openxmlformats.org/drawingml/2006/main">
            <a:off x="495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0B5CAD"/>
            </a:solidFill>
            <a:prstDash val="solid"/>
          </a:ln>
        </p:spPr>
      </p:sp>
      <p:sp>
        <p:nvSpPr>
          <p:cNvPr id="5" name="">
            <a:extLst xmlns:a="http://schemas.openxmlformats.org/drawingml/2006/main">
              <a:ext uri="{FF2B5EF4-FFF2-40B4-BE49-F238E27FC236}">
                <a16:creationId xmlns:a16="http://schemas.microsoft.com/office/drawing/2014/main" id="{9B094E30-E9D5-4A13-AB32-5DB21E54E419}"/>
              </a:ext>
            </a:extLst>
          </p:cNvPr>
          <p:cNvSpPr>
            <a:spLocks xmlns:a="http://schemas.openxmlformats.org/drawingml/2006/main" noGrp="1"/>
          </p:cNvSpPr>
          <p:nvPr/>
        </p:nvSpPr>
        <p:spPr>
          <a:xfrm xmlns:a="http://schemas.openxmlformats.org/drawingml/2006/main">
            <a:off x="628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0B5CAD"/>
                </a:solidFill>
                <a:latin typeface="Aptos"/>
                <a:ea typeface="Aptos"/>
                <a:cs typeface="Aptos"/>
              </a:defRPr>
            </a:pPr>
            <a:r>
              <a:rPr sz="1275" b="1">
                <a:solidFill>
                  <a:srgbClr val="0B5CAD"/>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F10D3EBA-6334-4E0D-9121-A95CC2EDBE4B}"/>
              </a:ext>
            </a:extLst>
          </p:cNvPr>
          <p:cNvSpPr>
            <a:spLocks xmlns:a="http://schemas.openxmlformats.org/drawingml/2006/main" noGrp="1"/>
          </p:cNvSpPr>
          <p:nvPr/>
        </p:nvSpPr>
        <p:spPr>
          <a:xfrm xmlns:a="http://schemas.openxmlformats.org/drawingml/2006/main">
            <a:off x="628650" y="2057400"/>
            <a:ext cx="1352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Incoming</a:t>
            </a:r>
          </a:p>
        </p:txBody>
      </p:sp>
      <p:sp>
        <p:nvSpPr>
          <p:cNvPr id="7" name="">
            <a:extLst xmlns:a="http://schemas.openxmlformats.org/drawingml/2006/main">
              <a:ext uri="{FF2B5EF4-FFF2-40B4-BE49-F238E27FC236}">
                <a16:creationId xmlns:a16="http://schemas.microsoft.com/office/drawing/2014/main" id="{4B9D8D9A-D662-46D1-826C-E5FF0B23D664}"/>
              </a:ext>
            </a:extLst>
          </p:cNvPr>
          <p:cNvSpPr>
            <a:spLocks xmlns:a="http://schemas.openxmlformats.org/drawingml/2006/main" noGrp="1"/>
          </p:cNvSpPr>
          <p:nvPr/>
        </p:nvSpPr>
        <p:spPr>
          <a:xfrm xmlns:a="http://schemas.openxmlformats.org/drawingml/2006/main">
            <a:off x="2400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0B5CAD"/>
            </a:solidFill>
            <a:prstDash val="solid"/>
          </a:ln>
        </p:spPr>
      </p:sp>
      <p:sp>
        <p:nvSpPr>
          <p:cNvPr id="8" name="">
            <a:extLst xmlns:a="http://schemas.openxmlformats.org/drawingml/2006/main">
              <a:ext uri="{FF2B5EF4-FFF2-40B4-BE49-F238E27FC236}">
                <a16:creationId xmlns:a16="http://schemas.microsoft.com/office/drawing/2014/main" id="{3E562D86-0FE5-4674-81D0-59C446D50DFC}"/>
              </a:ext>
            </a:extLst>
          </p:cNvPr>
          <p:cNvSpPr>
            <a:spLocks xmlns:a="http://schemas.openxmlformats.org/drawingml/2006/main" noGrp="1"/>
          </p:cNvSpPr>
          <p:nvPr/>
        </p:nvSpPr>
        <p:spPr>
          <a:xfrm xmlns:a="http://schemas.openxmlformats.org/drawingml/2006/main">
            <a:off x="2533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0B5CAD"/>
                </a:solidFill>
                <a:latin typeface="Aptos"/>
                <a:ea typeface="Aptos"/>
                <a:cs typeface="Aptos"/>
              </a:defRPr>
            </a:pPr>
            <a:r>
              <a:rPr sz="1275" b="1">
                <a:solidFill>
                  <a:srgbClr val="0B5CAD"/>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AF88D8EB-9310-4A5E-86FF-7B3896B25D67}"/>
              </a:ext>
            </a:extLst>
          </p:cNvPr>
          <p:cNvSpPr>
            <a:spLocks xmlns:a="http://schemas.openxmlformats.org/drawingml/2006/main" noGrp="1"/>
          </p:cNvSpPr>
          <p:nvPr/>
        </p:nvSpPr>
        <p:spPr>
          <a:xfrm xmlns:a="http://schemas.openxmlformats.org/drawingml/2006/main">
            <a:off x="2533650" y="2057400"/>
            <a:ext cx="1352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Production release</a:t>
            </a:r>
          </a:p>
        </p:txBody>
      </p:sp>
      <p:sp>
        <p:nvSpPr>
          <p:cNvPr id="10" name="">
            <a:extLst xmlns:a="http://schemas.openxmlformats.org/drawingml/2006/main">
              <a:ext uri="{FF2B5EF4-FFF2-40B4-BE49-F238E27FC236}">
                <a16:creationId xmlns:a16="http://schemas.microsoft.com/office/drawing/2014/main" id="{065EFC2D-F0F5-44BD-9932-2AAA8FB43F20}"/>
              </a:ext>
            </a:extLst>
          </p:cNvPr>
          <p:cNvSpPr>
            <a:spLocks xmlns:a="http://schemas.openxmlformats.org/drawingml/2006/main" noGrp="1"/>
          </p:cNvSpPr>
          <p:nvPr/>
        </p:nvSpPr>
        <p:spPr>
          <a:xfrm xmlns:a="http://schemas.openxmlformats.org/drawingml/2006/main">
            <a:off x="4305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D98A0B"/>
            </a:solidFill>
            <a:prstDash val="solid"/>
          </a:ln>
        </p:spPr>
      </p:sp>
      <p:sp>
        <p:nvSpPr>
          <p:cNvPr id="11" name="">
            <a:extLst xmlns:a="http://schemas.openxmlformats.org/drawingml/2006/main">
              <a:ext uri="{FF2B5EF4-FFF2-40B4-BE49-F238E27FC236}">
                <a16:creationId xmlns:a16="http://schemas.microsoft.com/office/drawing/2014/main" id="{3241F082-EE72-475F-90AD-4208EC285E53}"/>
              </a:ext>
            </a:extLst>
          </p:cNvPr>
          <p:cNvSpPr>
            <a:spLocks xmlns:a="http://schemas.openxmlformats.org/drawingml/2006/main" noGrp="1"/>
          </p:cNvSpPr>
          <p:nvPr/>
        </p:nvSpPr>
        <p:spPr>
          <a:xfrm xmlns:a="http://schemas.openxmlformats.org/drawingml/2006/main">
            <a:off x="4438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D98A0B"/>
                </a:solidFill>
                <a:latin typeface="Aptos"/>
                <a:ea typeface="Aptos"/>
                <a:cs typeface="Aptos"/>
              </a:defRPr>
            </a:pPr>
            <a:r>
              <a:rPr sz="1275" b="1">
                <a:solidFill>
                  <a:srgbClr val="D98A0B"/>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83158D84-58C7-4920-A066-D0606D5E708D}"/>
              </a:ext>
            </a:extLst>
          </p:cNvPr>
          <p:cNvSpPr>
            <a:spLocks xmlns:a="http://schemas.openxmlformats.org/drawingml/2006/main" noGrp="1"/>
          </p:cNvSpPr>
          <p:nvPr/>
        </p:nvSpPr>
        <p:spPr>
          <a:xfrm xmlns:a="http://schemas.openxmlformats.org/drawingml/2006/main">
            <a:off x="4438650" y="2057400"/>
            <a:ext cx="1352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Shopping</a:t>
            </a:r>
          </a:p>
        </p:txBody>
      </p:sp>
      <p:sp>
        <p:nvSpPr>
          <p:cNvPr id="13" name="">
            <a:extLst xmlns:a="http://schemas.openxmlformats.org/drawingml/2006/main">
              <a:ext uri="{FF2B5EF4-FFF2-40B4-BE49-F238E27FC236}">
                <a16:creationId xmlns:a16="http://schemas.microsoft.com/office/drawing/2014/main" id="{4C41FC18-87CA-4EE5-A452-2EF63A82E938}"/>
              </a:ext>
            </a:extLst>
          </p:cNvPr>
          <p:cNvSpPr>
            <a:spLocks xmlns:a="http://schemas.openxmlformats.org/drawingml/2006/main" noGrp="1"/>
          </p:cNvSpPr>
          <p:nvPr/>
        </p:nvSpPr>
        <p:spPr>
          <a:xfrm xmlns:a="http://schemas.openxmlformats.org/drawingml/2006/main">
            <a:off x="6210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23845B"/>
            </a:solidFill>
            <a:prstDash val="solid"/>
          </a:ln>
        </p:spPr>
      </p:sp>
      <p:sp>
        <p:nvSpPr>
          <p:cNvPr id="14" name="">
            <a:extLst xmlns:a="http://schemas.openxmlformats.org/drawingml/2006/main">
              <a:ext uri="{FF2B5EF4-FFF2-40B4-BE49-F238E27FC236}">
                <a16:creationId xmlns:a16="http://schemas.microsoft.com/office/drawing/2014/main" id="{5C335954-FB4A-417A-BFDE-7FA709052CB0}"/>
              </a:ext>
            </a:extLst>
          </p:cNvPr>
          <p:cNvSpPr>
            <a:spLocks xmlns:a="http://schemas.openxmlformats.org/drawingml/2006/main" noGrp="1"/>
          </p:cNvSpPr>
          <p:nvPr/>
        </p:nvSpPr>
        <p:spPr>
          <a:xfrm xmlns:a="http://schemas.openxmlformats.org/drawingml/2006/main">
            <a:off x="6343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3845B"/>
                </a:solidFill>
                <a:latin typeface="Aptos"/>
                <a:ea typeface="Aptos"/>
                <a:cs typeface="Aptos"/>
              </a:defRPr>
            </a:pPr>
            <a:r>
              <a:rPr sz="1275" b="1">
                <a:solidFill>
                  <a:srgbClr val="23845B"/>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C59D59A9-9869-4FC1-85C4-87C6BF13E1CE}"/>
              </a:ext>
            </a:extLst>
          </p:cNvPr>
          <p:cNvSpPr>
            <a:spLocks xmlns:a="http://schemas.openxmlformats.org/drawingml/2006/main" noGrp="1"/>
          </p:cNvSpPr>
          <p:nvPr/>
        </p:nvSpPr>
        <p:spPr>
          <a:xfrm xmlns:a="http://schemas.openxmlformats.org/drawingml/2006/main">
            <a:off x="6343650" y="2057400"/>
            <a:ext cx="1352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Assembly / FG</a:t>
            </a:r>
          </a:p>
        </p:txBody>
      </p:sp>
      <p:sp>
        <p:nvSpPr>
          <p:cNvPr id="16" name="">
            <a:extLst xmlns:a="http://schemas.openxmlformats.org/drawingml/2006/main">
              <a:ext uri="{FF2B5EF4-FFF2-40B4-BE49-F238E27FC236}">
                <a16:creationId xmlns:a16="http://schemas.microsoft.com/office/drawing/2014/main" id="{F9923FB2-8869-4876-AF0E-77ABFD06DCA9}"/>
              </a:ext>
            </a:extLst>
          </p:cNvPr>
          <p:cNvSpPr>
            <a:spLocks xmlns:a="http://schemas.openxmlformats.org/drawingml/2006/main" noGrp="1"/>
          </p:cNvSpPr>
          <p:nvPr/>
        </p:nvSpPr>
        <p:spPr>
          <a:xfrm xmlns:a="http://schemas.openxmlformats.org/drawingml/2006/main">
            <a:off x="8115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12B7E6"/>
            </a:solidFill>
            <a:prstDash val="solid"/>
          </a:ln>
        </p:spPr>
      </p:sp>
      <p:sp>
        <p:nvSpPr>
          <p:cNvPr id="17" name="">
            <a:extLst xmlns:a="http://schemas.openxmlformats.org/drawingml/2006/main">
              <a:ext uri="{FF2B5EF4-FFF2-40B4-BE49-F238E27FC236}">
                <a16:creationId xmlns:a16="http://schemas.microsoft.com/office/drawing/2014/main" id="{44DEDE4A-FD36-4E36-AD38-0E1F34DC2D37}"/>
              </a:ext>
            </a:extLst>
          </p:cNvPr>
          <p:cNvSpPr>
            <a:spLocks xmlns:a="http://schemas.openxmlformats.org/drawingml/2006/main" noGrp="1"/>
          </p:cNvSpPr>
          <p:nvPr/>
        </p:nvSpPr>
        <p:spPr>
          <a:xfrm xmlns:a="http://schemas.openxmlformats.org/drawingml/2006/main">
            <a:off x="8248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12B7E6"/>
                </a:solidFill>
                <a:latin typeface="Aptos"/>
                <a:ea typeface="Aptos"/>
                <a:cs typeface="Aptos"/>
              </a:defRPr>
            </a:pPr>
            <a:r>
              <a:rPr sz="1275" b="1">
                <a:solidFill>
                  <a:srgbClr val="12B7E6"/>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3F28B018-8404-4CA3-A838-D079A384739E}"/>
              </a:ext>
            </a:extLst>
          </p:cNvPr>
          <p:cNvSpPr>
            <a:spLocks xmlns:a="http://schemas.openxmlformats.org/drawingml/2006/main" noGrp="1"/>
          </p:cNvSpPr>
          <p:nvPr/>
        </p:nvSpPr>
        <p:spPr>
          <a:xfrm xmlns:a="http://schemas.openxmlformats.org/drawingml/2006/main">
            <a:off x="8248650" y="2057400"/>
            <a:ext cx="1352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Poka-Yoke</a:t>
            </a:r>
          </a:p>
        </p:txBody>
      </p:sp>
      <p:sp>
        <p:nvSpPr>
          <p:cNvPr id="19" name="">
            <a:extLst xmlns:a="http://schemas.openxmlformats.org/drawingml/2006/main">
              <a:ext uri="{FF2B5EF4-FFF2-40B4-BE49-F238E27FC236}">
                <a16:creationId xmlns:a16="http://schemas.microsoft.com/office/drawing/2014/main" id="{B603815D-8C77-4FFC-AE59-B47C83222404}"/>
              </a:ext>
            </a:extLst>
          </p:cNvPr>
          <p:cNvSpPr>
            <a:spLocks xmlns:a="http://schemas.openxmlformats.org/drawingml/2006/main" noGrp="1"/>
          </p:cNvSpPr>
          <p:nvPr/>
        </p:nvSpPr>
        <p:spPr>
          <a:xfrm xmlns:a="http://schemas.openxmlformats.org/drawingml/2006/main">
            <a:off x="10020300" y="1657350"/>
            <a:ext cx="1619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9050">
            <a:solidFill>
              <a:srgbClr val="D94141"/>
            </a:solidFill>
            <a:prstDash val="solid"/>
          </a:ln>
        </p:spPr>
      </p:sp>
      <p:sp>
        <p:nvSpPr>
          <p:cNvPr id="20" name="">
            <a:extLst xmlns:a="http://schemas.openxmlformats.org/drawingml/2006/main">
              <a:ext uri="{FF2B5EF4-FFF2-40B4-BE49-F238E27FC236}">
                <a16:creationId xmlns:a16="http://schemas.microsoft.com/office/drawing/2014/main" id="{7B3DB968-C3EC-4C74-A920-7752BBEF68D2}"/>
              </a:ext>
            </a:extLst>
          </p:cNvPr>
          <p:cNvSpPr>
            <a:spLocks xmlns:a="http://schemas.openxmlformats.org/drawingml/2006/main" noGrp="1"/>
          </p:cNvSpPr>
          <p:nvPr/>
        </p:nvSpPr>
        <p:spPr>
          <a:xfrm xmlns:a="http://schemas.openxmlformats.org/drawingml/2006/main">
            <a:off x="10153650" y="1771650"/>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D94141"/>
                </a:solidFill>
                <a:latin typeface="Aptos"/>
                <a:ea typeface="Aptos"/>
                <a:cs typeface="Aptos"/>
              </a:defRPr>
            </a:pPr>
            <a:r>
              <a:rPr sz="1275" b="1">
                <a:solidFill>
                  <a:srgbClr val="D94141"/>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7578B724-FDD4-4691-9B6E-E1E6DF05C056}"/>
              </a:ext>
            </a:extLst>
          </p:cNvPr>
          <p:cNvSpPr>
            <a:spLocks xmlns:a="http://schemas.openxmlformats.org/drawingml/2006/main" noGrp="1"/>
          </p:cNvSpPr>
          <p:nvPr/>
        </p:nvSpPr>
        <p:spPr>
          <a:xfrm xmlns:a="http://schemas.openxmlformats.org/drawingml/2006/main">
            <a:off x="10153650" y="2057400"/>
            <a:ext cx="1352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75" b="1">
                <a:solidFill>
                  <a:srgbClr val="071A2B"/>
                </a:solidFill>
                <a:latin typeface="Aptos"/>
                <a:ea typeface="Aptos"/>
                <a:cs typeface="Aptos"/>
              </a:defRPr>
            </a:pPr>
            <a:r>
              <a:rPr sz="1575" b="1">
                <a:solidFill>
                  <a:srgbClr val="071A2B"/>
                </a:solidFill>
                <a:latin typeface="Aptos"/>
                <a:ea typeface="Aptos"/>
                <a:cs typeface="Aptos"/>
              </a:rPr>
              <a:t>Delivery &amp; close</a:t>
            </a:r>
          </a:p>
        </p:txBody>
      </p:sp>
      <p:cxnSp>
        <p:nvCxnSpPr>
          <p:cNvPr id="60" name=""/>
          <p:cNvCxnSpPr>
            <a:stCxn xmlns:a="http://schemas.openxmlformats.org/drawingml/2006/main" id="4" idx="3"/>
            <a:endCxn xmlns:a="http://schemas.openxmlformats.org/drawingml/2006/main" id="7" idx="1"/>
          </p:cNvCxnSpPr>
          <p:nvPr/>
        </p:nvCxnSpPr>
        <p:spPr>
          <a:xfrm xmlns:a="http://schemas.openxmlformats.org/drawingml/2006/main">
            <a:off x="2114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1" name=""/>
          <p:cNvCxnSpPr>
            <a:stCxn xmlns:a="http://schemas.openxmlformats.org/drawingml/2006/main" id="7" idx="3"/>
            <a:endCxn xmlns:a="http://schemas.openxmlformats.org/drawingml/2006/main" id="10" idx="1"/>
          </p:cNvCxnSpPr>
          <p:nvPr/>
        </p:nvCxnSpPr>
        <p:spPr>
          <a:xfrm xmlns:a="http://schemas.openxmlformats.org/drawingml/2006/main">
            <a:off x="4019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2" name=""/>
          <p:cNvCxnSpPr>
            <a:stCxn xmlns:a="http://schemas.openxmlformats.org/drawingml/2006/main" id="10" idx="3"/>
            <a:endCxn xmlns:a="http://schemas.openxmlformats.org/drawingml/2006/main" id="13" idx="1"/>
          </p:cNvCxnSpPr>
          <p:nvPr/>
        </p:nvCxnSpPr>
        <p:spPr>
          <a:xfrm xmlns:a="http://schemas.openxmlformats.org/drawingml/2006/main">
            <a:off x="5924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3" name=""/>
          <p:cNvCxnSpPr>
            <a:stCxn xmlns:a="http://schemas.openxmlformats.org/drawingml/2006/main" id="13" idx="3"/>
            <a:endCxn xmlns:a="http://schemas.openxmlformats.org/drawingml/2006/main" id="16" idx="1"/>
          </p:cNvCxnSpPr>
          <p:nvPr/>
        </p:nvCxnSpPr>
        <p:spPr>
          <a:xfrm xmlns:a="http://schemas.openxmlformats.org/drawingml/2006/main">
            <a:off x="7829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cxnSp>
        <p:nvCxnSpPr>
          <p:cNvPr id="64" name=""/>
          <p:cNvCxnSpPr>
            <a:stCxn xmlns:a="http://schemas.openxmlformats.org/drawingml/2006/main" id="16" idx="3"/>
            <a:endCxn xmlns:a="http://schemas.openxmlformats.org/drawingml/2006/main" id="19" idx="1"/>
          </p:cNvCxnSpPr>
          <p:nvPr/>
        </p:nvCxnSpPr>
        <p:spPr>
          <a:xfrm xmlns:a="http://schemas.openxmlformats.org/drawingml/2006/main">
            <a:off x="9734550" y="2228850"/>
            <a:ext cx="285750" cy="0"/>
          </a:xfrm>
          <a:prstGeom xmlns:a="http://schemas.openxmlformats.org/drawingml/2006/main" prst="straightConnector1">
            <a:avLst/>
          </a:prstGeom>
          <a:ln xmlns:a="http://schemas.openxmlformats.org/drawingml/2006/main" w="19050">
            <a:solidFill>
              <a:srgbClr val="536575"/>
            </a:solidFill>
            <a:prstDash val="solid"/>
            <a:tailEnd type="triangle" w="sm" len="sm"/>
          </a:ln>
        </p:spPr>
      </p:cxnSp>
      <p:sp>
        <p:nvSpPr>
          <p:cNvPr id="27" name="">
            <a:extLst xmlns:a="http://schemas.openxmlformats.org/drawingml/2006/main">
              <a:ext uri="{FF2B5EF4-FFF2-40B4-BE49-F238E27FC236}">
                <a16:creationId xmlns:a16="http://schemas.microsoft.com/office/drawing/2014/main" id="{C4AE5950-9DC3-48BD-8CAE-9AF763F35F8A}"/>
              </a:ext>
            </a:extLst>
          </p:cNvPr>
          <p:cNvSpPr>
            <a:spLocks xmlns:a="http://schemas.openxmlformats.org/drawingml/2006/main" noGrp="1"/>
          </p:cNvSpPr>
          <p:nvPr/>
        </p:nvSpPr>
        <p:spPr>
          <a:xfrm xmlns:a="http://schemas.openxmlformats.org/drawingml/2006/main">
            <a:off x="495300" y="2971800"/>
            <a:ext cx="1619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0">
                <a:solidFill>
                  <a:srgbClr val="536575"/>
                </a:solidFill>
                <a:latin typeface="Aptos"/>
                <a:ea typeface="Aptos"/>
                <a:cs typeface="Aptos"/>
              </a:defRPr>
            </a:pPr>
            <a:r>
              <a:rPr sz="1275" b="0">
                <a:solidFill>
                  <a:srgbClr val="536575"/>
                </a:solidFill>
                <a:latin typeface="Aptos"/>
                <a:ea typeface="Aptos"/>
                <a:cs typeface="Aptos"/>
              </a:rPr>
              <a:t>DO supplier dicek, diterima, lalu material bertambah.</a:t>
            </a:r>
          </a:p>
        </p:txBody>
      </p:sp>
      <p:sp>
        <p:nvSpPr>
          <p:cNvPr id="28" name="">
            <a:extLst xmlns:a="http://schemas.openxmlformats.org/drawingml/2006/main">
              <a:ext uri="{FF2B5EF4-FFF2-40B4-BE49-F238E27FC236}">
                <a16:creationId xmlns:a16="http://schemas.microsoft.com/office/drawing/2014/main" id="{AFBBB183-D467-44EA-8B82-B0EE4A336D96}"/>
              </a:ext>
            </a:extLst>
          </p:cNvPr>
          <p:cNvSpPr>
            <a:spLocks xmlns:a="http://schemas.openxmlformats.org/drawingml/2006/main" noGrp="1"/>
          </p:cNvSpPr>
          <p:nvPr/>
        </p:nvSpPr>
        <p:spPr>
          <a:xfrm xmlns:a="http://schemas.openxmlformats.org/drawingml/2006/main">
            <a:off x="2400300" y="2971800"/>
            <a:ext cx="1619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0">
                <a:solidFill>
                  <a:srgbClr val="536575"/>
                </a:solidFill>
                <a:latin typeface="Aptos"/>
                <a:ea typeface="Aptos"/>
                <a:cs typeface="Aptos"/>
              </a:defRPr>
            </a:pPr>
            <a:r>
              <a:rPr sz="1275" b="0">
                <a:solidFill>
                  <a:srgbClr val="536575"/>
                </a:solidFill>
                <a:latin typeface="Aptos"/>
                <a:ea typeface="Aptos"/>
                <a:cs typeface="Aptos"/>
              </a:rPr>
              <a:t>Forecast/PO dijadwalkan dan label produksi dibuat.</a:t>
            </a:r>
          </a:p>
        </p:txBody>
      </p:sp>
      <p:sp>
        <p:nvSpPr>
          <p:cNvPr id="29" name="">
            <a:extLst xmlns:a="http://schemas.openxmlformats.org/drawingml/2006/main">
              <a:ext uri="{FF2B5EF4-FFF2-40B4-BE49-F238E27FC236}">
                <a16:creationId xmlns:a16="http://schemas.microsoft.com/office/drawing/2014/main" id="{BF573304-4AEA-43CF-AB43-8D61338B124A}"/>
              </a:ext>
            </a:extLst>
          </p:cNvPr>
          <p:cNvSpPr>
            <a:spLocks xmlns:a="http://schemas.openxmlformats.org/drawingml/2006/main" noGrp="1"/>
          </p:cNvSpPr>
          <p:nvPr/>
        </p:nvSpPr>
        <p:spPr>
          <a:xfrm xmlns:a="http://schemas.openxmlformats.org/drawingml/2006/main">
            <a:off x="4305300" y="2971800"/>
            <a:ext cx="1619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0">
                <a:solidFill>
                  <a:srgbClr val="536575"/>
                </a:solidFill>
                <a:latin typeface="Aptos"/>
                <a:ea typeface="Aptos"/>
                <a:cs typeface="Aptos"/>
              </a:defRPr>
            </a:pPr>
            <a:r>
              <a:rPr sz="1275" b="0">
                <a:solidFill>
                  <a:srgbClr val="536575"/>
                </a:solidFill>
                <a:latin typeface="Aptos"/>
                <a:ea typeface="Aptos"/>
                <a:cs typeface="Aptos"/>
              </a:rPr>
              <a:t>Material BOM dipick dan stok material berkurang.</a:t>
            </a:r>
          </a:p>
        </p:txBody>
      </p:sp>
      <p:sp>
        <p:nvSpPr>
          <p:cNvPr id="30" name="">
            <a:extLst xmlns:a="http://schemas.openxmlformats.org/drawingml/2006/main">
              <a:ext uri="{FF2B5EF4-FFF2-40B4-BE49-F238E27FC236}">
                <a16:creationId xmlns:a16="http://schemas.microsoft.com/office/drawing/2014/main" id="{EE3332B3-2667-4871-B5BB-D6376AFF44DF}"/>
              </a:ext>
            </a:extLst>
          </p:cNvPr>
          <p:cNvSpPr>
            <a:spLocks xmlns:a="http://schemas.openxmlformats.org/drawingml/2006/main" noGrp="1"/>
          </p:cNvSpPr>
          <p:nvPr/>
        </p:nvSpPr>
        <p:spPr>
          <a:xfrm xmlns:a="http://schemas.openxmlformats.org/drawingml/2006/main">
            <a:off x="6210300" y="2971800"/>
            <a:ext cx="1619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0">
                <a:solidFill>
                  <a:srgbClr val="536575"/>
                </a:solidFill>
                <a:latin typeface="Aptos"/>
                <a:ea typeface="Aptos"/>
                <a:cs typeface="Aptos"/>
              </a:defRPr>
            </a:pPr>
            <a:r>
              <a:rPr sz="1275" b="0">
                <a:solidFill>
                  <a:srgbClr val="536575"/>
                </a:solidFill>
                <a:latin typeface="Aptos"/>
                <a:ea typeface="Aptos"/>
                <a:cs typeface="Aptos"/>
              </a:rPr>
              <a:t>Hasil produksi masuk per forecast atau per box.</a:t>
            </a:r>
          </a:p>
        </p:txBody>
      </p:sp>
      <p:sp>
        <p:nvSpPr>
          <p:cNvPr id="31" name="">
            <a:extLst xmlns:a="http://schemas.openxmlformats.org/drawingml/2006/main">
              <a:ext uri="{FF2B5EF4-FFF2-40B4-BE49-F238E27FC236}">
                <a16:creationId xmlns:a16="http://schemas.microsoft.com/office/drawing/2014/main" id="{39C5714A-A301-4390-BFF6-9D4F2F55B3F3}"/>
              </a:ext>
            </a:extLst>
          </p:cNvPr>
          <p:cNvSpPr>
            <a:spLocks xmlns:a="http://schemas.openxmlformats.org/drawingml/2006/main" noGrp="1"/>
          </p:cNvSpPr>
          <p:nvPr/>
        </p:nvSpPr>
        <p:spPr>
          <a:xfrm xmlns:a="http://schemas.openxmlformats.org/drawingml/2006/main">
            <a:off x="8115300" y="2971800"/>
            <a:ext cx="1619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0">
                <a:solidFill>
                  <a:srgbClr val="536575"/>
                </a:solidFill>
                <a:latin typeface="Aptos"/>
                <a:ea typeface="Aptos"/>
                <a:cs typeface="Aptos"/>
              </a:defRPr>
            </a:pPr>
            <a:r>
              <a:rPr sz="1275" b="0">
                <a:solidFill>
                  <a:srgbClr val="536575"/>
                </a:solidFill>
                <a:latin typeface="Aptos"/>
                <a:ea typeface="Aptos"/>
                <a:cs typeface="Aptos"/>
              </a:rPr>
              <a:t>Label divalidasi sebagai good quantity sebelum delivery.</a:t>
            </a:r>
          </a:p>
        </p:txBody>
      </p:sp>
      <p:sp>
        <p:nvSpPr>
          <p:cNvPr id="32" name="">
            <a:extLst xmlns:a="http://schemas.openxmlformats.org/drawingml/2006/main">
              <a:ext uri="{FF2B5EF4-FFF2-40B4-BE49-F238E27FC236}">
                <a16:creationId xmlns:a16="http://schemas.microsoft.com/office/drawing/2014/main" id="{19D81A8A-89C7-4C9F-9F03-6E74C7938986}"/>
              </a:ext>
            </a:extLst>
          </p:cNvPr>
          <p:cNvSpPr>
            <a:spLocks xmlns:a="http://schemas.openxmlformats.org/drawingml/2006/main" noGrp="1"/>
          </p:cNvSpPr>
          <p:nvPr/>
        </p:nvSpPr>
        <p:spPr>
          <a:xfrm xmlns:a="http://schemas.openxmlformats.org/drawingml/2006/main">
            <a:off x="10020300" y="2971800"/>
            <a:ext cx="1619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0">
                <a:solidFill>
                  <a:srgbClr val="536575"/>
                </a:solidFill>
                <a:latin typeface="Aptos"/>
                <a:ea typeface="Aptos"/>
                <a:cs typeface="Aptos"/>
              </a:defRPr>
            </a:pPr>
            <a:r>
              <a:rPr sz="1275" b="0">
                <a:solidFill>
                  <a:srgbClr val="536575"/>
                </a:solidFill>
                <a:latin typeface="Aptos"/>
                <a:ea typeface="Aptos"/>
                <a:cs typeface="Aptos"/>
              </a:rPr>
              <a:t>FG berkurang saat delivery; release tutup setelah semua PO terkirim.</a:t>
            </a:r>
          </a:p>
        </p:txBody>
      </p:sp>
      <p:sp>
        <p:nvSpPr>
          <p:cNvPr id="33" name="">
            <a:extLst xmlns:a="http://schemas.openxmlformats.org/drawingml/2006/main">
              <a:ext uri="{FF2B5EF4-FFF2-40B4-BE49-F238E27FC236}">
                <a16:creationId xmlns:a16="http://schemas.microsoft.com/office/drawing/2014/main" id="{12C11BF9-6F96-40F1-ACF2-BAEB86511822}"/>
              </a:ext>
            </a:extLst>
          </p:cNvPr>
          <p:cNvSpPr>
            <a:spLocks xmlns:a="http://schemas.openxmlformats.org/drawingml/2006/main" noGrp="1"/>
          </p:cNvSpPr>
          <p:nvPr/>
        </p:nvSpPr>
        <p:spPr>
          <a:xfrm xmlns:a="http://schemas.openxmlformats.org/drawingml/2006/main">
            <a:off x="628650" y="4438650"/>
            <a:ext cx="10934700" cy="13716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9525">
            <a:solidFill>
              <a:srgbClr val="D5DEE6"/>
            </a:solidFill>
            <a:prstDash val="solid"/>
          </a:ln>
        </p:spPr>
      </p:sp>
      <p:sp>
        <p:nvSpPr>
          <p:cNvPr id="34" name="">
            <a:extLst xmlns:a="http://schemas.openxmlformats.org/drawingml/2006/main">
              <a:ext uri="{FF2B5EF4-FFF2-40B4-BE49-F238E27FC236}">
                <a16:creationId xmlns:a16="http://schemas.microsoft.com/office/drawing/2014/main" id="{FD353EC8-BA29-4B34-A441-03346051FD59}"/>
              </a:ext>
            </a:extLst>
          </p:cNvPr>
          <p:cNvSpPr>
            <a:spLocks xmlns:a="http://schemas.openxmlformats.org/drawingml/2006/main" noGrp="1"/>
          </p:cNvSpPr>
          <p:nvPr/>
        </p:nvSpPr>
        <p:spPr>
          <a:xfrm xmlns:a="http://schemas.openxmlformats.org/drawingml/2006/main">
            <a:off x="876300" y="46672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71A2B"/>
                </a:solidFill>
                <a:latin typeface="Aptos"/>
                <a:ea typeface="Aptos"/>
                <a:cs typeface="Aptos"/>
              </a:defRPr>
            </a:pPr>
            <a:r>
              <a:rPr sz="1725" b="1">
                <a:solidFill>
                  <a:srgbClr val="071A2B"/>
                </a:solidFill>
                <a:latin typeface="Aptos"/>
                <a:ea typeface="Aptos"/>
                <a:cs typeface="Aptos"/>
              </a:rPr>
              <a:t>Data yang menjadi bukti transaksi di ANSEI</a:t>
            </a:r>
          </a:p>
        </p:txBody>
      </p:sp>
      <p:sp>
        <p:nvSpPr>
          <p:cNvPr id="35" name="">
            <a:extLst xmlns:a="http://schemas.openxmlformats.org/drawingml/2006/main">
              <a:ext uri="{FF2B5EF4-FFF2-40B4-BE49-F238E27FC236}">
                <a16:creationId xmlns:a16="http://schemas.microsoft.com/office/drawing/2014/main" id="{23A1A639-F6B3-4529-80B5-9D0CDB014C8E}"/>
              </a:ext>
            </a:extLst>
          </p:cNvPr>
          <p:cNvSpPr>
            <a:spLocks xmlns:a="http://schemas.openxmlformats.org/drawingml/2006/main" noGrp="1"/>
          </p:cNvSpPr>
          <p:nvPr/>
        </p:nvSpPr>
        <p:spPr>
          <a:xfrm xmlns:a="http://schemas.openxmlformats.org/drawingml/2006/main">
            <a:off x="876300" y="51244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425" b="0">
                <a:solidFill>
                  <a:srgbClr val="536575"/>
                </a:solidFill>
                <a:latin typeface="Aptos"/>
                <a:ea typeface="Aptos"/>
                <a:cs typeface="Aptos"/>
              </a:defRPr>
            </a:pPr>
            <a:r>
              <a:rPr sz="1425" b="0">
                <a:solidFill>
                  <a:srgbClr val="536575"/>
                </a:solidFill>
                <a:latin typeface="Aptos"/>
                <a:ea typeface="Aptos"/>
                <a:cs typeface="Aptos"/>
              </a:rPr>
              <a:t>InventoryLedger menyimpan saldo material/FG. Shopping menyimpan material pick. LabelData dan Assembly menyimpan hasil produksi. Poka-Yoke dan DeliveryHistory menyimpan validasi serta barang keluar.</a:t>
            </a:r>
          </a:p>
        </p:txBody>
      </p:sp>
      <p:sp>
        <p:nvSpPr>
          <p:cNvPr id="36" name="">
            <a:extLst xmlns:a="http://schemas.openxmlformats.org/drawingml/2006/main">
              <a:ext uri="{FF2B5EF4-FFF2-40B4-BE49-F238E27FC236}">
                <a16:creationId xmlns:a16="http://schemas.microsoft.com/office/drawing/2014/main" id="{DC7A1CFF-227E-46A1-B99E-165B48C61AE8}"/>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37" name="">
            <a:extLst xmlns:a="http://schemas.openxmlformats.org/drawingml/2006/main">
              <a:ext uri="{FF2B5EF4-FFF2-40B4-BE49-F238E27FC236}">
                <a16:creationId xmlns:a16="http://schemas.microsoft.com/office/drawing/2014/main" id="{2D87BE50-A98C-4010-BF1D-FF93C49FBEFB}"/>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Shopfloor/MES / SAP</a:t>
            </a:r>
          </a:p>
        </p:txBody>
      </p:sp>
      <p:sp>
        <p:nvSpPr>
          <p:cNvPr id="38" name="">
            <a:extLst xmlns:a="http://schemas.openxmlformats.org/drawingml/2006/main">
              <a:ext uri="{FF2B5EF4-FFF2-40B4-BE49-F238E27FC236}">
                <a16:creationId xmlns:a16="http://schemas.microsoft.com/office/drawing/2014/main" id="{C25DA3B6-2C47-4D88-960F-059016CAF5F2}"/>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03</a:t>
            </a:r>
          </a:p>
        </p:txBody>
      </p:sp>
    </p:spTree>
    <p:extLst>
      <p:ext uri="{BB962C8B-B14F-4D97-AF65-F5344CB8AC3E}">
        <p14:creationId xmlns:p14="http://schemas.microsoft.com/office/powerpoint/2010/main" val="1951271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7E87370-94F7-4B9E-8926-A77F87FB099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5C5CFB-3DA7-4ED4-836A-4474C7518E56}"/>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Arsitektur target: SAP menjadi pusat data dan transaksi</a:t>
            </a:r>
          </a:p>
        </p:txBody>
      </p:sp>
      <p:sp>
        <p:nvSpPr>
          <p:cNvPr id="3" name="">
            <a:extLst xmlns:a="http://schemas.openxmlformats.org/drawingml/2006/main">
              <a:ext uri="{FF2B5EF4-FFF2-40B4-BE49-F238E27FC236}">
                <a16:creationId xmlns:a16="http://schemas.microsoft.com/office/drawing/2014/main" id="{FD114282-4DF3-43E7-AB80-E7CAFCC8504F}"/>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NOVA menjalankan proses Shopfloor/MES, sedangkan saldo, dokumen, dan status bisnis tetap dikuasai SAP</a:t>
            </a:r>
          </a:p>
        </p:txBody>
      </p:sp>
      <p:sp>
        <p:nvSpPr>
          <p:cNvPr id="4" name="">
            <a:extLst xmlns:a="http://schemas.openxmlformats.org/drawingml/2006/main">
              <a:ext uri="{FF2B5EF4-FFF2-40B4-BE49-F238E27FC236}">
                <a16:creationId xmlns:a16="http://schemas.microsoft.com/office/drawing/2014/main" id="{D48724AD-CE0E-4AEE-B048-45FEB148D1E8}"/>
              </a:ext>
            </a:extLst>
          </p:cNvPr>
          <p:cNvSpPr>
            <a:spLocks xmlns:a="http://schemas.openxmlformats.org/drawingml/2006/main" noGrp="1"/>
          </p:cNvSpPr>
          <p:nvPr/>
        </p:nvSpPr>
        <p:spPr>
          <a:xfrm xmlns:a="http://schemas.openxmlformats.org/drawingml/2006/main">
            <a:off x="4229100" y="1543050"/>
            <a:ext cx="3733800" cy="1371600"/>
          </a:xfrm>
          <a:prstGeom xmlns:a="http://schemas.openxmlformats.org/drawingml/2006/main" prst="roundRect">
            <a:avLst>
              <a:gd name="adj" fmla="val 5556"/>
            </a:avLst>
          </a:prstGeom>
          <a:solidFill xmlns:a="http://schemas.openxmlformats.org/drawingml/2006/main">
            <a:srgbClr val="0E2C4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0442DB5-EE0D-4144-92B9-A4B8EA4B8473}"/>
              </a:ext>
            </a:extLst>
          </p:cNvPr>
          <p:cNvSpPr>
            <a:spLocks xmlns:a="http://schemas.openxmlformats.org/drawingml/2006/main" noGrp="1"/>
          </p:cNvSpPr>
          <p:nvPr/>
        </p:nvSpPr>
        <p:spPr>
          <a:xfrm xmlns:a="http://schemas.openxmlformats.org/drawingml/2006/main">
            <a:off x="4229100" y="1752600"/>
            <a:ext cx="3733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750"/>
          </a:bodyPr>
          <a:lstStyle xmlns:a="http://schemas.openxmlformats.org/drawingml/2006/main"/>
          <a:p xmlns:a="http://schemas.openxmlformats.org/drawingml/2006/main">
            <a:pPr algn="ctr">
              <a:lnSpc>
                <a:spcPct val="100000"/>
              </a:lnSpc>
              <a:buNone/>
              <a:defRPr sz="3600" b="1">
                <a:solidFill>
                  <a:srgbClr val="FFFFFF"/>
                </a:solidFill>
                <a:latin typeface="Aptos"/>
                <a:ea typeface="Aptos"/>
                <a:cs typeface="Aptos"/>
              </a:defRPr>
            </a:pPr>
            <a:r>
              <a:rPr sz="3600" b="1">
                <a:solidFill>
                  <a:srgbClr val="FFFFFF"/>
                </a:solidFill>
                <a:latin typeface="Aptos"/>
                <a:ea typeface="Aptos"/>
                <a:cs typeface="Aptos"/>
              </a:rPr>
              <a:t>SAP</a:t>
            </a:r>
          </a:p>
        </p:txBody>
      </p:sp>
      <p:sp>
        <p:nvSpPr>
          <p:cNvPr id="6" name="">
            <a:extLst xmlns:a="http://schemas.openxmlformats.org/drawingml/2006/main">
              <a:ext uri="{FF2B5EF4-FFF2-40B4-BE49-F238E27FC236}">
                <a16:creationId xmlns:a16="http://schemas.microsoft.com/office/drawing/2014/main" id="{2F2754A6-F79B-4C36-918D-A01F03B670CF}"/>
              </a:ext>
            </a:extLst>
          </p:cNvPr>
          <p:cNvSpPr>
            <a:spLocks xmlns:a="http://schemas.openxmlformats.org/drawingml/2006/main" noGrp="1"/>
          </p:cNvSpPr>
          <p:nvPr/>
        </p:nvSpPr>
        <p:spPr>
          <a:xfrm xmlns:a="http://schemas.openxmlformats.org/drawingml/2006/main">
            <a:off x="4229100" y="232410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a:solidFill>
                  <a:srgbClr val="CFE8F7"/>
                </a:solidFill>
                <a:latin typeface="Aptos"/>
                <a:ea typeface="Aptos"/>
                <a:cs typeface="Aptos"/>
              </a:defRPr>
            </a:pPr>
            <a:r>
              <a:rPr sz="1500" b="0">
                <a:solidFill>
                  <a:srgbClr val="CFE8F7"/>
                </a:solidFill>
                <a:latin typeface="Aptos"/>
                <a:ea typeface="Aptos"/>
                <a:cs typeface="Aptos"/>
              </a:rPr>
              <a:t>Single source of truth</a:t>
            </a:r>
          </a:p>
        </p:txBody>
      </p:sp>
      <p:sp>
        <p:nvSpPr>
          <p:cNvPr id="7" name="">
            <a:extLst xmlns:a="http://schemas.openxmlformats.org/drawingml/2006/main">
              <a:ext uri="{FF2B5EF4-FFF2-40B4-BE49-F238E27FC236}">
                <a16:creationId xmlns:a16="http://schemas.microsoft.com/office/drawing/2014/main" id="{BC5F3F53-E6F8-4DB4-B7AF-BB86A999EEFA}"/>
              </a:ext>
            </a:extLst>
          </p:cNvPr>
          <p:cNvSpPr>
            <a:spLocks xmlns:a="http://schemas.openxmlformats.org/drawingml/2006/main" noGrp="1"/>
          </p:cNvSpPr>
          <p:nvPr/>
        </p:nvSpPr>
        <p:spPr>
          <a:xfrm xmlns:a="http://schemas.openxmlformats.org/drawingml/2006/main">
            <a:off x="4229100" y="4229100"/>
            <a:ext cx="3733800" cy="1162050"/>
          </a:xfrm>
          <a:prstGeom xmlns:a="http://schemas.openxmlformats.org/drawingml/2006/main" prst="roundRect">
            <a:avLst>
              <a:gd name="adj" fmla="val 6557"/>
            </a:avLst>
          </a:prstGeom>
          <a:solidFill xmlns:a="http://schemas.openxmlformats.org/drawingml/2006/main">
            <a:srgbClr val="EAF5FB"/>
          </a:solidFill>
          <a:ln xmlns:a="http://schemas.openxmlformats.org/drawingml/2006/main" w="28575">
            <a:solidFill>
              <a:srgbClr val="12B7E6"/>
            </a:solidFill>
            <a:prstDash val="solid"/>
          </a:ln>
        </p:spPr>
      </p:sp>
      <p:sp>
        <p:nvSpPr>
          <p:cNvPr id="8" name="">
            <a:extLst xmlns:a="http://schemas.openxmlformats.org/drawingml/2006/main">
              <a:ext uri="{FF2B5EF4-FFF2-40B4-BE49-F238E27FC236}">
                <a16:creationId xmlns:a16="http://schemas.microsoft.com/office/drawing/2014/main" id="{10DA81DA-F647-4DDC-AA75-B9659F43EC7B}"/>
              </a:ext>
            </a:extLst>
          </p:cNvPr>
          <p:cNvSpPr>
            <a:spLocks xmlns:a="http://schemas.openxmlformats.org/drawingml/2006/main" noGrp="1"/>
          </p:cNvSpPr>
          <p:nvPr/>
        </p:nvSpPr>
        <p:spPr>
          <a:xfrm xmlns:a="http://schemas.openxmlformats.org/drawingml/2006/main">
            <a:off x="4229100" y="4429125"/>
            <a:ext cx="3733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250" b="1">
                <a:solidFill>
                  <a:srgbClr val="071A2B"/>
                </a:solidFill>
                <a:latin typeface="Aptos"/>
                <a:ea typeface="Aptos"/>
                <a:cs typeface="Aptos"/>
              </a:defRPr>
            </a:pPr>
            <a:r>
              <a:rPr sz="2250" b="1">
                <a:solidFill>
                  <a:srgbClr val="071A2B"/>
                </a:solidFill>
                <a:latin typeface="Aptos"/>
                <a:ea typeface="Aptos"/>
                <a:cs typeface="Aptos"/>
              </a:rPr>
              <a:t>NOVA Shopfloor/MES</a:t>
            </a:r>
          </a:p>
        </p:txBody>
      </p:sp>
      <p:sp>
        <p:nvSpPr>
          <p:cNvPr id="9" name="">
            <a:extLst xmlns:a="http://schemas.openxmlformats.org/drawingml/2006/main">
              <a:ext uri="{FF2B5EF4-FFF2-40B4-BE49-F238E27FC236}">
                <a16:creationId xmlns:a16="http://schemas.microsoft.com/office/drawing/2014/main" id="{0C22031F-8CDB-4B05-B0C6-3C41ECA4EEC4}"/>
              </a:ext>
            </a:extLst>
          </p:cNvPr>
          <p:cNvSpPr>
            <a:spLocks xmlns:a="http://schemas.openxmlformats.org/drawingml/2006/main" noGrp="1"/>
          </p:cNvSpPr>
          <p:nvPr/>
        </p:nvSpPr>
        <p:spPr>
          <a:xfrm xmlns:a="http://schemas.openxmlformats.org/drawingml/2006/main">
            <a:off x="4514850" y="4876800"/>
            <a:ext cx="3162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486"/>
          </a:bodyPr>
          <a:lstStyle xmlns:a="http://schemas.openxmlformats.org/drawingml/2006/main"/>
          <a:p xmlns:a="http://schemas.openxmlformats.org/drawingml/2006/main">
            <a:pPr algn="ctr">
              <a:lnSpc>
                <a:spcPct val="100000"/>
              </a:lnSpc>
              <a:buNone/>
              <a:defRPr sz="1350" b="0">
                <a:solidFill>
                  <a:srgbClr val="536575"/>
                </a:solidFill>
                <a:latin typeface="Aptos"/>
                <a:ea typeface="Aptos"/>
                <a:cs typeface="Aptos"/>
              </a:defRPr>
            </a:pPr>
            <a:r>
              <a:rPr sz="1350" b="0">
                <a:solidFill>
                  <a:srgbClr val="536575"/>
                </a:solidFill>
                <a:latin typeface="Aptos"/>
                <a:ea typeface="Aptos"/>
                <a:cs typeface="Aptos"/>
              </a:rPr>
              <a:t>UI operator, scanning, validation, dan eksekusi proses</a:t>
            </a:r>
          </a:p>
        </p:txBody>
      </p:sp>
      <p:sp>
        <p:nvSpPr>
          <p:cNvPr id="10" name="">
            <a:extLst xmlns:a="http://schemas.openxmlformats.org/drawingml/2006/main">
              <a:ext uri="{FF2B5EF4-FFF2-40B4-BE49-F238E27FC236}">
                <a16:creationId xmlns:a16="http://schemas.microsoft.com/office/drawing/2014/main" id="{77957AD0-AC88-4961-914B-5FBA653D9F72}"/>
              </a:ext>
            </a:extLst>
          </p:cNvPr>
          <p:cNvSpPr>
            <a:spLocks xmlns:a="http://schemas.openxmlformats.org/drawingml/2006/main" noGrp="1"/>
          </p:cNvSpPr>
          <p:nvPr/>
        </p:nvSpPr>
        <p:spPr>
          <a:xfrm xmlns:a="http://schemas.openxmlformats.org/drawingml/2006/main">
            <a:off x="666750" y="2476500"/>
            <a:ext cx="2686050" cy="1428750"/>
          </a:xfrm>
          <a:prstGeom xmlns:a="http://schemas.openxmlformats.org/drawingml/2006/main" prst="roundRect">
            <a:avLst>
              <a:gd name="adj" fmla="val 5333"/>
            </a:avLst>
          </a:prstGeom>
          <a:solidFill xmlns:a="http://schemas.openxmlformats.org/drawingml/2006/main">
            <a:srgbClr val="F3F6F9"/>
          </a:solidFill>
          <a:ln xmlns:a="http://schemas.openxmlformats.org/drawingml/2006/main" w="9525">
            <a:solidFill>
              <a:srgbClr val="D5DEE6"/>
            </a:solidFill>
            <a:prstDash val="solid"/>
          </a:ln>
        </p:spPr>
      </p:sp>
      <p:sp>
        <p:nvSpPr>
          <p:cNvPr id="11" name="">
            <a:extLst xmlns:a="http://schemas.openxmlformats.org/drawingml/2006/main">
              <a:ext uri="{FF2B5EF4-FFF2-40B4-BE49-F238E27FC236}">
                <a16:creationId xmlns:a16="http://schemas.microsoft.com/office/drawing/2014/main" id="{BA64D1E3-2FEE-48F5-AA0A-E0056918ADE9}"/>
              </a:ext>
            </a:extLst>
          </p:cNvPr>
          <p:cNvSpPr>
            <a:spLocks xmlns:a="http://schemas.openxmlformats.org/drawingml/2006/main" noGrp="1"/>
          </p:cNvSpPr>
          <p:nvPr/>
        </p:nvSpPr>
        <p:spPr>
          <a:xfrm xmlns:a="http://schemas.openxmlformats.org/drawingml/2006/main">
            <a:off x="895350" y="2686050"/>
            <a:ext cx="2228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0B5CAD"/>
                </a:solidFill>
                <a:latin typeface="Aptos"/>
                <a:ea typeface="Aptos"/>
                <a:cs typeface="Aptos"/>
              </a:defRPr>
            </a:pPr>
            <a:r>
              <a:rPr sz="1875" b="1">
                <a:solidFill>
                  <a:srgbClr val="0B5CAD"/>
                </a:solidFill>
                <a:latin typeface="Aptos"/>
                <a:ea typeface="Aptos"/>
                <a:cs typeface="Aptos"/>
              </a:rPr>
              <a:t>Data dari SAP</a:t>
            </a:r>
          </a:p>
        </p:txBody>
      </p:sp>
      <p:sp>
        <p:nvSpPr>
          <p:cNvPr id="12" name="">
            <a:extLst xmlns:a="http://schemas.openxmlformats.org/drawingml/2006/main">
              <a:ext uri="{FF2B5EF4-FFF2-40B4-BE49-F238E27FC236}">
                <a16:creationId xmlns:a16="http://schemas.microsoft.com/office/drawing/2014/main" id="{C1D5C525-99B7-4A7F-A865-069491AD7576}"/>
              </a:ext>
            </a:extLst>
          </p:cNvPr>
          <p:cNvSpPr>
            <a:spLocks xmlns:a="http://schemas.openxmlformats.org/drawingml/2006/main" noGrp="1"/>
          </p:cNvSpPr>
          <p:nvPr/>
        </p:nvSpPr>
        <p:spPr>
          <a:xfrm xmlns:a="http://schemas.openxmlformats.org/drawingml/2006/main">
            <a:off x="895350" y="3143250"/>
            <a:ext cx="2228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363"/>
          </a:bodyPr>
          <a:lstStyle xmlns:a="http://schemas.openxmlformats.org/drawingml/2006/main"/>
          <a:p xmlns:a="http://schemas.openxmlformats.org/drawingml/2006/main">
            <a:pPr algn="l">
              <a:lnSpc>
                <a:spcPct val="115000"/>
              </a:lnSpc>
              <a:buNone/>
              <a:defRPr sz="1425" b="0">
                <a:solidFill>
                  <a:srgbClr val="142433"/>
                </a:solidFill>
                <a:latin typeface="Aptos"/>
                <a:ea typeface="Aptos"/>
                <a:cs typeface="Aptos"/>
              </a:defRPr>
            </a:pPr>
            <a:r>
              <a:rPr sz="1425" b="0">
                <a:solidFill>
                  <a:srgbClr val="142433"/>
                </a:solidFill>
                <a:latin typeface="Aptos"/>
                <a:ea typeface="Aptos"/>
                <a:cs typeface="Aptos"/>
              </a:rPr>
              <a:t>Master material dan BOM</a:t>
            </a:r>
          </a:p>
          <a:p xmlns:a="http://schemas.openxmlformats.org/drawingml/2006/main">
            <a:pPr algn="l">
              <a:lnSpc>
                <a:spcPct val="115000"/>
              </a:lnSpc>
              <a:buNone/>
              <a:defRPr sz="1425" b="0">
                <a:solidFill>
                  <a:srgbClr val="142433"/>
                </a:solidFill>
                <a:latin typeface="Aptos"/>
                <a:ea typeface="Aptos"/>
                <a:cs typeface="Aptos"/>
              </a:defRPr>
            </a:pPr>
            <a:r>
              <a:rPr sz="1425" b="0">
                <a:solidFill>
                  <a:srgbClr val="142433"/>
                </a:solidFill>
                <a:latin typeface="Aptos"/>
                <a:ea typeface="Aptos"/>
                <a:cs typeface="Aptos"/>
              </a:rPr>
              <a:t>Production order / kebutuhan</a:t>
            </a:r>
          </a:p>
          <a:p xmlns:a="http://schemas.openxmlformats.org/drawingml/2006/main">
            <a:pPr algn="l">
              <a:lnSpc>
                <a:spcPct val="115000"/>
              </a:lnSpc>
              <a:buNone/>
              <a:defRPr sz="1425" b="0">
                <a:solidFill>
                  <a:srgbClr val="142433"/>
                </a:solidFill>
                <a:latin typeface="Aptos"/>
                <a:ea typeface="Aptos"/>
                <a:cs typeface="Aptos"/>
              </a:defRPr>
            </a:pPr>
            <a:r>
              <a:rPr sz="1425" b="0">
                <a:solidFill>
                  <a:srgbClr val="142433"/>
                </a:solidFill>
                <a:latin typeface="Aptos"/>
                <a:ea typeface="Aptos"/>
                <a:cs typeface="Aptos"/>
              </a:rPr>
              <a:t>Stok dan referensi dokumen</a:t>
            </a:r>
          </a:p>
        </p:txBody>
      </p:sp>
      <p:sp>
        <p:nvSpPr>
          <p:cNvPr id="13" name="">
            <a:extLst xmlns:a="http://schemas.openxmlformats.org/drawingml/2006/main">
              <a:ext uri="{FF2B5EF4-FFF2-40B4-BE49-F238E27FC236}">
                <a16:creationId xmlns:a16="http://schemas.microsoft.com/office/drawing/2014/main" id="{BBC92730-A914-47CC-A281-704981831533}"/>
              </a:ext>
            </a:extLst>
          </p:cNvPr>
          <p:cNvSpPr>
            <a:spLocks xmlns:a="http://schemas.openxmlformats.org/drawingml/2006/main" noGrp="1"/>
          </p:cNvSpPr>
          <p:nvPr/>
        </p:nvSpPr>
        <p:spPr>
          <a:xfrm xmlns:a="http://schemas.openxmlformats.org/drawingml/2006/main">
            <a:off x="8839200" y="2476500"/>
            <a:ext cx="2686050" cy="1428750"/>
          </a:xfrm>
          <a:prstGeom xmlns:a="http://schemas.openxmlformats.org/drawingml/2006/main" prst="roundRect">
            <a:avLst>
              <a:gd name="adj" fmla="val 5333"/>
            </a:avLst>
          </a:prstGeom>
          <a:solidFill xmlns:a="http://schemas.openxmlformats.org/drawingml/2006/main">
            <a:srgbClr val="F3F6F9"/>
          </a:solidFill>
          <a:ln xmlns:a="http://schemas.openxmlformats.org/drawingml/2006/main" w="9525">
            <a:solidFill>
              <a:srgbClr val="D5DEE6"/>
            </a:solidFill>
            <a:prstDash val="solid"/>
          </a:ln>
        </p:spPr>
      </p:sp>
      <p:sp>
        <p:nvSpPr>
          <p:cNvPr id="14" name="">
            <a:extLst xmlns:a="http://schemas.openxmlformats.org/drawingml/2006/main">
              <a:ext uri="{FF2B5EF4-FFF2-40B4-BE49-F238E27FC236}">
                <a16:creationId xmlns:a16="http://schemas.microsoft.com/office/drawing/2014/main" id="{97EAB98D-76A3-4F15-97E1-314AAFE5CD99}"/>
              </a:ext>
            </a:extLst>
          </p:cNvPr>
          <p:cNvSpPr>
            <a:spLocks xmlns:a="http://schemas.openxmlformats.org/drawingml/2006/main" noGrp="1"/>
          </p:cNvSpPr>
          <p:nvPr/>
        </p:nvSpPr>
        <p:spPr>
          <a:xfrm xmlns:a="http://schemas.openxmlformats.org/drawingml/2006/main">
            <a:off x="9067800" y="2686050"/>
            <a:ext cx="2228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23845B"/>
                </a:solidFill>
                <a:latin typeface="Aptos"/>
                <a:ea typeface="Aptos"/>
                <a:cs typeface="Aptos"/>
              </a:defRPr>
            </a:pPr>
            <a:r>
              <a:rPr sz="1875" b="1">
                <a:solidFill>
                  <a:srgbClr val="23845B"/>
                </a:solidFill>
                <a:latin typeface="Aptos"/>
                <a:ea typeface="Aptos"/>
                <a:cs typeface="Aptos"/>
              </a:rPr>
              <a:t>Keluaran SAP</a:t>
            </a:r>
          </a:p>
        </p:txBody>
      </p:sp>
      <p:sp>
        <p:nvSpPr>
          <p:cNvPr id="15" name="">
            <a:extLst xmlns:a="http://schemas.openxmlformats.org/drawingml/2006/main">
              <a:ext uri="{FF2B5EF4-FFF2-40B4-BE49-F238E27FC236}">
                <a16:creationId xmlns:a16="http://schemas.microsoft.com/office/drawing/2014/main" id="{AE2CC1FA-BD3E-457B-82EA-47CD32017E0B}"/>
              </a:ext>
            </a:extLst>
          </p:cNvPr>
          <p:cNvSpPr>
            <a:spLocks xmlns:a="http://schemas.openxmlformats.org/drawingml/2006/main" noGrp="1"/>
          </p:cNvSpPr>
          <p:nvPr/>
        </p:nvSpPr>
        <p:spPr>
          <a:xfrm xmlns:a="http://schemas.openxmlformats.org/drawingml/2006/main">
            <a:off x="9067800" y="3143250"/>
            <a:ext cx="2228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363"/>
          </a:bodyPr>
          <a:lstStyle xmlns:a="http://schemas.openxmlformats.org/drawingml/2006/main"/>
          <a:p xmlns:a="http://schemas.openxmlformats.org/drawingml/2006/main">
            <a:pPr algn="l">
              <a:lnSpc>
                <a:spcPct val="115000"/>
              </a:lnSpc>
              <a:buNone/>
              <a:defRPr sz="1425" b="0">
                <a:solidFill>
                  <a:srgbClr val="142433"/>
                </a:solidFill>
                <a:latin typeface="Aptos"/>
                <a:ea typeface="Aptos"/>
                <a:cs typeface="Aptos"/>
              </a:defRPr>
            </a:pPr>
            <a:r>
              <a:rPr sz="1425" b="0">
                <a:solidFill>
                  <a:srgbClr val="142433"/>
                </a:solidFill>
                <a:latin typeface="Aptos"/>
                <a:ea typeface="Aptos"/>
                <a:cs typeface="Aptos"/>
              </a:rPr>
              <a:t>Saldo inventory resmi</a:t>
            </a:r>
          </a:p>
          <a:p xmlns:a="http://schemas.openxmlformats.org/drawingml/2006/main">
            <a:pPr algn="l">
              <a:lnSpc>
                <a:spcPct val="115000"/>
              </a:lnSpc>
              <a:buNone/>
              <a:defRPr sz="1425" b="0">
                <a:solidFill>
                  <a:srgbClr val="142433"/>
                </a:solidFill>
                <a:latin typeface="Aptos"/>
                <a:ea typeface="Aptos"/>
                <a:cs typeface="Aptos"/>
              </a:defRPr>
            </a:pPr>
            <a:r>
              <a:rPr sz="1425" b="0">
                <a:solidFill>
                  <a:srgbClr val="142433"/>
                </a:solidFill>
                <a:latin typeface="Aptos"/>
                <a:ea typeface="Aptos"/>
                <a:cs typeface="Aptos"/>
              </a:rPr>
              <a:t>Dokumen transaksi</a:t>
            </a:r>
          </a:p>
          <a:p xmlns:a="http://schemas.openxmlformats.org/drawingml/2006/main">
            <a:pPr algn="l">
              <a:lnSpc>
                <a:spcPct val="115000"/>
              </a:lnSpc>
              <a:buNone/>
              <a:defRPr sz="1425" b="0">
                <a:solidFill>
                  <a:srgbClr val="142433"/>
                </a:solidFill>
                <a:latin typeface="Aptos"/>
                <a:ea typeface="Aptos"/>
                <a:cs typeface="Aptos"/>
              </a:defRPr>
            </a:pPr>
            <a:r>
              <a:rPr sz="1425" b="0">
                <a:solidFill>
                  <a:srgbClr val="142433"/>
                </a:solidFill>
                <a:latin typeface="Aptos"/>
                <a:ea typeface="Aptos"/>
                <a:cs typeface="Aptos"/>
              </a:rPr>
              <a:t>Laporan Accounting dan manajemen</a:t>
            </a:r>
          </a:p>
        </p:txBody>
      </p:sp>
      <p:cxnSp>
        <p:nvCxnSpPr>
          <p:cNvPr id="41" name=""/>
          <p:cNvCxnSpPr>
            <a:stCxn xmlns:a="http://schemas.openxmlformats.org/drawingml/2006/main" id="10" idx="3"/>
            <a:endCxn xmlns:a="http://schemas.openxmlformats.org/drawingml/2006/main" id="4" idx="1"/>
          </p:cNvCxnSpPr>
          <p:nvPr/>
        </p:nvCxnSpPr>
        <p:spPr>
          <a:xfrm xmlns:a="http://schemas.openxmlformats.org/drawingml/2006/main" flipV="1">
            <a:off x="3352800" y="2228850"/>
            <a:ext cx="876300" cy="962025"/>
          </a:xfrm>
          <a:prstGeom xmlns:a="http://schemas.openxmlformats.org/drawingml/2006/main" prst="bentConnector3">
            <a:avLst>
              <a:gd name="adj1" fmla="val 50000"/>
            </a:avLst>
          </a:prstGeom>
          <a:ln xmlns:a="http://schemas.openxmlformats.org/drawingml/2006/main" w="19050">
            <a:solidFill>
              <a:srgbClr val="0B5CAD"/>
            </a:solidFill>
            <a:prstDash val="solid"/>
            <a:headEnd type="triangle" w="sm" len="sm"/>
          </a:ln>
        </p:spPr>
      </p:cxnSp>
      <p:cxnSp>
        <p:nvCxnSpPr>
          <p:cNvPr id="42" name=""/>
          <p:cNvCxnSpPr>
            <a:stCxn xmlns:a="http://schemas.openxmlformats.org/drawingml/2006/main" id="4" idx="3"/>
            <a:endCxn xmlns:a="http://schemas.openxmlformats.org/drawingml/2006/main" id="13" idx="1"/>
          </p:cNvCxnSpPr>
          <p:nvPr/>
        </p:nvCxnSpPr>
        <p:spPr>
          <a:xfrm xmlns:a="http://schemas.openxmlformats.org/drawingml/2006/main">
            <a:off x="7962900" y="2228850"/>
            <a:ext cx="876300" cy="962025"/>
          </a:xfrm>
          <a:prstGeom xmlns:a="http://schemas.openxmlformats.org/drawingml/2006/main" prst="bentConnector3">
            <a:avLst>
              <a:gd name="adj1" fmla="val 50000"/>
            </a:avLst>
          </a:prstGeom>
          <a:ln xmlns:a="http://schemas.openxmlformats.org/drawingml/2006/main" w="19050">
            <a:solidFill>
              <a:srgbClr val="23845B"/>
            </a:solidFill>
            <a:prstDash val="solid"/>
            <a:tailEnd type="triangle" w="sm" len="sm"/>
          </a:ln>
        </p:spPr>
      </p:cxnSp>
      <p:cxnSp>
        <p:nvCxnSpPr>
          <p:cNvPr id="43" name=""/>
          <p:cNvCxnSpPr>
            <a:stCxn xmlns:a="http://schemas.openxmlformats.org/drawingml/2006/main" id="4" idx="2"/>
            <a:endCxn xmlns:a="http://schemas.openxmlformats.org/drawingml/2006/main" id="7" idx="0"/>
          </p:cNvCxnSpPr>
          <p:nvPr/>
        </p:nvCxnSpPr>
        <p:spPr>
          <a:xfrm xmlns:a="http://schemas.openxmlformats.org/drawingml/2006/main">
            <a:off x="6096000" y="2914650"/>
            <a:ext cx="0" cy="1314450"/>
          </a:xfrm>
          <a:prstGeom xmlns:a="http://schemas.openxmlformats.org/drawingml/2006/main" prst="straightConnector1">
            <a:avLst/>
          </a:prstGeom>
          <a:ln xmlns:a="http://schemas.openxmlformats.org/drawingml/2006/main" w="28575">
            <a:solidFill>
              <a:srgbClr val="12B7E6"/>
            </a:solidFill>
            <a:prstDash val="solid"/>
            <a:headEnd type="triangle" w="med" len="med"/>
            <a:tailEnd type="triangle" w="med" len="med"/>
          </a:ln>
        </p:spPr>
      </p:cxnSp>
      <p:sp>
        <p:nvSpPr>
          <p:cNvPr id="19" name="">
            <a:extLst xmlns:a="http://schemas.openxmlformats.org/drawingml/2006/main">
              <a:ext uri="{FF2B5EF4-FFF2-40B4-BE49-F238E27FC236}">
                <a16:creationId xmlns:a16="http://schemas.microsoft.com/office/drawing/2014/main" id="{753AC014-F0BB-4053-8632-4C086A6C4FA6}"/>
              </a:ext>
            </a:extLst>
          </p:cNvPr>
          <p:cNvSpPr>
            <a:spLocks xmlns:a="http://schemas.openxmlformats.org/drawingml/2006/main" noGrp="1"/>
          </p:cNvSpPr>
          <p:nvPr/>
        </p:nvSpPr>
        <p:spPr>
          <a:xfrm xmlns:a="http://schemas.openxmlformats.org/drawingml/2006/main">
            <a:off x="4095750" y="3333750"/>
            <a:ext cx="1638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a:solidFill>
                  <a:srgbClr val="0B5CAD"/>
                </a:solidFill>
                <a:latin typeface="Aptos"/>
                <a:ea typeface="Aptos"/>
                <a:cs typeface="Aptos"/>
              </a:defRPr>
            </a:pPr>
            <a:r>
              <a:rPr sz="1200" b="1">
                <a:solidFill>
                  <a:srgbClr val="0B5CAD"/>
                </a:solidFill>
                <a:latin typeface="Aptos"/>
                <a:ea typeface="Aptos"/>
                <a:cs typeface="Aptos"/>
              </a:rPr>
              <a:t>Master dan order</a:t>
            </a:r>
          </a:p>
        </p:txBody>
      </p:sp>
      <p:sp>
        <p:nvSpPr>
          <p:cNvPr id="20" name="">
            <a:extLst xmlns:a="http://schemas.openxmlformats.org/drawingml/2006/main">
              <a:ext uri="{FF2B5EF4-FFF2-40B4-BE49-F238E27FC236}">
                <a16:creationId xmlns:a16="http://schemas.microsoft.com/office/drawing/2014/main" id="{F767586D-285E-42D3-95D5-5959E3622950}"/>
              </a:ext>
            </a:extLst>
          </p:cNvPr>
          <p:cNvSpPr>
            <a:spLocks xmlns:a="http://schemas.openxmlformats.org/drawingml/2006/main" noGrp="1"/>
          </p:cNvSpPr>
          <p:nvPr/>
        </p:nvSpPr>
        <p:spPr>
          <a:xfrm xmlns:a="http://schemas.openxmlformats.org/drawingml/2006/main">
            <a:off x="6457950" y="3714750"/>
            <a:ext cx="1638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3845B"/>
                </a:solidFill>
                <a:latin typeface="Aptos"/>
                <a:ea typeface="Aptos"/>
                <a:cs typeface="Aptos"/>
              </a:defRPr>
            </a:pPr>
            <a:r>
              <a:rPr sz="1200" b="1">
                <a:solidFill>
                  <a:srgbClr val="23845B"/>
                </a:solidFill>
                <a:latin typeface="Aptos"/>
                <a:ea typeface="Aptos"/>
                <a:cs typeface="Aptos"/>
              </a:rPr>
              <a:t>Hasil transaksi</a:t>
            </a:r>
          </a:p>
        </p:txBody>
      </p:sp>
      <p:sp>
        <p:nvSpPr>
          <p:cNvPr id="21" name="">
            <a:extLst xmlns:a="http://schemas.openxmlformats.org/drawingml/2006/main">
              <a:ext uri="{FF2B5EF4-FFF2-40B4-BE49-F238E27FC236}">
                <a16:creationId xmlns:a16="http://schemas.microsoft.com/office/drawing/2014/main" id="{64B873EF-1A98-4624-A7F9-C378B83BC5C3}"/>
              </a:ext>
            </a:extLst>
          </p:cNvPr>
          <p:cNvSpPr>
            <a:spLocks xmlns:a="http://schemas.openxmlformats.org/drawingml/2006/main" noGrp="1"/>
          </p:cNvSpPr>
          <p:nvPr/>
        </p:nvSpPr>
        <p:spPr>
          <a:xfrm xmlns:a="http://schemas.openxmlformats.org/drawingml/2006/main">
            <a:off x="1638300" y="5676900"/>
            <a:ext cx="8915400" cy="476250"/>
          </a:xfrm>
          <a:prstGeom xmlns:a="http://schemas.openxmlformats.org/drawingml/2006/main" prst="roundRect">
            <a:avLst>
              <a:gd name="adj" fmla="val 16000"/>
            </a:avLst>
          </a:prstGeom>
          <a:solidFill xmlns:a="http://schemas.openxmlformats.org/drawingml/2006/main">
            <a:srgbClr val="FBEDE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2388096-CB45-4AF8-A237-6B7559315B64}"/>
              </a:ext>
            </a:extLst>
          </p:cNvPr>
          <p:cNvSpPr>
            <a:spLocks xmlns:a="http://schemas.openxmlformats.org/drawingml/2006/main" noGrp="1"/>
          </p:cNvSpPr>
          <p:nvPr/>
        </p:nvSpPr>
        <p:spPr>
          <a:xfrm xmlns:a="http://schemas.openxmlformats.org/drawingml/2006/main">
            <a:off x="1943100" y="5791200"/>
            <a:ext cx="830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69112"/>
          </a:bodyPr>
          <a:lstStyle xmlns:a="http://schemas.openxmlformats.org/drawingml/2006/main"/>
          <a:p xmlns:a="http://schemas.openxmlformats.org/drawingml/2006/main">
            <a:pPr algn="ctr">
              <a:lnSpc>
                <a:spcPct val="100000"/>
              </a:lnSpc>
              <a:buNone/>
              <a:defRPr sz="1500" b="1">
                <a:solidFill>
                  <a:srgbClr val="D94141"/>
                </a:solidFill>
                <a:latin typeface="Aptos"/>
                <a:ea typeface="Aptos"/>
                <a:cs typeface="Aptos"/>
              </a:defRPr>
            </a:pPr>
            <a:r>
              <a:rPr sz="1500" b="1">
                <a:solidFill>
                  <a:srgbClr val="D94141"/>
                </a:solidFill>
                <a:latin typeface="Aptos"/>
                <a:ea typeface="Aptos"/>
                <a:cs typeface="Aptos"/>
              </a:rPr>
              <a:t>NOVA tidak menyimpan saldo inventory atau dokumen bisnis independen. Data teknis sementara hanya untuk antrean, monitoring, dan audit integrasi.</a:t>
            </a:r>
          </a:p>
        </p:txBody>
      </p:sp>
      <p:sp>
        <p:nvSpPr>
          <p:cNvPr id="23" name="">
            <a:extLst xmlns:a="http://schemas.openxmlformats.org/drawingml/2006/main">
              <a:ext uri="{FF2B5EF4-FFF2-40B4-BE49-F238E27FC236}">
                <a16:creationId xmlns:a16="http://schemas.microsoft.com/office/drawing/2014/main" id="{06FE615F-995C-4543-AFDB-1E0BEA212B96}"/>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24" name="">
            <a:extLst xmlns:a="http://schemas.openxmlformats.org/drawingml/2006/main">
              <a:ext uri="{FF2B5EF4-FFF2-40B4-BE49-F238E27FC236}">
                <a16:creationId xmlns:a16="http://schemas.microsoft.com/office/drawing/2014/main" id="{F7590A05-B62B-4AD6-AEF7-3F3A4F950289}"/>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Shopfloor/MES / SAP</a:t>
            </a:r>
          </a:p>
        </p:txBody>
      </p:sp>
      <p:sp>
        <p:nvSpPr>
          <p:cNvPr id="25" name="">
            <a:extLst xmlns:a="http://schemas.openxmlformats.org/drawingml/2006/main">
              <a:ext uri="{FF2B5EF4-FFF2-40B4-BE49-F238E27FC236}">
                <a16:creationId xmlns:a16="http://schemas.microsoft.com/office/drawing/2014/main" id="{3CD46B66-E668-48F7-B7A6-AB7BEB17DB8B}"/>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04</a:t>
            </a:r>
          </a:p>
        </p:txBody>
      </p:sp>
    </p:spTree>
    <p:extLst>
      <p:ext uri="{BB962C8B-B14F-4D97-AF65-F5344CB8AC3E}">
        <p14:creationId xmlns:p14="http://schemas.microsoft.com/office/powerpoint/2010/main" val="1647955056"/>
      </p:ext>
    </p:extLst>
  </p:cSld>
</p:sld>
</file>

<file path=ppt/slides/slide5.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A3CF92-E42F-45C7-AB62-6F35A07066E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8903C0-47A1-46CE-8994-9F5B98B3BBC4}"/>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Titik sinkronisasi ke SAP</a:t>
            </a:r>
          </a:p>
        </p:txBody>
      </p:sp>
      <p:sp>
        <p:nvSpPr>
          <p:cNvPr id="3" name="">
            <a:extLst xmlns:a="http://schemas.openxmlformats.org/drawingml/2006/main">
              <a:ext uri="{FF2B5EF4-FFF2-40B4-BE49-F238E27FC236}">
                <a16:creationId xmlns:a16="http://schemas.microsoft.com/office/drawing/2014/main" id="{7E955DF9-E164-4DD3-92DF-33B6A9017705}"/>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Posting dilakukan pada event bisnis yang sudah final, kemudian nomor dokumen SAP dikembalikan ke NOVA</a:t>
            </a:r>
          </a:p>
        </p:txBody>
      </p:sp>
      <p:graphicFrame>
        <p:nvGraphicFramePr>
          <p:cNvPr id="13" name=""/>
          <p:cNvGraphicFramePr/>
          <p:nvPr/>
        </p:nvGraphicFramePr>
        <p:xfrm>
          <a:off xmlns:a="http://schemas.openxmlformats.org/drawingml/2006/main" x="609600" y="1466850"/>
          <a:ext xmlns:a="http://schemas.openxmlformats.org/drawingml/2006/main" cx="10972800" cy="3943350"/>
        </p:xfrm>
        <a:graphic xmlns:a="http://schemas.openxmlformats.org/drawingml/2006/main">
          <a:graphicData uri="http://schemas.openxmlformats.org/drawingml/2006/table">
            <a:tbl>
              <a:tblPr/>
              <a:tblGrid>
                <a:gridCol w="2057400"/>
                <a:gridCol w="2800350"/>
                <a:gridCol w="3619500"/>
                <a:gridCol w="2495550"/>
              </a:tblGrid>
              <a:tr h="590550">
                <a:tc>
                  <a:txBody>
                    <a:bodyPr anchor="ctr"/>
                    <a:lstStyle/>
                    <a:p>
                      <a:pPr algn="ctr"/>
                      <a:r>
                        <a:rPr sz="1500" b="1">
                          <a:solidFill>
                            <a:srgbClr val="FFFFFF"/>
                          </a:solidFill>
                          <a:latin typeface="Aptos"/>
                          <a:ea typeface="Aptos"/>
                          <a:cs typeface="Aptos"/>
                        </a:rPr>
                        <a:t>Tahap Shopfloor</a:t>
                      </a:r>
                    </a:p>
                  </a:txBody>
                  <a:tcPr marL="95250" marR="95250" marT="76200" marB="76200" anchor="ctr">
                    <a:solidFill>
                      <a:srgbClr val="0E2C47"/>
                    </a:solidFill>
                  </a:tcPr>
                </a:tc>
                <a:tc>
                  <a:txBody>
                    <a:bodyPr anchor="ctr"/>
                    <a:lstStyle/>
                    <a:p>
                      <a:pPr algn="ctr"/>
                      <a:r>
                        <a:rPr sz="1500" b="1">
                          <a:solidFill>
                            <a:srgbClr val="FFFFFF"/>
                          </a:solidFill>
                          <a:latin typeface="Aptos"/>
                          <a:ea typeface="Aptos"/>
                          <a:cs typeface="Aptos"/>
                        </a:rPr>
                        <a:t>Trigger di NOVA</a:t>
                      </a:r>
                    </a:p>
                  </a:txBody>
                  <a:tcPr marL="95250" marR="95250" marT="76200" marB="76200" anchor="ctr">
                    <a:solidFill>
                      <a:srgbClr val="0E2C47"/>
                    </a:solidFill>
                  </a:tcPr>
                </a:tc>
                <a:tc>
                  <a:txBody>
                    <a:bodyPr anchor="ctr"/>
                    <a:lstStyle/>
                    <a:p>
                      <a:pPr algn="ctr"/>
                      <a:r>
                        <a:rPr sz="1500" b="1">
                          <a:solidFill>
                            <a:srgbClr val="FFFFFF"/>
                          </a:solidFill>
                          <a:latin typeface="Aptos"/>
                          <a:ea typeface="Aptos"/>
                          <a:cs typeface="Aptos"/>
                        </a:rPr>
                        <a:t>Transaksi / status di SAP</a:t>
                      </a:r>
                    </a:p>
                  </a:txBody>
                  <a:tcPr marL="95250" marR="95250" marT="76200" marB="76200" anchor="ctr">
                    <a:solidFill>
                      <a:srgbClr val="0E2C47"/>
                    </a:solidFill>
                  </a:tcPr>
                </a:tc>
                <a:tc>
                  <a:txBody>
                    <a:bodyPr anchor="ctr"/>
                    <a:lstStyle/>
                    <a:p>
                      <a:pPr algn="ctr"/>
                      <a:r>
                        <a:rPr sz="1500" b="1">
                          <a:solidFill>
                            <a:srgbClr val="FFFFFF"/>
                          </a:solidFill>
                          <a:latin typeface="Aptos"/>
                          <a:ea typeface="Aptos"/>
                          <a:cs typeface="Aptos"/>
                        </a:rPr>
                        <a:t>Bukti kembali ke NOVA</a:t>
                      </a:r>
                    </a:p>
                  </a:txBody>
                  <a:tcPr marL="95250" marR="95250" marT="76200" marB="76200" anchor="ctr">
                    <a:solidFill>
                      <a:srgbClr val="0E2C47"/>
                    </a:solidFill>
                  </a:tcPr>
                </a:tc>
              </a:tr>
              <a:tr h="838200">
                <a:tc>
                  <a:txBody>
                    <a:bodyPr anchor="ctr"/>
                    <a:lstStyle/>
                    <a:p>
                      <a:r>
                        <a:rPr sz="1425" b="1">
                          <a:solidFill>
                            <a:srgbClr val="071A2B"/>
                          </a:solidFill>
                          <a:latin typeface="Aptos"/>
                          <a:ea typeface="Aptos"/>
                          <a:cs typeface="Aptos"/>
                        </a:rPr>
                        <a:t>1  Penerimaan material</a:t>
                      </a:r>
                    </a:p>
                  </a:txBody>
                  <a:tcPr marL="95250" marR="95250" marT="76200" marB="76200" anchor="ctr">
                    <a:solidFill>
                      <a:srgbClr val="EAF5FB"/>
                    </a:solidFill>
                  </a:tcPr>
                </a:tc>
                <a:tc>
                  <a:txBody>
                    <a:bodyPr anchor="ctr"/>
                    <a:lstStyle/>
                    <a:p>
                      <a:r>
                        <a:rPr sz="1350">
                          <a:solidFill>
                            <a:srgbClr val="142433"/>
                          </a:solidFill>
                          <a:latin typeface="Aptos"/>
                          <a:ea typeface="Aptos"/>
                          <a:cs typeface="Aptos"/>
                        </a:rPr>
                        <a:t>Incoming sudah dicek, diterima, dan disetujui</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GR material dengan ownership, plant, storage, dan valuation yang disetujui</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Nomor dokumen SAP dan status Posted</a:t>
                      </a:r>
                    </a:p>
                  </a:txBody>
                  <a:tcPr marL="95250" marR="95250" marT="76200" marB="76200" anchor="ctr">
                    <a:solidFill>
                      <a:srgbClr val="FFFFFF"/>
                    </a:solidFill>
                  </a:tcPr>
                </a:tc>
              </a:tr>
              <a:tr h="838200">
                <a:tc>
                  <a:txBody>
                    <a:bodyPr anchor="ctr"/>
                    <a:lstStyle/>
                    <a:p>
                      <a:r>
                        <a:rPr sz="1425" b="1">
                          <a:solidFill>
                            <a:srgbClr val="071A2B"/>
                          </a:solidFill>
                          <a:latin typeface="Aptos"/>
                          <a:ea typeface="Aptos"/>
                          <a:cs typeface="Aptos"/>
                        </a:rPr>
                        <a:t>2  Pemakaian material</a:t>
                      </a:r>
                    </a:p>
                  </a:txBody>
                  <a:tcPr marL="95250" marR="95250" marT="76200" marB="76200" anchor="ctr">
                    <a:solidFill>
                      <a:srgbClr val="F3F6F9"/>
                    </a:solidFill>
                  </a:tcPr>
                </a:tc>
                <a:tc>
                  <a:txBody>
                    <a:bodyPr anchor="ctr"/>
                    <a:lstStyle/>
                    <a:p>
                      <a:r>
                        <a:rPr sz="1350">
                          <a:solidFill>
                            <a:srgbClr val="142433"/>
                          </a:solidFill>
                          <a:latin typeface="Aptos"/>
                          <a:ea typeface="Aptos"/>
                          <a:cs typeface="Aptos"/>
                        </a:rPr>
                        <a:t>Shopping BOM dikonfirmasi sesuai kebutuhan produksi</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Goods issue / consumption ke production order</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Dokumen material dan sisa kebutuhan</a:t>
                      </a:r>
                    </a:p>
                  </a:txBody>
                  <a:tcPr marL="95250" marR="95250" marT="76200" marB="76200" anchor="ctr">
                    <a:solidFill>
                      <a:srgbClr val="FFFFFF"/>
                    </a:solidFill>
                  </a:tcPr>
                </a:tc>
              </a:tr>
              <a:tr h="838200">
                <a:tc>
                  <a:txBody>
                    <a:bodyPr anchor="ctr"/>
                    <a:lstStyle/>
                    <a:p>
                      <a:r>
                        <a:rPr sz="1425" b="1">
                          <a:solidFill>
                            <a:srgbClr val="071A2B"/>
                          </a:solidFill>
                          <a:latin typeface="Aptos"/>
                          <a:ea typeface="Aptos"/>
                          <a:cs typeface="Aptos"/>
                        </a:rPr>
                        <a:t>3  Hasil produksi</a:t>
                      </a:r>
                    </a:p>
                  </a:txBody>
                  <a:tcPr marL="95250" marR="95250" marT="76200" marB="76200" anchor="ctr">
                    <a:solidFill>
                      <a:srgbClr val="EAF5FB"/>
                    </a:solidFill>
                  </a:tcPr>
                </a:tc>
                <a:tc>
                  <a:txBody>
                    <a:bodyPr anchor="ctr"/>
                    <a:lstStyle/>
                    <a:p>
                      <a:r>
                        <a:rPr sz="1350">
                          <a:solidFill>
                            <a:srgbClr val="142433"/>
                          </a:solidFill>
                          <a:latin typeface="Aptos"/>
                          <a:ea typeface="Aptos"/>
                          <a:cs typeface="Aptos"/>
                        </a:rPr>
                        <a:t>Passthrough selesai atau box Assembly selesai</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Production confirmation dan penerimaan finish good</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Nomor confirmation / material document</a:t>
                      </a:r>
                    </a:p>
                  </a:txBody>
                  <a:tcPr marL="95250" marR="95250" marT="76200" marB="76200" anchor="ctr">
                    <a:solidFill>
                      <a:srgbClr val="FFFFFF"/>
                    </a:solidFill>
                  </a:tcPr>
                </a:tc>
              </a:tr>
              <a:tr h="838200">
                <a:tc>
                  <a:txBody>
                    <a:bodyPr anchor="ctr"/>
                    <a:lstStyle/>
                    <a:p>
                      <a:r>
                        <a:rPr sz="1425" b="1">
                          <a:solidFill>
                            <a:srgbClr val="071A2B"/>
                          </a:solidFill>
                          <a:latin typeface="Aptos"/>
                          <a:ea typeface="Aptos"/>
                          <a:cs typeface="Aptos"/>
                        </a:rPr>
                        <a:t>4  Delivery dan close</a:t>
                      </a:r>
                    </a:p>
                  </a:txBody>
                  <a:tcPr marL="95250" marR="95250" marT="76200" marB="76200" anchor="ctr">
                    <a:solidFill>
                      <a:srgbClr val="F3F6F9"/>
                    </a:solidFill>
                  </a:tcPr>
                </a:tc>
                <a:tc>
                  <a:txBody>
                    <a:bodyPr anchor="ctr"/>
                    <a:lstStyle/>
                    <a:p>
                      <a:r>
                        <a:rPr sz="1350">
                          <a:solidFill>
                            <a:srgbClr val="142433"/>
                          </a:solidFill>
                          <a:latin typeface="Aptos"/>
                          <a:ea typeface="Aptos"/>
                          <a:cs typeface="Aptos"/>
                        </a:rPr>
                        <a:t>Poka-Yoke sukses, label didelivery, seluruh PO selesai</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Goods issue / stock movement FG; order ditutup setelah posting lengkap</a:t>
                      </a:r>
                    </a:p>
                  </a:txBody>
                  <a:tcPr marL="95250" marR="95250" marT="76200" marB="76200" anchor="ctr">
                    <a:solidFill>
                      <a:srgbClr val="FFFFFF"/>
                    </a:solidFill>
                  </a:tcPr>
                </a:tc>
                <a:tc>
                  <a:txBody>
                    <a:bodyPr anchor="ctr"/>
                    <a:lstStyle/>
                    <a:p>
                      <a:r>
                        <a:rPr sz="1350">
                          <a:solidFill>
                            <a:srgbClr val="142433"/>
                          </a:solidFill>
                          <a:latin typeface="Aptos"/>
                          <a:ea typeface="Aptos"/>
                          <a:cs typeface="Aptos"/>
                        </a:rPr>
                        <a:t>Dokumen delivery dan status final order</a:t>
                      </a:r>
                    </a:p>
                  </a:txBody>
                  <a:tcPr marL="95250" marR="95250" marT="76200" marB="762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EE1D006-7D93-4511-A431-5F8866BF42B1}"/>
              </a:ext>
            </a:extLst>
          </p:cNvPr>
          <p:cNvSpPr>
            <a:spLocks xmlns:a="http://schemas.openxmlformats.org/drawingml/2006/main" noGrp="1"/>
          </p:cNvSpPr>
          <p:nvPr/>
        </p:nvSpPr>
        <p:spPr>
          <a:xfrm xmlns:a="http://schemas.openxmlformats.org/drawingml/2006/main">
            <a:off x="1238250" y="5638800"/>
            <a:ext cx="9715500" cy="514350"/>
          </a:xfrm>
          <a:prstGeom xmlns:a="http://schemas.openxmlformats.org/drawingml/2006/main" prst="roundRect">
            <a:avLst>
              <a:gd name="adj" fmla="val 14815"/>
            </a:avLst>
          </a:prstGeom>
          <a:solidFill xmlns:a="http://schemas.openxmlformats.org/drawingml/2006/main">
            <a:srgbClr val="FFF5D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44AF62B-BE6B-44E3-B4F2-49B825BE02BA}"/>
              </a:ext>
            </a:extLst>
          </p:cNvPr>
          <p:cNvSpPr>
            <a:spLocks xmlns:a="http://schemas.openxmlformats.org/drawingml/2006/main" noGrp="1"/>
          </p:cNvSpPr>
          <p:nvPr/>
        </p:nvSpPr>
        <p:spPr>
          <a:xfrm xmlns:a="http://schemas.openxmlformats.org/drawingml/2006/main">
            <a:off x="1466850" y="5753100"/>
            <a:ext cx="9258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4708"/>
          </a:bodyPr>
          <a:lstStyle xmlns:a="http://schemas.openxmlformats.org/drawingml/2006/main"/>
          <a:p xmlns:a="http://schemas.openxmlformats.org/drawingml/2006/main">
            <a:pPr algn="ctr">
              <a:lnSpc>
                <a:spcPct val="100000"/>
              </a:lnSpc>
              <a:buNone/>
              <a:defRPr sz="1350" b="1">
                <a:solidFill>
                  <a:srgbClr val="8A5A00"/>
                </a:solidFill>
                <a:latin typeface="Aptos"/>
                <a:ea typeface="Aptos"/>
                <a:cs typeface="Aptos"/>
              </a:defRPr>
            </a:pPr>
            <a:r>
              <a:rPr sz="1350" b="1">
                <a:solidFill>
                  <a:srgbClr val="8A5A00"/>
                </a:solidFill>
                <a:latin typeface="Aptos"/>
                <a:ea typeface="Aptos"/>
                <a:cs typeface="Aptos"/>
              </a:rPr>
              <a:t>Catatan desain: jenis dokumen dan konfigurasi SAP final ditetapkan oleh Accounting dan tim SAP. Poka-Yoke menjadi gate kualitas, bukan saldo tandingan.</a:t>
            </a:r>
          </a:p>
        </p:txBody>
      </p:sp>
      <p:sp>
        <p:nvSpPr>
          <p:cNvPr id="7" name="">
            <a:extLst xmlns:a="http://schemas.openxmlformats.org/drawingml/2006/main">
              <a:ext uri="{FF2B5EF4-FFF2-40B4-BE49-F238E27FC236}">
                <a16:creationId xmlns:a16="http://schemas.microsoft.com/office/drawing/2014/main" id="{C2647F78-3427-4BD6-8191-629B55AF0726}"/>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8" name="">
            <a:extLst xmlns:a="http://schemas.openxmlformats.org/drawingml/2006/main">
              <a:ext uri="{FF2B5EF4-FFF2-40B4-BE49-F238E27FC236}">
                <a16:creationId xmlns:a16="http://schemas.microsoft.com/office/drawing/2014/main" id="{67756586-9C48-4E7C-A77B-0A42DF65BF46}"/>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Shopfloor/MES / SAP</a:t>
            </a:r>
          </a:p>
        </p:txBody>
      </p:sp>
      <p:sp>
        <p:nvSpPr>
          <p:cNvPr id="9" name="">
            <a:extLst xmlns:a="http://schemas.openxmlformats.org/drawingml/2006/main">
              <a:ext uri="{FF2B5EF4-FFF2-40B4-BE49-F238E27FC236}">
                <a16:creationId xmlns:a16="http://schemas.microsoft.com/office/drawing/2014/main" id="{8C7F6018-B47D-43AE-93A3-6B933C346DCB}"/>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05</a:t>
            </a:r>
          </a:p>
        </p:txBody>
      </p:sp>
    </p:spTree>
    <p:extLst>
      <p:ext uri="{BB962C8B-B14F-4D97-AF65-F5344CB8AC3E}">
        <p14:creationId xmlns:p14="http://schemas.microsoft.com/office/powerpoint/2010/main" val="18080878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4BCB7BE-589F-4515-89DD-737E389D62F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1CA6D6-2612-4177-A757-943C5DDC9F9E}"/>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Kontrol agar transaksi aman dan inventory tidak rancu</a:t>
            </a:r>
          </a:p>
        </p:txBody>
      </p:sp>
      <p:sp>
        <p:nvSpPr>
          <p:cNvPr id="3" name="">
            <a:extLst xmlns:a="http://schemas.openxmlformats.org/drawingml/2006/main">
              <a:ext uri="{FF2B5EF4-FFF2-40B4-BE49-F238E27FC236}">
                <a16:creationId xmlns:a16="http://schemas.microsoft.com/office/drawing/2014/main" id="{0F6E7413-05E2-4BBD-8C5D-6A7753DCB476}"/>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Integrasi harus mengunci ownership, mencegah duplikasi, dan membuat kegagalan terlihat serta dapat direkonsiliasi</a:t>
            </a:r>
          </a:p>
        </p:txBody>
      </p:sp>
      <p:sp>
        <p:nvSpPr>
          <p:cNvPr id="4" name="">
            <a:extLst xmlns:a="http://schemas.openxmlformats.org/drawingml/2006/main">
              <a:ext uri="{FF2B5EF4-FFF2-40B4-BE49-F238E27FC236}">
                <a16:creationId xmlns:a16="http://schemas.microsoft.com/office/drawing/2014/main" id="{1B999FC6-AD5F-4A26-A824-58F9BF4B5F23}"/>
              </a:ext>
            </a:extLst>
          </p:cNvPr>
          <p:cNvSpPr>
            <a:spLocks xmlns:a="http://schemas.openxmlformats.org/drawingml/2006/main" noGrp="1"/>
          </p:cNvSpPr>
          <p:nvPr/>
        </p:nvSpPr>
        <p:spPr>
          <a:xfrm xmlns:a="http://schemas.openxmlformats.org/drawingml/2006/main">
            <a:off x="685800" y="169545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lnSpc>
                <a:spcPct val="100000"/>
              </a:lnSpc>
              <a:buNone/>
              <a:defRPr sz="3900" b="1">
                <a:solidFill>
                  <a:srgbClr val="0B5CAD"/>
                </a:solidFill>
                <a:latin typeface="Aptos"/>
                <a:ea typeface="Aptos"/>
                <a:cs typeface="Aptos"/>
              </a:defRPr>
            </a:pPr>
            <a:r>
              <a:rPr sz="3900" b="1">
                <a:solidFill>
                  <a:srgbClr val="0B5CAD"/>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D2606D0B-69E1-45F1-951D-AF509AABD6B5}"/>
              </a:ext>
            </a:extLst>
          </p:cNvPr>
          <p:cNvSpPr>
            <a:spLocks xmlns:a="http://schemas.openxmlformats.org/drawingml/2006/main" noGrp="1"/>
          </p:cNvSpPr>
          <p:nvPr/>
        </p:nvSpPr>
        <p:spPr>
          <a:xfrm xmlns:a="http://schemas.openxmlformats.org/drawingml/2006/main">
            <a:off x="1524000" y="1752600"/>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071A2B"/>
                </a:solidFill>
                <a:latin typeface="Aptos"/>
                <a:ea typeface="Aptos"/>
                <a:cs typeface="Aptos"/>
              </a:defRPr>
            </a:pPr>
            <a:r>
              <a:rPr sz="2175" b="1">
                <a:solidFill>
                  <a:srgbClr val="071A2B"/>
                </a:solidFill>
                <a:latin typeface="Aptos"/>
                <a:ea typeface="Aptos"/>
                <a:cs typeface="Aptos"/>
              </a:rPr>
              <a:t>Sebelum posting</a:t>
            </a:r>
          </a:p>
        </p:txBody>
      </p:sp>
      <p:sp>
        <p:nvSpPr>
          <p:cNvPr id="6" name="">
            <a:extLst xmlns:a="http://schemas.openxmlformats.org/drawingml/2006/main">
              <a:ext uri="{FF2B5EF4-FFF2-40B4-BE49-F238E27FC236}">
                <a16:creationId xmlns:a16="http://schemas.microsoft.com/office/drawing/2014/main" id="{3963E389-6622-4BCA-B149-2193670BC1EC}"/>
              </a:ext>
            </a:extLst>
          </p:cNvPr>
          <p:cNvSpPr>
            <a:spLocks xmlns:a="http://schemas.openxmlformats.org/drawingml/2006/main" noGrp="1"/>
          </p:cNvSpPr>
          <p:nvPr/>
        </p:nvSpPr>
        <p:spPr>
          <a:xfrm xmlns:a="http://schemas.openxmlformats.org/drawingml/2006/main">
            <a:off x="685800" y="2362200"/>
            <a:ext cx="3276600" cy="0"/>
          </a:xfrm>
          <a:prstGeom xmlns:a="http://schemas.openxmlformats.org/drawingml/2006/main" prst="line">
            <a:avLst/>
          </a:prstGeom>
          <a:noFill xmlns:a="http://schemas.openxmlformats.org/drawingml/2006/main"/>
          <a:ln xmlns:a="http://schemas.openxmlformats.org/drawingml/2006/main" w="38100">
            <a:solidFill>
              <a:srgbClr val="0B5CAD"/>
            </a:solidFill>
            <a:prstDash val="solid"/>
          </a:ln>
        </p:spPr>
      </p:sp>
      <p:sp>
        <p:nvSpPr>
          <p:cNvPr id="7" name="">
            <a:extLst xmlns:a="http://schemas.openxmlformats.org/drawingml/2006/main">
              <a:ext uri="{FF2B5EF4-FFF2-40B4-BE49-F238E27FC236}">
                <a16:creationId xmlns:a16="http://schemas.microsoft.com/office/drawing/2014/main" id="{536B26F0-A1CB-4FB8-BBB4-F5E6521D75D0}"/>
              </a:ext>
            </a:extLst>
          </p:cNvPr>
          <p:cNvSpPr>
            <a:spLocks xmlns:a="http://schemas.openxmlformats.org/drawingml/2006/main" noGrp="1"/>
          </p:cNvSpPr>
          <p:nvPr/>
        </p:nvSpPr>
        <p:spPr>
          <a:xfrm xmlns:a="http://schemas.openxmlformats.org/drawingml/2006/main">
            <a:off x="685800" y="2724150"/>
            <a:ext cx="95250" cy="95250"/>
          </a:xfrm>
          <a:prstGeom xmlns:a="http://schemas.openxmlformats.org/drawingml/2006/main" prst="ellipse">
            <a:avLst/>
          </a:prstGeom>
          <a:solidFill xmlns:a="http://schemas.openxmlformats.org/drawingml/2006/main">
            <a:srgbClr val="0B5CA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C91470-11DB-4F12-94EE-B631ADAC938E}"/>
              </a:ext>
            </a:extLst>
          </p:cNvPr>
          <p:cNvSpPr>
            <a:spLocks xmlns:a="http://schemas.openxmlformats.org/drawingml/2006/main" noGrp="1"/>
          </p:cNvSpPr>
          <p:nvPr/>
        </p:nvSpPr>
        <p:spPr>
          <a:xfrm xmlns:a="http://schemas.openxmlformats.org/drawingml/2006/main">
            <a:off x="895350" y="2647950"/>
            <a:ext cx="3067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500" b="0">
                <a:solidFill>
                  <a:srgbClr val="142433"/>
                </a:solidFill>
                <a:latin typeface="Aptos"/>
                <a:ea typeface="Aptos"/>
                <a:cs typeface="Aptos"/>
              </a:defRPr>
            </a:pPr>
            <a:r>
              <a:rPr sz="1500" b="0">
                <a:solidFill>
                  <a:srgbClr val="142433"/>
                </a:solidFill>
                <a:latin typeface="Aptos"/>
                <a:ea typeface="Aptos"/>
                <a:cs typeface="Aptos"/>
              </a:rPr>
              <a:t>Mapping material, plant, storage, valuation, dan ownership disetujui Accounting.</a:t>
            </a:r>
          </a:p>
        </p:txBody>
      </p:sp>
      <p:sp>
        <p:nvSpPr>
          <p:cNvPr id="9" name="">
            <a:extLst xmlns:a="http://schemas.openxmlformats.org/drawingml/2006/main">
              <a:ext uri="{FF2B5EF4-FFF2-40B4-BE49-F238E27FC236}">
                <a16:creationId xmlns:a16="http://schemas.microsoft.com/office/drawing/2014/main" id="{75288DFA-F6A1-433E-BAFF-67909BBD1D63}"/>
              </a:ext>
            </a:extLst>
          </p:cNvPr>
          <p:cNvSpPr>
            <a:spLocks xmlns:a="http://schemas.openxmlformats.org/drawingml/2006/main" noGrp="1"/>
          </p:cNvSpPr>
          <p:nvPr/>
        </p:nvSpPr>
        <p:spPr>
          <a:xfrm xmlns:a="http://schemas.openxmlformats.org/drawingml/2006/main">
            <a:off x="685800" y="3600450"/>
            <a:ext cx="95250" cy="95250"/>
          </a:xfrm>
          <a:prstGeom xmlns:a="http://schemas.openxmlformats.org/drawingml/2006/main" prst="ellipse">
            <a:avLst/>
          </a:prstGeom>
          <a:solidFill xmlns:a="http://schemas.openxmlformats.org/drawingml/2006/main">
            <a:srgbClr val="0B5CA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CACB0BA-98C4-4877-A53D-EB6E28795B15}"/>
              </a:ext>
            </a:extLst>
          </p:cNvPr>
          <p:cNvSpPr>
            <a:spLocks xmlns:a="http://schemas.openxmlformats.org/drawingml/2006/main" noGrp="1"/>
          </p:cNvSpPr>
          <p:nvPr/>
        </p:nvSpPr>
        <p:spPr>
          <a:xfrm xmlns:a="http://schemas.openxmlformats.org/drawingml/2006/main">
            <a:off x="895350" y="3524250"/>
            <a:ext cx="3067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142433"/>
                </a:solidFill>
                <a:latin typeface="Aptos"/>
                <a:ea typeface="Aptos"/>
                <a:cs typeface="Aptos"/>
              </a:defRPr>
            </a:pPr>
            <a:r>
              <a:rPr sz="1500" b="0">
                <a:solidFill>
                  <a:srgbClr val="142433"/>
                </a:solidFill>
                <a:latin typeface="Aptos"/>
                <a:ea typeface="Aptos"/>
                <a:cs typeface="Aptos"/>
              </a:rPr>
              <a:t>Master data dan production order berasal dari SAP.</a:t>
            </a:r>
          </a:p>
        </p:txBody>
      </p:sp>
      <p:sp>
        <p:nvSpPr>
          <p:cNvPr id="11" name="">
            <a:extLst xmlns:a="http://schemas.openxmlformats.org/drawingml/2006/main">
              <a:ext uri="{FF2B5EF4-FFF2-40B4-BE49-F238E27FC236}">
                <a16:creationId xmlns:a16="http://schemas.microsoft.com/office/drawing/2014/main" id="{8DE90A23-8CBB-49CB-BF7F-7B21D8FD9CA3}"/>
              </a:ext>
            </a:extLst>
          </p:cNvPr>
          <p:cNvSpPr>
            <a:spLocks xmlns:a="http://schemas.openxmlformats.org/drawingml/2006/main" noGrp="1"/>
          </p:cNvSpPr>
          <p:nvPr/>
        </p:nvSpPr>
        <p:spPr>
          <a:xfrm xmlns:a="http://schemas.openxmlformats.org/drawingml/2006/main">
            <a:off x="4457700" y="169545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lnSpc>
                <a:spcPct val="100000"/>
              </a:lnSpc>
              <a:buNone/>
              <a:defRPr sz="3900" b="1">
                <a:solidFill>
                  <a:srgbClr val="12B7E6"/>
                </a:solidFill>
                <a:latin typeface="Aptos"/>
                <a:ea typeface="Aptos"/>
                <a:cs typeface="Aptos"/>
              </a:defRPr>
            </a:pPr>
            <a:r>
              <a:rPr sz="3900" b="1">
                <a:solidFill>
                  <a:srgbClr val="12B7E6"/>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E708D33D-48D7-449F-BA26-7AFA03D25E57}"/>
              </a:ext>
            </a:extLst>
          </p:cNvPr>
          <p:cNvSpPr>
            <a:spLocks xmlns:a="http://schemas.openxmlformats.org/drawingml/2006/main" noGrp="1"/>
          </p:cNvSpPr>
          <p:nvPr/>
        </p:nvSpPr>
        <p:spPr>
          <a:xfrm xmlns:a="http://schemas.openxmlformats.org/drawingml/2006/main">
            <a:off x="5295900" y="1752600"/>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071A2B"/>
                </a:solidFill>
                <a:latin typeface="Aptos"/>
                <a:ea typeface="Aptos"/>
                <a:cs typeface="Aptos"/>
              </a:defRPr>
            </a:pPr>
            <a:r>
              <a:rPr sz="2175" b="1">
                <a:solidFill>
                  <a:srgbClr val="071A2B"/>
                </a:solidFill>
                <a:latin typeface="Aptos"/>
                <a:ea typeface="Aptos"/>
                <a:cs typeface="Aptos"/>
              </a:rPr>
              <a:t>Saat posting</a:t>
            </a:r>
          </a:p>
        </p:txBody>
      </p:sp>
      <p:sp>
        <p:nvSpPr>
          <p:cNvPr id="13" name="">
            <a:extLst xmlns:a="http://schemas.openxmlformats.org/drawingml/2006/main">
              <a:ext uri="{FF2B5EF4-FFF2-40B4-BE49-F238E27FC236}">
                <a16:creationId xmlns:a16="http://schemas.microsoft.com/office/drawing/2014/main" id="{FA2DDC59-38D4-4B04-A79B-F7EDE43200FD}"/>
              </a:ext>
            </a:extLst>
          </p:cNvPr>
          <p:cNvSpPr>
            <a:spLocks xmlns:a="http://schemas.openxmlformats.org/drawingml/2006/main" noGrp="1"/>
          </p:cNvSpPr>
          <p:nvPr/>
        </p:nvSpPr>
        <p:spPr>
          <a:xfrm xmlns:a="http://schemas.openxmlformats.org/drawingml/2006/main">
            <a:off x="4457700" y="2362200"/>
            <a:ext cx="3276600" cy="0"/>
          </a:xfrm>
          <a:prstGeom xmlns:a="http://schemas.openxmlformats.org/drawingml/2006/main" prst="line">
            <a:avLst/>
          </a:prstGeom>
          <a:noFill xmlns:a="http://schemas.openxmlformats.org/drawingml/2006/main"/>
          <a:ln xmlns:a="http://schemas.openxmlformats.org/drawingml/2006/main" w="38100">
            <a:solidFill>
              <a:srgbClr val="12B7E6"/>
            </a:solidFill>
            <a:prstDash val="solid"/>
          </a:ln>
        </p:spPr>
      </p:sp>
      <p:sp>
        <p:nvSpPr>
          <p:cNvPr id="14" name="">
            <a:extLst xmlns:a="http://schemas.openxmlformats.org/drawingml/2006/main">
              <a:ext uri="{FF2B5EF4-FFF2-40B4-BE49-F238E27FC236}">
                <a16:creationId xmlns:a16="http://schemas.microsoft.com/office/drawing/2014/main" id="{E4C3EA2D-0002-4E26-BDC2-6E936B2947D3}"/>
              </a:ext>
            </a:extLst>
          </p:cNvPr>
          <p:cNvSpPr>
            <a:spLocks xmlns:a="http://schemas.openxmlformats.org/drawingml/2006/main" noGrp="1"/>
          </p:cNvSpPr>
          <p:nvPr/>
        </p:nvSpPr>
        <p:spPr>
          <a:xfrm xmlns:a="http://schemas.openxmlformats.org/drawingml/2006/main">
            <a:off x="4457700" y="2724150"/>
            <a:ext cx="95250" cy="95250"/>
          </a:xfrm>
          <a:prstGeom xmlns:a="http://schemas.openxmlformats.org/drawingml/2006/main" prst="ellipse">
            <a:avLst/>
          </a:prstGeom>
          <a:solidFill xmlns:a="http://schemas.openxmlformats.org/drawingml/2006/main">
            <a:srgbClr val="12B7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9A60E1E-3078-4988-B11A-19BBBB360037}"/>
              </a:ext>
            </a:extLst>
          </p:cNvPr>
          <p:cNvSpPr>
            <a:spLocks xmlns:a="http://schemas.openxmlformats.org/drawingml/2006/main" noGrp="1"/>
          </p:cNvSpPr>
          <p:nvPr/>
        </p:nvSpPr>
        <p:spPr>
          <a:xfrm xmlns:a="http://schemas.openxmlformats.org/drawingml/2006/main">
            <a:off x="4667250" y="2647950"/>
            <a:ext cx="3067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500" b="0">
                <a:solidFill>
                  <a:srgbClr val="142433"/>
                </a:solidFill>
                <a:latin typeface="Aptos"/>
                <a:ea typeface="Aptos"/>
                <a:cs typeface="Aptos"/>
              </a:defRPr>
            </a:pPr>
            <a:r>
              <a:rPr sz="1500" b="0">
                <a:solidFill>
                  <a:srgbClr val="142433"/>
                </a:solidFill>
                <a:latin typeface="Aptos"/>
                <a:ea typeface="Aptos"/>
                <a:cs typeface="Aptos"/>
              </a:rPr>
              <a:t>Satu event bisnis memakai satu integration ID agar retry tidak membuat transaksi ganda.</a:t>
            </a:r>
          </a:p>
        </p:txBody>
      </p:sp>
      <p:sp>
        <p:nvSpPr>
          <p:cNvPr id="16" name="">
            <a:extLst xmlns:a="http://schemas.openxmlformats.org/drawingml/2006/main">
              <a:ext uri="{FF2B5EF4-FFF2-40B4-BE49-F238E27FC236}">
                <a16:creationId xmlns:a16="http://schemas.microsoft.com/office/drawing/2014/main" id="{752A0203-CA9A-4B57-B5F0-F512FC2AAED8}"/>
              </a:ext>
            </a:extLst>
          </p:cNvPr>
          <p:cNvSpPr>
            <a:spLocks xmlns:a="http://schemas.openxmlformats.org/drawingml/2006/main" noGrp="1"/>
          </p:cNvSpPr>
          <p:nvPr/>
        </p:nvSpPr>
        <p:spPr>
          <a:xfrm xmlns:a="http://schemas.openxmlformats.org/drawingml/2006/main">
            <a:off x="4457700" y="3600450"/>
            <a:ext cx="95250" cy="95250"/>
          </a:xfrm>
          <a:prstGeom xmlns:a="http://schemas.openxmlformats.org/drawingml/2006/main" prst="ellipse">
            <a:avLst/>
          </a:prstGeom>
          <a:solidFill xmlns:a="http://schemas.openxmlformats.org/drawingml/2006/main">
            <a:srgbClr val="12B7E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126E87B-234B-4CD3-BA30-5B5622243BDD}"/>
              </a:ext>
            </a:extLst>
          </p:cNvPr>
          <p:cNvSpPr>
            <a:spLocks xmlns:a="http://schemas.openxmlformats.org/drawingml/2006/main" noGrp="1"/>
          </p:cNvSpPr>
          <p:nvPr/>
        </p:nvSpPr>
        <p:spPr>
          <a:xfrm xmlns:a="http://schemas.openxmlformats.org/drawingml/2006/main">
            <a:off x="4667250" y="3524250"/>
            <a:ext cx="3067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142433"/>
                </a:solidFill>
                <a:latin typeface="Aptos"/>
                <a:ea typeface="Aptos"/>
                <a:cs typeface="Aptos"/>
              </a:defRPr>
            </a:pPr>
            <a:r>
              <a:rPr sz="1500" b="0">
                <a:solidFill>
                  <a:srgbClr val="142433"/>
                </a:solidFill>
                <a:latin typeface="Aptos"/>
                <a:ea typeface="Aptos"/>
                <a:cs typeface="Aptos"/>
              </a:rPr>
              <a:t>NOVA menunggu respons SAP: Pending, Posted, atau Error.</a:t>
            </a:r>
          </a:p>
        </p:txBody>
      </p:sp>
      <p:sp>
        <p:nvSpPr>
          <p:cNvPr id="18" name="">
            <a:extLst xmlns:a="http://schemas.openxmlformats.org/drawingml/2006/main">
              <a:ext uri="{FF2B5EF4-FFF2-40B4-BE49-F238E27FC236}">
                <a16:creationId xmlns:a16="http://schemas.microsoft.com/office/drawing/2014/main" id="{149062CA-8AEB-4D78-A1E4-0165B6208328}"/>
              </a:ext>
            </a:extLst>
          </p:cNvPr>
          <p:cNvSpPr>
            <a:spLocks xmlns:a="http://schemas.openxmlformats.org/drawingml/2006/main" noGrp="1"/>
          </p:cNvSpPr>
          <p:nvPr/>
        </p:nvSpPr>
        <p:spPr>
          <a:xfrm xmlns:a="http://schemas.openxmlformats.org/drawingml/2006/main">
            <a:off x="8229600" y="169545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lnSpc>
                <a:spcPct val="100000"/>
              </a:lnSpc>
              <a:buNone/>
              <a:defRPr sz="3900" b="1">
                <a:solidFill>
                  <a:srgbClr val="23845B"/>
                </a:solidFill>
                <a:latin typeface="Aptos"/>
                <a:ea typeface="Aptos"/>
                <a:cs typeface="Aptos"/>
              </a:defRPr>
            </a:pPr>
            <a:r>
              <a:rPr sz="3900" b="1">
                <a:solidFill>
                  <a:srgbClr val="23845B"/>
                </a:solidFill>
                <a:latin typeface="Aptos"/>
                <a:ea typeface="Aptos"/>
                <a:cs typeface="Aptos"/>
              </a:rPr>
              <a:t>03</a:t>
            </a:r>
          </a:p>
        </p:txBody>
      </p:sp>
      <p:sp>
        <p:nvSpPr>
          <p:cNvPr id="19" name="">
            <a:extLst xmlns:a="http://schemas.openxmlformats.org/drawingml/2006/main">
              <a:ext uri="{FF2B5EF4-FFF2-40B4-BE49-F238E27FC236}">
                <a16:creationId xmlns:a16="http://schemas.microsoft.com/office/drawing/2014/main" id="{A0D6FDA2-79D8-40E3-A030-9ABAB6AA58A7}"/>
              </a:ext>
            </a:extLst>
          </p:cNvPr>
          <p:cNvSpPr>
            <a:spLocks xmlns:a="http://schemas.openxmlformats.org/drawingml/2006/main" noGrp="1"/>
          </p:cNvSpPr>
          <p:nvPr/>
        </p:nvSpPr>
        <p:spPr>
          <a:xfrm xmlns:a="http://schemas.openxmlformats.org/drawingml/2006/main">
            <a:off x="9067800" y="1752600"/>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071A2B"/>
                </a:solidFill>
                <a:latin typeface="Aptos"/>
                <a:ea typeface="Aptos"/>
                <a:cs typeface="Aptos"/>
              </a:defRPr>
            </a:pPr>
            <a:r>
              <a:rPr sz="2175" b="1">
                <a:solidFill>
                  <a:srgbClr val="071A2B"/>
                </a:solidFill>
                <a:latin typeface="Aptos"/>
                <a:ea typeface="Aptos"/>
                <a:cs typeface="Aptos"/>
              </a:rPr>
              <a:t>Setelah posting</a:t>
            </a:r>
          </a:p>
        </p:txBody>
      </p:sp>
      <p:sp>
        <p:nvSpPr>
          <p:cNvPr id="20" name="">
            <a:extLst xmlns:a="http://schemas.openxmlformats.org/drawingml/2006/main">
              <a:ext uri="{FF2B5EF4-FFF2-40B4-BE49-F238E27FC236}">
                <a16:creationId xmlns:a16="http://schemas.microsoft.com/office/drawing/2014/main" id="{724B702C-B7BF-4F1C-BDF9-FF2EA159E699}"/>
              </a:ext>
            </a:extLst>
          </p:cNvPr>
          <p:cNvSpPr>
            <a:spLocks xmlns:a="http://schemas.openxmlformats.org/drawingml/2006/main" noGrp="1"/>
          </p:cNvSpPr>
          <p:nvPr/>
        </p:nvSpPr>
        <p:spPr>
          <a:xfrm xmlns:a="http://schemas.openxmlformats.org/drawingml/2006/main">
            <a:off x="8229600" y="2362200"/>
            <a:ext cx="3276600" cy="0"/>
          </a:xfrm>
          <a:prstGeom xmlns:a="http://schemas.openxmlformats.org/drawingml/2006/main" prst="line">
            <a:avLst/>
          </a:prstGeom>
          <a:noFill xmlns:a="http://schemas.openxmlformats.org/drawingml/2006/main"/>
          <a:ln xmlns:a="http://schemas.openxmlformats.org/drawingml/2006/main" w="38100">
            <a:solidFill>
              <a:srgbClr val="23845B"/>
            </a:solidFill>
            <a:prstDash val="solid"/>
          </a:ln>
        </p:spPr>
      </p:sp>
      <p:sp>
        <p:nvSpPr>
          <p:cNvPr id="21" name="">
            <a:extLst xmlns:a="http://schemas.openxmlformats.org/drawingml/2006/main">
              <a:ext uri="{FF2B5EF4-FFF2-40B4-BE49-F238E27FC236}">
                <a16:creationId xmlns:a16="http://schemas.microsoft.com/office/drawing/2014/main" id="{E2159B8C-34AB-4CB2-9A94-7809D4510285}"/>
              </a:ext>
            </a:extLst>
          </p:cNvPr>
          <p:cNvSpPr>
            <a:spLocks xmlns:a="http://schemas.openxmlformats.org/drawingml/2006/main" noGrp="1"/>
          </p:cNvSpPr>
          <p:nvPr/>
        </p:nvSpPr>
        <p:spPr>
          <a:xfrm xmlns:a="http://schemas.openxmlformats.org/drawingml/2006/main">
            <a:off x="8229600" y="272415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6A5A134-393C-4773-BD31-AD9C1CD1302E}"/>
              </a:ext>
            </a:extLst>
          </p:cNvPr>
          <p:cNvSpPr>
            <a:spLocks xmlns:a="http://schemas.openxmlformats.org/drawingml/2006/main" noGrp="1"/>
          </p:cNvSpPr>
          <p:nvPr/>
        </p:nvSpPr>
        <p:spPr>
          <a:xfrm xmlns:a="http://schemas.openxmlformats.org/drawingml/2006/main">
            <a:off x="8439150" y="2647950"/>
            <a:ext cx="3067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142433"/>
                </a:solidFill>
                <a:latin typeface="Aptos"/>
                <a:ea typeface="Aptos"/>
                <a:cs typeface="Aptos"/>
              </a:defRPr>
            </a:pPr>
            <a:r>
              <a:rPr sz="1500" b="0">
                <a:solidFill>
                  <a:srgbClr val="142433"/>
                </a:solidFill>
                <a:latin typeface="Aptos"/>
                <a:ea typeface="Aptos"/>
                <a:cs typeface="Aptos"/>
              </a:rPr>
              <a:t>Nomor dokumen SAP disimpan sebagai referensi transaksi Shopfloor.</a:t>
            </a:r>
          </a:p>
        </p:txBody>
      </p:sp>
      <p:sp>
        <p:nvSpPr>
          <p:cNvPr id="23" name="">
            <a:extLst xmlns:a="http://schemas.openxmlformats.org/drawingml/2006/main">
              <a:ext uri="{FF2B5EF4-FFF2-40B4-BE49-F238E27FC236}">
                <a16:creationId xmlns:a16="http://schemas.microsoft.com/office/drawing/2014/main" id="{1F11497C-9D85-4B35-90AD-5886D7F0713D}"/>
              </a:ext>
            </a:extLst>
          </p:cNvPr>
          <p:cNvSpPr>
            <a:spLocks xmlns:a="http://schemas.openxmlformats.org/drawingml/2006/main" noGrp="1"/>
          </p:cNvSpPr>
          <p:nvPr/>
        </p:nvSpPr>
        <p:spPr>
          <a:xfrm xmlns:a="http://schemas.openxmlformats.org/drawingml/2006/main">
            <a:off x="8229600" y="360045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F9BC2B2-4D0A-498A-9105-02CB571F15A2}"/>
              </a:ext>
            </a:extLst>
          </p:cNvPr>
          <p:cNvSpPr>
            <a:spLocks xmlns:a="http://schemas.openxmlformats.org/drawingml/2006/main" noGrp="1"/>
          </p:cNvSpPr>
          <p:nvPr/>
        </p:nvSpPr>
        <p:spPr>
          <a:xfrm xmlns:a="http://schemas.openxmlformats.org/drawingml/2006/main">
            <a:off x="8439150" y="3524250"/>
            <a:ext cx="3067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142433"/>
                </a:solidFill>
                <a:latin typeface="Aptos"/>
                <a:ea typeface="Aptos"/>
                <a:cs typeface="Aptos"/>
              </a:defRPr>
            </a:pPr>
            <a:r>
              <a:rPr sz="1500" b="0">
                <a:solidFill>
                  <a:srgbClr val="142433"/>
                </a:solidFill>
                <a:latin typeface="Aptos"/>
                <a:ea typeface="Aptos"/>
                <a:cs typeface="Aptos"/>
              </a:rPr>
              <a:t>Exception masuk antrean perbaikan dan direkonsiliasi sebelum cut-off.</a:t>
            </a:r>
          </a:p>
        </p:txBody>
      </p:sp>
      <p:sp>
        <p:nvSpPr>
          <p:cNvPr id="25" name="">
            <a:extLst xmlns:a="http://schemas.openxmlformats.org/drawingml/2006/main">
              <a:ext uri="{FF2B5EF4-FFF2-40B4-BE49-F238E27FC236}">
                <a16:creationId xmlns:a16="http://schemas.microsoft.com/office/drawing/2014/main" id="{42815F8F-66EE-4F0E-97A0-781907D376F4}"/>
              </a:ext>
            </a:extLst>
          </p:cNvPr>
          <p:cNvSpPr>
            <a:spLocks xmlns:a="http://schemas.openxmlformats.org/drawingml/2006/main" noGrp="1"/>
          </p:cNvSpPr>
          <p:nvPr/>
        </p:nvSpPr>
        <p:spPr>
          <a:xfrm xmlns:a="http://schemas.openxmlformats.org/drawingml/2006/main">
            <a:off x="1333500" y="4762500"/>
            <a:ext cx="9525000" cy="1066800"/>
          </a:xfrm>
          <a:prstGeom xmlns:a="http://schemas.openxmlformats.org/drawingml/2006/main" prst="roundRect">
            <a:avLst>
              <a:gd name="adj" fmla="val 7143"/>
            </a:avLst>
          </a:prstGeom>
          <a:solidFill xmlns:a="http://schemas.openxmlformats.org/drawingml/2006/main">
            <a:srgbClr val="0E2C47"/>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3F3D8F3-5E1D-4BB5-8424-5D612D68C952}"/>
              </a:ext>
            </a:extLst>
          </p:cNvPr>
          <p:cNvSpPr>
            <a:spLocks xmlns:a="http://schemas.openxmlformats.org/drawingml/2006/main" noGrp="1"/>
          </p:cNvSpPr>
          <p:nvPr/>
        </p:nvSpPr>
        <p:spPr>
          <a:xfrm xmlns:a="http://schemas.openxmlformats.org/drawingml/2006/main">
            <a:off x="1657350" y="4953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2B7E6"/>
                </a:solidFill>
                <a:latin typeface="Aptos"/>
                <a:ea typeface="Aptos"/>
                <a:cs typeface="Aptos"/>
              </a:defRPr>
            </a:pPr>
            <a:r>
              <a:rPr sz="1800" b="1">
                <a:solidFill>
                  <a:srgbClr val="12B7E6"/>
                </a:solidFill>
                <a:latin typeface="Aptos"/>
                <a:ea typeface="Aptos"/>
                <a:cs typeface="Aptos"/>
              </a:rPr>
              <a:t>Prinsip operasional</a:t>
            </a:r>
          </a:p>
        </p:txBody>
      </p:sp>
      <p:sp>
        <p:nvSpPr>
          <p:cNvPr id="27" name="">
            <a:extLst xmlns:a="http://schemas.openxmlformats.org/drawingml/2006/main">
              <a:ext uri="{FF2B5EF4-FFF2-40B4-BE49-F238E27FC236}">
                <a16:creationId xmlns:a16="http://schemas.microsoft.com/office/drawing/2014/main" id="{F1061287-D6C9-4B5E-94D9-CCE996D33D5D}"/>
              </a:ext>
            </a:extLst>
          </p:cNvPr>
          <p:cNvSpPr>
            <a:spLocks xmlns:a="http://schemas.openxmlformats.org/drawingml/2006/main" noGrp="1"/>
          </p:cNvSpPr>
          <p:nvPr/>
        </p:nvSpPr>
        <p:spPr>
          <a:xfrm xmlns:a="http://schemas.openxmlformats.org/drawingml/2006/main">
            <a:off x="1657350" y="5353050"/>
            <a:ext cx="876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76820"/>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Tidak ada silent failure. Operator melihat status posting, tim terkait menerima exception, dan SAP tetap menjadi acuan saldo resmi.</a:t>
            </a:r>
          </a:p>
        </p:txBody>
      </p:sp>
      <p:sp>
        <p:nvSpPr>
          <p:cNvPr id="28" name="">
            <a:extLst xmlns:a="http://schemas.openxmlformats.org/drawingml/2006/main">
              <a:ext uri="{FF2B5EF4-FFF2-40B4-BE49-F238E27FC236}">
                <a16:creationId xmlns:a16="http://schemas.microsoft.com/office/drawing/2014/main" id="{4E2D1B9B-A403-4FFB-9D5C-0FE7C495A367}"/>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29" name="">
            <a:extLst xmlns:a="http://schemas.openxmlformats.org/drawingml/2006/main">
              <a:ext uri="{FF2B5EF4-FFF2-40B4-BE49-F238E27FC236}">
                <a16:creationId xmlns:a16="http://schemas.microsoft.com/office/drawing/2014/main" id="{A6B7774D-D102-40A7-98AF-D46F789FDC10}"/>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Shopfloor/MES / SAP</a:t>
            </a:r>
          </a:p>
        </p:txBody>
      </p:sp>
      <p:sp>
        <p:nvSpPr>
          <p:cNvPr id="30" name="">
            <a:extLst xmlns:a="http://schemas.openxmlformats.org/drawingml/2006/main">
              <a:ext uri="{FF2B5EF4-FFF2-40B4-BE49-F238E27FC236}">
                <a16:creationId xmlns:a16="http://schemas.microsoft.com/office/drawing/2014/main" id="{03F90B7C-C609-411B-B91A-A29EF84F36FF}"/>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06</a:t>
            </a:r>
          </a:p>
        </p:txBody>
      </p:sp>
    </p:spTree>
    <p:extLst>
      <p:ext uri="{BB962C8B-B14F-4D97-AF65-F5344CB8AC3E}">
        <p14:creationId xmlns:p14="http://schemas.microsoft.com/office/powerpoint/2010/main" val="119985181"/>
      </p:ext>
    </p:extLst>
  </p:cSld>
</p:sld>
</file>

<file path=ppt/slides/slide7.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07ABA6F5-CA73-48F7-88ED-C0A5301CE87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3D77FA-831A-43F3-A7C5-BA609A367C16}"/>
              </a:ext>
            </a:extLst>
          </p:cNvPr>
          <p:cNvSpPr>
            <a:spLocks xmlns:a="http://schemas.openxmlformats.org/drawingml/2006/main" noGrp="1"/>
          </p:cNvSpPr>
          <p:nvPr/>
        </p:nvSpPr>
        <p:spPr>
          <a:xfrm xmlns:a="http://schemas.openxmlformats.org/drawingml/2006/main">
            <a:off x="609600" y="3619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071A2B"/>
                </a:solidFill>
                <a:latin typeface="Aptos"/>
                <a:ea typeface="Aptos"/>
                <a:cs typeface="Aptos"/>
              </a:defRPr>
            </a:pPr>
            <a:r>
              <a:rPr sz="3150" b="1">
                <a:solidFill>
                  <a:srgbClr val="071A2B"/>
                </a:solidFill>
                <a:latin typeface="Aptos"/>
                <a:ea typeface="Aptos"/>
                <a:cs typeface="Aptos"/>
              </a:rPr>
              <a:t>Tahapan implementasi yang terkendali</a:t>
            </a:r>
          </a:p>
        </p:txBody>
      </p:sp>
      <p:sp>
        <p:nvSpPr>
          <p:cNvPr id="3" name="">
            <a:extLst xmlns:a="http://schemas.openxmlformats.org/drawingml/2006/main">
              <a:ext uri="{FF2B5EF4-FFF2-40B4-BE49-F238E27FC236}">
                <a16:creationId xmlns:a16="http://schemas.microsoft.com/office/drawing/2014/main" id="{44C1F6D2-A06B-4E59-AE82-C596745588CA}"/>
              </a:ext>
            </a:extLst>
          </p:cNvPr>
          <p:cNvSpPr>
            <a:spLocks xmlns:a="http://schemas.openxmlformats.org/drawingml/2006/main" noGrp="1"/>
          </p:cNvSpPr>
          <p:nvPr/>
        </p:nvSpPr>
        <p:spPr>
          <a:xfrm xmlns:a="http://schemas.openxmlformats.org/drawingml/2006/main">
            <a:off x="628650" y="9144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36575"/>
                </a:solidFill>
                <a:latin typeface="Aptos"/>
                <a:ea typeface="Aptos"/>
                <a:cs typeface="Aptos"/>
              </a:defRPr>
            </a:pPr>
            <a:r>
              <a:rPr sz="1500" b="0">
                <a:solidFill>
                  <a:srgbClr val="536575"/>
                </a:solidFill>
                <a:latin typeface="Aptos"/>
                <a:ea typeface="Aptos"/>
                <a:cs typeface="Aptos"/>
              </a:rPr>
              <a:t>Pilot terbatas memberi ruang untuk memvalidasi proses Accounting, stabilitas integrasi, dan kesiapan operator</a:t>
            </a:r>
          </a:p>
        </p:txBody>
      </p:sp>
      <p:sp>
        <p:nvSpPr>
          <p:cNvPr id="4" name="">
            <a:extLst xmlns:a="http://schemas.openxmlformats.org/drawingml/2006/main">
              <a:ext uri="{FF2B5EF4-FFF2-40B4-BE49-F238E27FC236}">
                <a16:creationId xmlns:a16="http://schemas.microsoft.com/office/drawing/2014/main" id="{32A314BB-AB84-4F97-A6D1-274D4415D518}"/>
              </a:ext>
            </a:extLst>
          </p:cNvPr>
          <p:cNvSpPr>
            <a:spLocks xmlns:a="http://schemas.openxmlformats.org/drawingml/2006/main" noGrp="1"/>
          </p:cNvSpPr>
          <p:nvPr/>
        </p:nvSpPr>
        <p:spPr>
          <a:xfrm xmlns:a="http://schemas.openxmlformats.org/drawingml/2006/main">
            <a:off x="1238250" y="3190875"/>
            <a:ext cx="9715500" cy="0"/>
          </a:xfrm>
          <a:prstGeom xmlns:a="http://schemas.openxmlformats.org/drawingml/2006/main" prst="line">
            <a:avLst/>
          </a:prstGeom>
          <a:noFill xmlns:a="http://schemas.openxmlformats.org/drawingml/2006/main"/>
          <a:ln xmlns:a="http://schemas.openxmlformats.org/drawingml/2006/main" w="76200">
            <a:solidFill>
              <a:srgbClr val="D5DEE6"/>
            </a:solidFill>
            <a:prstDash val="solid"/>
          </a:ln>
        </p:spPr>
      </p:sp>
      <p:sp>
        <p:nvSpPr>
          <p:cNvPr id="5" name="">
            <a:extLst xmlns:a="http://schemas.openxmlformats.org/drawingml/2006/main">
              <a:ext uri="{FF2B5EF4-FFF2-40B4-BE49-F238E27FC236}">
                <a16:creationId xmlns:a16="http://schemas.microsoft.com/office/drawing/2014/main" id="{169EA0C5-5803-434A-BA03-11D940A2046E}"/>
              </a:ext>
            </a:extLst>
          </p:cNvPr>
          <p:cNvSpPr>
            <a:spLocks xmlns:a="http://schemas.openxmlformats.org/drawingml/2006/main" noGrp="1"/>
          </p:cNvSpPr>
          <p:nvPr/>
        </p:nvSpPr>
        <p:spPr>
          <a:xfrm xmlns:a="http://schemas.openxmlformats.org/drawingml/2006/main">
            <a:off x="742950" y="1695450"/>
            <a:ext cx="419100" cy="419100"/>
          </a:xfrm>
          <a:prstGeom xmlns:a="http://schemas.openxmlformats.org/drawingml/2006/main" prst="ellipse">
            <a:avLst/>
          </a:prstGeom>
          <a:solidFill xmlns:a="http://schemas.openxmlformats.org/drawingml/2006/main">
            <a:srgbClr val="0B5CA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D3358DA-24F9-4AA3-A19B-FAAD5E4648BF}"/>
              </a:ext>
            </a:extLst>
          </p:cNvPr>
          <p:cNvSpPr>
            <a:spLocks xmlns:a="http://schemas.openxmlformats.org/drawingml/2006/main" noGrp="1"/>
          </p:cNvSpPr>
          <p:nvPr/>
        </p:nvSpPr>
        <p:spPr>
          <a:xfrm xmlns:a="http://schemas.openxmlformats.org/drawingml/2006/main">
            <a:off x="742950" y="17049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55658C01-C717-465A-8DF0-F549C415A40D}"/>
              </a:ext>
            </a:extLst>
          </p:cNvPr>
          <p:cNvSpPr>
            <a:spLocks xmlns:a="http://schemas.openxmlformats.org/drawingml/2006/main" noGrp="1"/>
          </p:cNvSpPr>
          <p:nvPr/>
        </p:nvSpPr>
        <p:spPr>
          <a:xfrm xmlns:a="http://schemas.openxmlformats.org/drawingml/2006/main">
            <a:off x="1276350" y="1666875"/>
            <a:ext cx="194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180"/>
          </a:bodyPr>
          <a:lstStyle xmlns:a="http://schemas.openxmlformats.org/drawingml/2006/main"/>
          <a:p xmlns:a="http://schemas.openxmlformats.org/drawingml/2006/main">
            <a:pPr algn="l">
              <a:lnSpc>
                <a:spcPct val="100000"/>
              </a:lnSpc>
              <a:buNone/>
              <a:defRPr sz="1725" b="1">
                <a:solidFill>
                  <a:srgbClr val="071A2B"/>
                </a:solidFill>
                <a:latin typeface="Aptos"/>
                <a:ea typeface="Aptos"/>
                <a:cs typeface="Aptos"/>
              </a:defRPr>
            </a:pPr>
            <a:r>
              <a:rPr sz="1725" b="1">
                <a:solidFill>
                  <a:srgbClr val="071A2B"/>
                </a:solidFill>
                <a:latin typeface="Aptos"/>
                <a:ea typeface="Aptos"/>
                <a:cs typeface="Aptos"/>
              </a:rPr>
              <a:t>Desain &amp; persetujuan</a:t>
            </a:r>
          </a:p>
        </p:txBody>
      </p:sp>
      <p:sp>
        <p:nvSpPr>
          <p:cNvPr id="8" name="">
            <a:extLst xmlns:a="http://schemas.openxmlformats.org/drawingml/2006/main">
              <a:ext uri="{FF2B5EF4-FFF2-40B4-BE49-F238E27FC236}">
                <a16:creationId xmlns:a16="http://schemas.microsoft.com/office/drawing/2014/main" id="{3DCB2D94-0EE2-45D9-A2AD-2E1C57422314}"/>
              </a:ext>
            </a:extLst>
          </p:cNvPr>
          <p:cNvSpPr>
            <a:spLocks xmlns:a="http://schemas.openxmlformats.org/drawingml/2006/main" noGrp="1"/>
          </p:cNvSpPr>
          <p:nvPr/>
        </p:nvSpPr>
        <p:spPr>
          <a:xfrm xmlns:a="http://schemas.openxmlformats.org/drawingml/2006/main">
            <a:off x="1276350" y="2009775"/>
            <a:ext cx="1943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l">
              <a:lnSpc>
                <a:spcPct val="105000"/>
              </a:lnSpc>
              <a:buNone/>
              <a:defRPr sz="1350" b="0">
                <a:solidFill>
                  <a:srgbClr val="536575"/>
                </a:solidFill>
                <a:latin typeface="Aptos"/>
                <a:ea typeface="Aptos"/>
                <a:cs typeface="Aptos"/>
              </a:defRPr>
            </a:pPr>
            <a:r>
              <a:rPr sz="1350" b="0">
                <a:solidFill>
                  <a:srgbClr val="536575"/>
                </a:solidFill>
                <a:latin typeface="Aptos"/>
                <a:ea typeface="Aptos"/>
                <a:cs typeface="Aptos"/>
              </a:rPr>
              <a:t>Accounting menetapkan desain posting, ownership, valuation, dan kontrol rekonsiliasi.</a:t>
            </a:r>
          </a:p>
        </p:txBody>
      </p:sp>
      <p:sp>
        <p:nvSpPr>
          <p:cNvPr id="9" name="">
            <a:extLst xmlns:a="http://schemas.openxmlformats.org/drawingml/2006/main">
              <a:ext uri="{FF2B5EF4-FFF2-40B4-BE49-F238E27FC236}">
                <a16:creationId xmlns:a16="http://schemas.microsoft.com/office/drawing/2014/main" id="{C3BDCE26-0727-43D8-8CD9-1AC35F1B5015}"/>
              </a:ext>
            </a:extLst>
          </p:cNvPr>
          <p:cNvSpPr>
            <a:spLocks xmlns:a="http://schemas.openxmlformats.org/drawingml/2006/main" noGrp="1"/>
          </p:cNvSpPr>
          <p:nvPr/>
        </p:nvSpPr>
        <p:spPr>
          <a:xfrm xmlns:a="http://schemas.openxmlformats.org/drawingml/2006/main">
            <a:off x="3543300" y="1695450"/>
            <a:ext cx="419100" cy="419100"/>
          </a:xfrm>
          <a:prstGeom xmlns:a="http://schemas.openxmlformats.org/drawingml/2006/main" prst="ellipse">
            <a:avLst/>
          </a:prstGeom>
          <a:solidFill xmlns:a="http://schemas.openxmlformats.org/drawingml/2006/main">
            <a:srgbClr val="12B7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32FC764-7B3E-487D-B693-43A9E88E7D6A}"/>
              </a:ext>
            </a:extLst>
          </p:cNvPr>
          <p:cNvSpPr>
            <a:spLocks xmlns:a="http://schemas.openxmlformats.org/drawingml/2006/main" noGrp="1"/>
          </p:cNvSpPr>
          <p:nvPr/>
        </p:nvSpPr>
        <p:spPr>
          <a:xfrm xmlns:a="http://schemas.openxmlformats.org/drawingml/2006/main">
            <a:off x="3543300" y="17049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B79741BF-9456-4D68-A762-7D17C20CC56F}"/>
              </a:ext>
            </a:extLst>
          </p:cNvPr>
          <p:cNvSpPr>
            <a:spLocks xmlns:a="http://schemas.openxmlformats.org/drawingml/2006/main" noGrp="1"/>
          </p:cNvSpPr>
          <p:nvPr/>
        </p:nvSpPr>
        <p:spPr>
          <a:xfrm xmlns:a="http://schemas.openxmlformats.org/drawingml/2006/main">
            <a:off x="4076700" y="1666875"/>
            <a:ext cx="194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71A2B"/>
                </a:solidFill>
                <a:latin typeface="Aptos"/>
                <a:ea typeface="Aptos"/>
                <a:cs typeface="Aptos"/>
              </a:defRPr>
            </a:pPr>
            <a:r>
              <a:rPr sz="1725" b="1">
                <a:solidFill>
                  <a:srgbClr val="071A2B"/>
                </a:solidFill>
                <a:latin typeface="Aptos"/>
                <a:ea typeface="Aptos"/>
                <a:cs typeface="Aptos"/>
              </a:rPr>
              <a:t>Build &amp; SIT</a:t>
            </a:r>
          </a:p>
        </p:txBody>
      </p:sp>
      <p:sp>
        <p:nvSpPr>
          <p:cNvPr id="12" name="">
            <a:extLst xmlns:a="http://schemas.openxmlformats.org/drawingml/2006/main">
              <a:ext uri="{FF2B5EF4-FFF2-40B4-BE49-F238E27FC236}">
                <a16:creationId xmlns:a16="http://schemas.microsoft.com/office/drawing/2014/main" id="{01C95D6A-2D00-4C07-BA9E-865A4AC900B3}"/>
              </a:ext>
            </a:extLst>
          </p:cNvPr>
          <p:cNvSpPr>
            <a:spLocks xmlns:a="http://schemas.openxmlformats.org/drawingml/2006/main" noGrp="1"/>
          </p:cNvSpPr>
          <p:nvPr/>
        </p:nvSpPr>
        <p:spPr>
          <a:xfrm xmlns:a="http://schemas.openxmlformats.org/drawingml/2006/main">
            <a:off x="4076700" y="2009775"/>
            <a:ext cx="1943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l">
              <a:lnSpc>
                <a:spcPct val="105000"/>
              </a:lnSpc>
              <a:buNone/>
              <a:defRPr sz="1350" b="0">
                <a:solidFill>
                  <a:srgbClr val="536575"/>
                </a:solidFill>
                <a:latin typeface="Aptos"/>
                <a:ea typeface="Aptos"/>
                <a:cs typeface="Aptos"/>
              </a:defRPr>
            </a:pPr>
            <a:r>
              <a:rPr sz="1350" b="0">
                <a:solidFill>
                  <a:srgbClr val="536575"/>
                </a:solidFill>
                <a:latin typeface="Aptos"/>
                <a:ea typeface="Aptos"/>
                <a:cs typeface="Aptos"/>
              </a:rPr>
              <a:t>IT/SAP membangun interface NOVA, mapping master, retry, dan monitoring.</a:t>
            </a:r>
          </a:p>
        </p:txBody>
      </p:sp>
      <p:sp>
        <p:nvSpPr>
          <p:cNvPr id="13" name="">
            <a:extLst xmlns:a="http://schemas.openxmlformats.org/drawingml/2006/main">
              <a:ext uri="{FF2B5EF4-FFF2-40B4-BE49-F238E27FC236}">
                <a16:creationId xmlns:a16="http://schemas.microsoft.com/office/drawing/2014/main" id="{FB326B76-681C-461C-830F-9B7BDD97259F}"/>
              </a:ext>
            </a:extLst>
          </p:cNvPr>
          <p:cNvSpPr>
            <a:spLocks xmlns:a="http://schemas.openxmlformats.org/drawingml/2006/main" noGrp="1"/>
          </p:cNvSpPr>
          <p:nvPr/>
        </p:nvSpPr>
        <p:spPr>
          <a:xfrm xmlns:a="http://schemas.openxmlformats.org/drawingml/2006/main">
            <a:off x="6343650" y="1695450"/>
            <a:ext cx="419100" cy="419100"/>
          </a:xfrm>
          <a:prstGeom xmlns:a="http://schemas.openxmlformats.org/drawingml/2006/main" prst="ellipse">
            <a:avLst/>
          </a:prstGeom>
          <a:solidFill xmlns:a="http://schemas.openxmlformats.org/drawingml/2006/main">
            <a:srgbClr val="D98A0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9ADBA39-86AB-4414-BDB3-2E6CFF5D077B}"/>
              </a:ext>
            </a:extLst>
          </p:cNvPr>
          <p:cNvSpPr>
            <a:spLocks xmlns:a="http://schemas.openxmlformats.org/drawingml/2006/main" noGrp="1"/>
          </p:cNvSpPr>
          <p:nvPr/>
        </p:nvSpPr>
        <p:spPr>
          <a:xfrm xmlns:a="http://schemas.openxmlformats.org/drawingml/2006/main">
            <a:off x="6343650" y="17049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EA647661-02A3-41BF-AA95-119C95A92FAB}"/>
              </a:ext>
            </a:extLst>
          </p:cNvPr>
          <p:cNvSpPr>
            <a:spLocks xmlns:a="http://schemas.openxmlformats.org/drawingml/2006/main" noGrp="1"/>
          </p:cNvSpPr>
          <p:nvPr/>
        </p:nvSpPr>
        <p:spPr>
          <a:xfrm xmlns:a="http://schemas.openxmlformats.org/drawingml/2006/main">
            <a:off x="6877050" y="1666875"/>
            <a:ext cx="194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71A2B"/>
                </a:solidFill>
                <a:latin typeface="Aptos"/>
                <a:ea typeface="Aptos"/>
                <a:cs typeface="Aptos"/>
              </a:defRPr>
            </a:pPr>
            <a:r>
              <a:rPr sz="1725" b="1">
                <a:solidFill>
                  <a:srgbClr val="071A2B"/>
                </a:solidFill>
                <a:latin typeface="Aptos"/>
                <a:ea typeface="Aptos"/>
                <a:cs typeface="Aptos"/>
              </a:rPr>
              <a:t>Pilot satu line</a:t>
            </a:r>
          </a:p>
        </p:txBody>
      </p:sp>
      <p:sp>
        <p:nvSpPr>
          <p:cNvPr id="16" name="">
            <a:extLst xmlns:a="http://schemas.openxmlformats.org/drawingml/2006/main">
              <a:ext uri="{FF2B5EF4-FFF2-40B4-BE49-F238E27FC236}">
                <a16:creationId xmlns:a16="http://schemas.microsoft.com/office/drawing/2014/main" id="{883A4A54-322C-4E47-9BAC-F9FA76C1A10B}"/>
              </a:ext>
            </a:extLst>
          </p:cNvPr>
          <p:cNvSpPr>
            <a:spLocks xmlns:a="http://schemas.openxmlformats.org/drawingml/2006/main" noGrp="1"/>
          </p:cNvSpPr>
          <p:nvPr/>
        </p:nvSpPr>
        <p:spPr>
          <a:xfrm xmlns:a="http://schemas.openxmlformats.org/drawingml/2006/main">
            <a:off x="6877050" y="2009775"/>
            <a:ext cx="1943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l">
              <a:lnSpc>
                <a:spcPct val="105000"/>
              </a:lnSpc>
              <a:buNone/>
              <a:defRPr sz="1350" b="0">
                <a:solidFill>
                  <a:srgbClr val="536575"/>
                </a:solidFill>
                <a:latin typeface="Aptos"/>
                <a:ea typeface="Aptos"/>
                <a:cs typeface="Aptos"/>
              </a:defRPr>
            </a:pPr>
            <a:r>
              <a:rPr sz="1350" b="0">
                <a:solidFill>
                  <a:srgbClr val="536575"/>
                </a:solidFill>
                <a:latin typeface="Aptos"/>
                <a:ea typeface="Aptos"/>
                <a:cs typeface="Aptos"/>
              </a:rPr>
              <a:t>Produksi menjalankan UAT untuk part terbatas dengan rekonsiliasi harian.</a:t>
            </a:r>
          </a:p>
        </p:txBody>
      </p:sp>
      <p:sp>
        <p:nvSpPr>
          <p:cNvPr id="17" name="">
            <a:extLst xmlns:a="http://schemas.openxmlformats.org/drawingml/2006/main">
              <a:ext uri="{FF2B5EF4-FFF2-40B4-BE49-F238E27FC236}">
                <a16:creationId xmlns:a16="http://schemas.microsoft.com/office/drawing/2014/main" id="{EE0D5D10-1A39-45C4-9128-B161EEAF01E7}"/>
              </a:ext>
            </a:extLst>
          </p:cNvPr>
          <p:cNvSpPr>
            <a:spLocks xmlns:a="http://schemas.openxmlformats.org/drawingml/2006/main" noGrp="1"/>
          </p:cNvSpPr>
          <p:nvPr/>
        </p:nvSpPr>
        <p:spPr>
          <a:xfrm xmlns:a="http://schemas.openxmlformats.org/drawingml/2006/main">
            <a:off x="9144000" y="1695450"/>
            <a:ext cx="419100" cy="41910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8AAB2B-5DF1-4AF0-B93A-8751119B2B70}"/>
              </a:ext>
            </a:extLst>
          </p:cNvPr>
          <p:cNvSpPr>
            <a:spLocks xmlns:a="http://schemas.openxmlformats.org/drawingml/2006/main" noGrp="1"/>
          </p:cNvSpPr>
          <p:nvPr/>
        </p:nvSpPr>
        <p:spPr>
          <a:xfrm xmlns:a="http://schemas.openxmlformats.org/drawingml/2006/main">
            <a:off x="9144000" y="17049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19" name="">
            <a:extLst xmlns:a="http://schemas.openxmlformats.org/drawingml/2006/main">
              <a:ext uri="{FF2B5EF4-FFF2-40B4-BE49-F238E27FC236}">
                <a16:creationId xmlns:a16="http://schemas.microsoft.com/office/drawing/2014/main" id="{D3253B3A-5A21-4ED9-873B-9A19F10B7643}"/>
              </a:ext>
            </a:extLst>
          </p:cNvPr>
          <p:cNvSpPr>
            <a:spLocks xmlns:a="http://schemas.openxmlformats.org/drawingml/2006/main" noGrp="1"/>
          </p:cNvSpPr>
          <p:nvPr/>
        </p:nvSpPr>
        <p:spPr>
          <a:xfrm xmlns:a="http://schemas.openxmlformats.org/drawingml/2006/main">
            <a:off x="9677400" y="1666875"/>
            <a:ext cx="1943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a:solidFill>
                  <a:srgbClr val="071A2B"/>
                </a:solidFill>
                <a:latin typeface="Aptos"/>
                <a:ea typeface="Aptos"/>
                <a:cs typeface="Aptos"/>
              </a:defRPr>
            </a:pPr>
            <a:r>
              <a:rPr sz="1725" b="1">
                <a:solidFill>
                  <a:srgbClr val="071A2B"/>
                </a:solidFill>
                <a:latin typeface="Aptos"/>
                <a:ea typeface="Aptos"/>
                <a:cs typeface="Aptos"/>
              </a:rPr>
              <a:t>Go-live bertahap</a:t>
            </a:r>
          </a:p>
        </p:txBody>
      </p:sp>
      <p:sp>
        <p:nvSpPr>
          <p:cNvPr id="20" name="">
            <a:extLst xmlns:a="http://schemas.openxmlformats.org/drawingml/2006/main">
              <a:ext uri="{FF2B5EF4-FFF2-40B4-BE49-F238E27FC236}">
                <a16:creationId xmlns:a16="http://schemas.microsoft.com/office/drawing/2014/main" id="{F7B7739E-61AC-47B5-9C17-F42B180F2C41}"/>
              </a:ext>
            </a:extLst>
          </p:cNvPr>
          <p:cNvSpPr>
            <a:spLocks xmlns:a="http://schemas.openxmlformats.org/drawingml/2006/main" noGrp="1"/>
          </p:cNvSpPr>
          <p:nvPr/>
        </p:nvSpPr>
        <p:spPr>
          <a:xfrm xmlns:a="http://schemas.openxmlformats.org/drawingml/2006/main">
            <a:off x="9677400" y="2009775"/>
            <a:ext cx="1943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365"/>
          </a:bodyPr>
          <a:lstStyle xmlns:a="http://schemas.openxmlformats.org/drawingml/2006/main"/>
          <a:p xmlns:a="http://schemas.openxmlformats.org/drawingml/2006/main">
            <a:pPr algn="l">
              <a:lnSpc>
                <a:spcPct val="105000"/>
              </a:lnSpc>
              <a:buNone/>
              <a:defRPr sz="1350" b="0">
                <a:solidFill>
                  <a:srgbClr val="536575"/>
                </a:solidFill>
                <a:latin typeface="Aptos"/>
                <a:ea typeface="Aptos"/>
                <a:cs typeface="Aptos"/>
              </a:defRPr>
            </a:pPr>
            <a:r>
              <a:rPr sz="1350" b="0">
                <a:solidFill>
                  <a:srgbClr val="536575"/>
                </a:solidFill>
                <a:latin typeface="Aptos"/>
                <a:ea typeface="Aptos"/>
                <a:cs typeface="Aptos"/>
              </a:rPr>
              <a:t>Perluas scope setelah gate pilot lulus, lalu hentikan Excel sebagai sumber transaksi.</a:t>
            </a:r>
          </a:p>
        </p:txBody>
      </p:sp>
      <p:sp>
        <p:nvSpPr>
          <p:cNvPr id="21" name="">
            <a:extLst xmlns:a="http://schemas.openxmlformats.org/drawingml/2006/main">
              <a:ext uri="{FF2B5EF4-FFF2-40B4-BE49-F238E27FC236}">
                <a16:creationId xmlns:a16="http://schemas.microsoft.com/office/drawing/2014/main" id="{FC9DFDEF-7821-4829-B271-68437E771329}"/>
              </a:ext>
            </a:extLst>
          </p:cNvPr>
          <p:cNvSpPr>
            <a:spLocks xmlns:a="http://schemas.openxmlformats.org/drawingml/2006/main" noGrp="1"/>
          </p:cNvSpPr>
          <p:nvPr/>
        </p:nvSpPr>
        <p:spPr>
          <a:xfrm xmlns:a="http://schemas.openxmlformats.org/drawingml/2006/main">
            <a:off x="1524000" y="2981325"/>
            <a:ext cx="419100" cy="419100"/>
          </a:xfrm>
          <a:prstGeom xmlns:a="http://schemas.openxmlformats.org/drawingml/2006/main" prst="ellipse">
            <a:avLst/>
          </a:prstGeom>
          <a:solidFill xmlns:a="http://schemas.openxmlformats.org/drawingml/2006/main">
            <a:srgbClr val="0B5CA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E8B0FF3-75AC-4130-8339-655FF2CCB041}"/>
              </a:ext>
            </a:extLst>
          </p:cNvPr>
          <p:cNvSpPr>
            <a:spLocks xmlns:a="http://schemas.openxmlformats.org/drawingml/2006/main" noGrp="1"/>
          </p:cNvSpPr>
          <p:nvPr/>
        </p:nvSpPr>
        <p:spPr>
          <a:xfrm xmlns:a="http://schemas.openxmlformats.org/drawingml/2006/main">
            <a:off x="1524000" y="298132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1</a:t>
            </a:r>
          </a:p>
        </p:txBody>
      </p:sp>
      <p:sp>
        <p:nvSpPr>
          <p:cNvPr id="23" name="">
            <a:extLst xmlns:a="http://schemas.openxmlformats.org/drawingml/2006/main">
              <a:ext uri="{FF2B5EF4-FFF2-40B4-BE49-F238E27FC236}">
                <a16:creationId xmlns:a16="http://schemas.microsoft.com/office/drawing/2014/main" id="{90543B8D-8267-4365-B25A-3CA45536AD62}"/>
              </a:ext>
            </a:extLst>
          </p:cNvPr>
          <p:cNvSpPr>
            <a:spLocks xmlns:a="http://schemas.openxmlformats.org/drawingml/2006/main" noGrp="1"/>
          </p:cNvSpPr>
          <p:nvPr/>
        </p:nvSpPr>
        <p:spPr>
          <a:xfrm xmlns:a="http://schemas.openxmlformats.org/drawingml/2006/main">
            <a:off x="4324350" y="2981325"/>
            <a:ext cx="419100" cy="419100"/>
          </a:xfrm>
          <a:prstGeom xmlns:a="http://schemas.openxmlformats.org/drawingml/2006/main" prst="ellipse">
            <a:avLst/>
          </a:prstGeom>
          <a:solidFill xmlns:a="http://schemas.openxmlformats.org/drawingml/2006/main">
            <a:srgbClr val="12B7E6"/>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1901CD2-D6CC-421D-A60A-AA6C367F9953}"/>
              </a:ext>
            </a:extLst>
          </p:cNvPr>
          <p:cNvSpPr>
            <a:spLocks xmlns:a="http://schemas.openxmlformats.org/drawingml/2006/main" noGrp="1"/>
          </p:cNvSpPr>
          <p:nvPr/>
        </p:nvSpPr>
        <p:spPr>
          <a:xfrm xmlns:a="http://schemas.openxmlformats.org/drawingml/2006/main">
            <a:off x="4324350" y="298132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2</a:t>
            </a:r>
          </a:p>
        </p:txBody>
      </p:sp>
      <p:sp>
        <p:nvSpPr>
          <p:cNvPr id="25" name="">
            <a:extLst xmlns:a="http://schemas.openxmlformats.org/drawingml/2006/main">
              <a:ext uri="{FF2B5EF4-FFF2-40B4-BE49-F238E27FC236}">
                <a16:creationId xmlns:a16="http://schemas.microsoft.com/office/drawing/2014/main" id="{BB316FA4-D943-4C8F-B6DB-D4B97D7E9B8D}"/>
              </a:ext>
            </a:extLst>
          </p:cNvPr>
          <p:cNvSpPr>
            <a:spLocks xmlns:a="http://schemas.openxmlformats.org/drawingml/2006/main" noGrp="1"/>
          </p:cNvSpPr>
          <p:nvPr/>
        </p:nvSpPr>
        <p:spPr>
          <a:xfrm xmlns:a="http://schemas.openxmlformats.org/drawingml/2006/main">
            <a:off x="7124700" y="2981325"/>
            <a:ext cx="419100" cy="419100"/>
          </a:xfrm>
          <a:prstGeom xmlns:a="http://schemas.openxmlformats.org/drawingml/2006/main" prst="ellipse">
            <a:avLst/>
          </a:prstGeom>
          <a:solidFill xmlns:a="http://schemas.openxmlformats.org/drawingml/2006/main">
            <a:srgbClr val="D98A0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314EAF1-4A02-408F-84D3-FED358476227}"/>
              </a:ext>
            </a:extLst>
          </p:cNvPr>
          <p:cNvSpPr>
            <a:spLocks xmlns:a="http://schemas.openxmlformats.org/drawingml/2006/main" noGrp="1"/>
          </p:cNvSpPr>
          <p:nvPr/>
        </p:nvSpPr>
        <p:spPr>
          <a:xfrm xmlns:a="http://schemas.openxmlformats.org/drawingml/2006/main">
            <a:off x="7124700" y="298132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3</a:t>
            </a:r>
          </a:p>
        </p:txBody>
      </p:sp>
      <p:sp>
        <p:nvSpPr>
          <p:cNvPr id="27" name="">
            <a:extLst xmlns:a="http://schemas.openxmlformats.org/drawingml/2006/main">
              <a:ext uri="{FF2B5EF4-FFF2-40B4-BE49-F238E27FC236}">
                <a16:creationId xmlns:a16="http://schemas.microsoft.com/office/drawing/2014/main" id="{33431857-3C8E-4D5E-BDE8-786BD566BB66}"/>
              </a:ext>
            </a:extLst>
          </p:cNvPr>
          <p:cNvSpPr>
            <a:spLocks xmlns:a="http://schemas.openxmlformats.org/drawingml/2006/main" noGrp="1"/>
          </p:cNvSpPr>
          <p:nvPr/>
        </p:nvSpPr>
        <p:spPr>
          <a:xfrm xmlns:a="http://schemas.openxmlformats.org/drawingml/2006/main">
            <a:off x="9925050" y="2981325"/>
            <a:ext cx="419100" cy="41910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F3BE553-E6B7-401A-9FB5-35811546646B}"/>
              </a:ext>
            </a:extLst>
          </p:cNvPr>
          <p:cNvSpPr>
            <a:spLocks xmlns:a="http://schemas.openxmlformats.org/drawingml/2006/main" noGrp="1"/>
          </p:cNvSpPr>
          <p:nvPr/>
        </p:nvSpPr>
        <p:spPr>
          <a:xfrm xmlns:a="http://schemas.openxmlformats.org/drawingml/2006/main">
            <a:off x="9925050" y="298132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4</a:t>
            </a:r>
          </a:p>
        </p:txBody>
      </p:sp>
      <p:sp>
        <p:nvSpPr>
          <p:cNvPr id="29" name="">
            <a:extLst xmlns:a="http://schemas.openxmlformats.org/drawingml/2006/main">
              <a:ext uri="{FF2B5EF4-FFF2-40B4-BE49-F238E27FC236}">
                <a16:creationId xmlns:a16="http://schemas.microsoft.com/office/drawing/2014/main" id="{EB664139-77C8-4352-84F6-36D20600D44F}"/>
              </a:ext>
            </a:extLst>
          </p:cNvPr>
          <p:cNvSpPr>
            <a:spLocks xmlns:a="http://schemas.openxmlformats.org/drawingml/2006/main" noGrp="1"/>
          </p:cNvSpPr>
          <p:nvPr/>
        </p:nvSpPr>
        <p:spPr>
          <a:xfrm xmlns:a="http://schemas.openxmlformats.org/drawingml/2006/main">
            <a:off x="914400" y="39243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071A2B"/>
                </a:solidFill>
                <a:latin typeface="Aptos"/>
                <a:ea typeface="Aptos"/>
                <a:cs typeface="Aptos"/>
              </a:defRPr>
            </a:pPr>
            <a:r>
              <a:rPr sz="1950" b="1">
                <a:solidFill>
                  <a:srgbClr val="071A2B"/>
                </a:solidFill>
                <a:latin typeface="Aptos"/>
                <a:ea typeface="Aptos"/>
                <a:cs typeface="Aptos"/>
              </a:rPr>
              <a:t>Gate sebelum perluasan scope</a:t>
            </a:r>
          </a:p>
        </p:txBody>
      </p:sp>
      <p:sp>
        <p:nvSpPr>
          <p:cNvPr id="30" name="">
            <a:extLst xmlns:a="http://schemas.openxmlformats.org/drawingml/2006/main">
              <a:ext uri="{FF2B5EF4-FFF2-40B4-BE49-F238E27FC236}">
                <a16:creationId xmlns:a16="http://schemas.microsoft.com/office/drawing/2014/main" id="{632EFA67-8910-4B09-AA99-9A4BC00631C6}"/>
              </a:ext>
            </a:extLst>
          </p:cNvPr>
          <p:cNvSpPr>
            <a:spLocks xmlns:a="http://schemas.openxmlformats.org/drawingml/2006/main" noGrp="1"/>
          </p:cNvSpPr>
          <p:nvPr/>
        </p:nvSpPr>
        <p:spPr>
          <a:xfrm xmlns:a="http://schemas.openxmlformats.org/drawingml/2006/main">
            <a:off x="914400" y="453390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44EC8CA-9D48-433B-B6BC-A907105AAB12}"/>
              </a:ext>
            </a:extLst>
          </p:cNvPr>
          <p:cNvSpPr>
            <a:spLocks xmlns:a="http://schemas.openxmlformats.org/drawingml/2006/main" noGrp="1"/>
          </p:cNvSpPr>
          <p:nvPr/>
        </p:nvSpPr>
        <p:spPr>
          <a:xfrm xmlns:a="http://schemas.openxmlformats.org/drawingml/2006/main">
            <a:off x="1123950" y="4457700"/>
            <a:ext cx="464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142433"/>
                </a:solidFill>
                <a:latin typeface="Aptos"/>
                <a:ea typeface="Aptos"/>
                <a:cs typeface="Aptos"/>
              </a:defRPr>
            </a:pPr>
            <a:r>
              <a:rPr sz="1500" b="0">
                <a:solidFill>
                  <a:srgbClr val="142433"/>
                </a:solidFill>
                <a:latin typeface="Aptos"/>
                <a:ea typeface="Aptos"/>
                <a:cs typeface="Aptos"/>
              </a:rPr>
              <a:t>Tidak ada transaksi ganda dan seluruh posting mempunyai nomor dokumen SAP.</a:t>
            </a:r>
          </a:p>
        </p:txBody>
      </p:sp>
      <p:sp>
        <p:nvSpPr>
          <p:cNvPr id="32" name="">
            <a:extLst xmlns:a="http://schemas.openxmlformats.org/drawingml/2006/main">
              <a:ext uri="{FF2B5EF4-FFF2-40B4-BE49-F238E27FC236}">
                <a16:creationId xmlns:a16="http://schemas.microsoft.com/office/drawing/2014/main" id="{B5068200-7CE7-45DE-8EB4-8C952E12AC00}"/>
              </a:ext>
            </a:extLst>
          </p:cNvPr>
          <p:cNvSpPr>
            <a:spLocks xmlns:a="http://schemas.openxmlformats.org/drawingml/2006/main" noGrp="1"/>
          </p:cNvSpPr>
          <p:nvPr/>
        </p:nvSpPr>
        <p:spPr>
          <a:xfrm xmlns:a="http://schemas.openxmlformats.org/drawingml/2006/main">
            <a:off x="914400" y="523875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281F014-0FB1-4C14-BFA3-C4C7196D5BD6}"/>
              </a:ext>
            </a:extLst>
          </p:cNvPr>
          <p:cNvSpPr>
            <a:spLocks xmlns:a="http://schemas.openxmlformats.org/drawingml/2006/main" noGrp="1"/>
          </p:cNvSpPr>
          <p:nvPr/>
        </p:nvSpPr>
        <p:spPr>
          <a:xfrm xmlns:a="http://schemas.openxmlformats.org/drawingml/2006/main">
            <a:off x="1123950" y="5162550"/>
            <a:ext cx="4648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37"/>
          </a:bodyPr>
          <a:lstStyle xmlns:a="http://schemas.openxmlformats.org/drawingml/2006/main"/>
          <a:p xmlns:a="http://schemas.openxmlformats.org/drawingml/2006/main">
            <a:pPr algn="l">
              <a:lnSpc>
                <a:spcPct val="105000"/>
              </a:lnSpc>
              <a:buNone/>
              <a:defRPr sz="1500" b="0">
                <a:solidFill>
                  <a:srgbClr val="142433"/>
                </a:solidFill>
                <a:latin typeface="Aptos"/>
                <a:ea typeface="Aptos"/>
                <a:cs typeface="Aptos"/>
              </a:defRPr>
            </a:pPr>
            <a:r>
              <a:rPr sz="1500" b="0">
                <a:solidFill>
                  <a:srgbClr val="142433"/>
                </a:solidFill>
                <a:latin typeface="Aptos"/>
                <a:ea typeface="Aptos"/>
                <a:cs typeface="Aptos"/>
              </a:rPr>
              <a:t>Saldo dan nilai inventory sesuai hasil rekonsiliasi Accounting.</a:t>
            </a:r>
          </a:p>
        </p:txBody>
      </p:sp>
      <p:sp>
        <p:nvSpPr>
          <p:cNvPr id="34" name="">
            <a:extLst xmlns:a="http://schemas.openxmlformats.org/drawingml/2006/main">
              <a:ext uri="{FF2B5EF4-FFF2-40B4-BE49-F238E27FC236}">
                <a16:creationId xmlns:a16="http://schemas.microsoft.com/office/drawing/2014/main" id="{0ABA1F27-6215-4115-B43D-6B9EAE986BE4}"/>
              </a:ext>
            </a:extLst>
          </p:cNvPr>
          <p:cNvSpPr>
            <a:spLocks xmlns:a="http://schemas.openxmlformats.org/drawingml/2006/main" noGrp="1"/>
          </p:cNvSpPr>
          <p:nvPr/>
        </p:nvSpPr>
        <p:spPr>
          <a:xfrm xmlns:a="http://schemas.openxmlformats.org/drawingml/2006/main">
            <a:off x="6286500" y="453390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4900BA3-DD7E-4543-95D3-C17979B30613}"/>
              </a:ext>
            </a:extLst>
          </p:cNvPr>
          <p:cNvSpPr>
            <a:spLocks xmlns:a="http://schemas.openxmlformats.org/drawingml/2006/main" noGrp="1"/>
          </p:cNvSpPr>
          <p:nvPr/>
        </p:nvSpPr>
        <p:spPr>
          <a:xfrm xmlns:a="http://schemas.openxmlformats.org/drawingml/2006/main">
            <a:off x="6496050" y="4457700"/>
            <a:ext cx="464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142433"/>
                </a:solidFill>
                <a:latin typeface="Aptos"/>
                <a:ea typeface="Aptos"/>
                <a:cs typeface="Aptos"/>
              </a:defRPr>
            </a:pPr>
            <a:r>
              <a:rPr sz="1500" b="0">
                <a:solidFill>
                  <a:srgbClr val="142433"/>
                </a:solidFill>
                <a:latin typeface="Aptos"/>
                <a:ea typeface="Aptos"/>
                <a:cs typeface="Aptos"/>
              </a:rPr>
              <a:t>Operator dapat menangani status Pending dan Error tanpa kembali ke Excel.</a:t>
            </a:r>
          </a:p>
        </p:txBody>
      </p:sp>
      <p:sp>
        <p:nvSpPr>
          <p:cNvPr id="36" name="">
            <a:extLst xmlns:a="http://schemas.openxmlformats.org/drawingml/2006/main">
              <a:ext uri="{FF2B5EF4-FFF2-40B4-BE49-F238E27FC236}">
                <a16:creationId xmlns:a16="http://schemas.microsoft.com/office/drawing/2014/main" id="{BA805B1D-C711-4F76-8C43-2263E542BE54}"/>
              </a:ext>
            </a:extLst>
          </p:cNvPr>
          <p:cNvSpPr>
            <a:spLocks xmlns:a="http://schemas.openxmlformats.org/drawingml/2006/main" noGrp="1"/>
          </p:cNvSpPr>
          <p:nvPr/>
        </p:nvSpPr>
        <p:spPr>
          <a:xfrm xmlns:a="http://schemas.openxmlformats.org/drawingml/2006/main">
            <a:off x="6286500" y="5238750"/>
            <a:ext cx="95250" cy="95250"/>
          </a:xfrm>
          <a:prstGeom xmlns:a="http://schemas.openxmlformats.org/drawingml/2006/main" prst="ellipse">
            <a:avLst/>
          </a:prstGeom>
          <a:solidFill xmlns:a="http://schemas.openxmlformats.org/drawingml/2006/main">
            <a:srgbClr val="23845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689C42E-F297-4DFA-A84C-04F178E33052}"/>
              </a:ext>
            </a:extLst>
          </p:cNvPr>
          <p:cNvSpPr>
            <a:spLocks xmlns:a="http://schemas.openxmlformats.org/drawingml/2006/main" noGrp="1"/>
          </p:cNvSpPr>
          <p:nvPr/>
        </p:nvSpPr>
        <p:spPr>
          <a:xfrm xmlns:a="http://schemas.openxmlformats.org/drawingml/2006/main">
            <a:off x="6496050" y="5162550"/>
            <a:ext cx="4648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142433"/>
                </a:solidFill>
                <a:latin typeface="Aptos"/>
                <a:ea typeface="Aptos"/>
                <a:cs typeface="Aptos"/>
              </a:defRPr>
            </a:pPr>
            <a:r>
              <a:rPr sz="1500" b="0">
                <a:solidFill>
                  <a:srgbClr val="142433"/>
                </a:solidFill>
                <a:latin typeface="Aptos"/>
                <a:ea typeface="Aptos"/>
                <a:cs typeface="Aptos"/>
              </a:rPr>
              <a:t>Prosedur cut-off, recovery, dan support telah diuji.</a:t>
            </a:r>
          </a:p>
        </p:txBody>
      </p:sp>
      <p:sp>
        <p:nvSpPr>
          <p:cNvPr id="38" name="">
            <a:extLst xmlns:a="http://schemas.openxmlformats.org/drawingml/2006/main">
              <a:ext uri="{FF2B5EF4-FFF2-40B4-BE49-F238E27FC236}">
                <a16:creationId xmlns:a16="http://schemas.microsoft.com/office/drawing/2014/main" id="{926E2E1D-2F93-431A-84DB-3066B697D826}"/>
              </a:ext>
            </a:extLst>
          </p:cNvPr>
          <p:cNvSpPr>
            <a:spLocks xmlns:a="http://schemas.openxmlformats.org/drawingml/2006/main" noGrp="1"/>
          </p:cNvSpPr>
          <p:nvPr/>
        </p:nvSpPr>
        <p:spPr>
          <a:xfrm xmlns:a="http://schemas.openxmlformats.org/drawingml/2006/main">
            <a:off x="609600" y="6486525"/>
            <a:ext cx="10972800" cy="0"/>
          </a:xfrm>
          <a:prstGeom xmlns:a="http://schemas.openxmlformats.org/drawingml/2006/main" prst="line">
            <a:avLst/>
          </a:prstGeom>
          <a:noFill xmlns:a="http://schemas.openxmlformats.org/drawingml/2006/main"/>
          <a:ln xmlns:a="http://schemas.openxmlformats.org/drawingml/2006/main" w="9525">
            <a:solidFill>
              <a:srgbClr val="D5DEE6"/>
            </a:solidFill>
            <a:prstDash val="solid"/>
          </a:ln>
        </p:spPr>
      </p:sp>
      <p:sp>
        <p:nvSpPr>
          <p:cNvPr id="39" name="">
            <a:extLst xmlns:a="http://schemas.openxmlformats.org/drawingml/2006/main">
              <a:ext uri="{FF2B5EF4-FFF2-40B4-BE49-F238E27FC236}">
                <a16:creationId xmlns:a16="http://schemas.microsoft.com/office/drawing/2014/main" id="{3DFECE1E-75F5-4102-B4F8-1A12BA93C1B5}"/>
              </a:ext>
            </a:extLst>
          </p:cNvPr>
          <p:cNvSpPr>
            <a:spLocks xmlns:a="http://schemas.openxmlformats.org/drawingml/2006/main" noGrp="1"/>
          </p:cNvSpPr>
          <p:nvPr/>
        </p:nvSpPr>
        <p:spPr>
          <a:xfrm xmlns:a="http://schemas.openxmlformats.org/drawingml/2006/main">
            <a:off x="609600" y="65532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536575"/>
                </a:solidFill>
                <a:latin typeface="Aptos"/>
                <a:ea typeface="Aptos"/>
                <a:cs typeface="Aptos"/>
              </a:defRPr>
            </a:pPr>
            <a:r>
              <a:rPr sz="975" b="0">
                <a:solidFill>
                  <a:srgbClr val="536575"/>
                </a:solidFill>
                <a:latin typeface="Aptos"/>
                <a:ea typeface="Aptos"/>
                <a:cs typeface="Aptos"/>
              </a:rPr>
              <a:t>ANSEI / NOVA Shopfloor/MES / SAP</a:t>
            </a:r>
          </a:p>
        </p:txBody>
      </p:sp>
      <p:sp>
        <p:nvSpPr>
          <p:cNvPr id="40" name="">
            <a:extLst xmlns:a="http://schemas.openxmlformats.org/drawingml/2006/main">
              <a:ext uri="{FF2B5EF4-FFF2-40B4-BE49-F238E27FC236}">
                <a16:creationId xmlns:a16="http://schemas.microsoft.com/office/drawing/2014/main" id="{0652F889-3DE4-49EF-B8D3-20CB62A6AC85}"/>
              </a:ext>
            </a:extLst>
          </p:cNvPr>
          <p:cNvSpPr>
            <a:spLocks xmlns:a="http://schemas.openxmlformats.org/drawingml/2006/main" noGrp="1"/>
          </p:cNvSpPr>
          <p:nvPr/>
        </p:nvSpPr>
        <p:spPr>
          <a:xfrm xmlns:a="http://schemas.openxmlformats.org/drawingml/2006/main">
            <a:off x="11049000" y="65341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0B5CAD"/>
                </a:solidFill>
                <a:latin typeface="Aptos"/>
                <a:ea typeface="Aptos"/>
                <a:cs typeface="Aptos"/>
              </a:defRPr>
            </a:pPr>
            <a:r>
              <a:rPr sz="1050" b="1">
                <a:solidFill>
                  <a:srgbClr val="0B5CAD"/>
                </a:solidFill>
                <a:latin typeface="Aptos"/>
                <a:ea typeface="Aptos"/>
                <a:cs typeface="Aptos"/>
              </a:rPr>
              <a:t>07</a:t>
            </a:r>
          </a:p>
        </p:txBody>
      </p:sp>
    </p:spTree>
    <p:extLst>
      <p:ext uri="{BB962C8B-B14F-4D97-AF65-F5344CB8AC3E}">
        <p14:creationId xmlns:p14="http://schemas.microsoft.com/office/powerpoint/2010/main" val="1686223375"/>
      </p:ext>
    </p:extLst>
  </p:cSld>
</p:sld>
</file>

<file path=ppt/slides/slide8.xml><?xml version="1.0" encoding="utf-8"?>
<p:sld xmlns:p="http://schemas.openxmlformats.org/presentationml/2006/main">
  <p:cSld>
    <p:bg>
      <p:bgPr>
        <a:solidFill xmlns:a="http://schemas.openxmlformats.org/drawingml/2006/main">
          <a:srgbClr val="071A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7E2447B-A286-4343-8210-0EFE1F509E3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2B7E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325FD4-C33D-4A60-96A2-A08CF6FFEBEA}"/>
              </a:ext>
            </a:extLst>
          </p:cNvPr>
          <p:cNvSpPr>
            <a:spLocks xmlns:a="http://schemas.openxmlformats.org/drawingml/2006/main" noGrp="1"/>
          </p:cNvSpPr>
          <p:nvPr/>
        </p:nvSpPr>
        <p:spPr>
          <a:xfrm xmlns:a="http://schemas.openxmlformats.org/drawingml/2006/main">
            <a:off x="685800" y="552450"/>
            <a:ext cx="2266950" cy="285750"/>
          </a:xfrm>
          <a:prstGeom xmlns:a="http://schemas.openxmlformats.org/drawingml/2006/main" prst="roundRect">
            <a:avLst>
              <a:gd name="adj" fmla="val 26667"/>
            </a:avLst>
          </a:prstGeom>
          <a:solidFill xmlns:a="http://schemas.openxmlformats.org/drawingml/2006/main">
            <a:srgbClr val="D94141"/>
          </a:solidFill>
          <a:ln xmlns:a="http://schemas.openxmlformats.org/drawingml/2006/main" w="0">
            <a:noFill/>
          </a:ln>
        </p:spPr>
        <p:txBody>
          <a:bodyPr xmlns:a="http://schemas.openxmlformats.org/drawingml/2006/main" lIns="76200" tIns="19050" rIns="76200" bIns="1905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KEPUTUSAN YANG DIMINTA</a:t>
            </a:r>
          </a:p>
        </p:txBody>
      </p:sp>
      <p:sp>
        <p:nvSpPr>
          <p:cNvPr id="3" name="">
            <a:extLst xmlns:a="http://schemas.openxmlformats.org/drawingml/2006/main">
              <a:ext uri="{FF2B5EF4-FFF2-40B4-BE49-F238E27FC236}">
                <a16:creationId xmlns:a16="http://schemas.microsoft.com/office/drawing/2014/main" id="{84086F88-226E-415D-B42A-040C752A2CC0}"/>
              </a:ext>
            </a:extLst>
          </p:cNvPr>
          <p:cNvSpPr>
            <a:spLocks xmlns:a="http://schemas.openxmlformats.org/drawingml/2006/main" noGrp="1"/>
          </p:cNvSpPr>
          <p:nvPr/>
        </p:nvSpPr>
        <p:spPr>
          <a:xfrm xmlns:a="http://schemas.openxmlformats.org/drawingml/2006/main">
            <a:off x="685800" y="1123950"/>
            <a:ext cx="990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225" b="1">
                <a:solidFill>
                  <a:srgbClr val="FFFFFF"/>
                </a:solidFill>
                <a:latin typeface="Aptos"/>
                <a:ea typeface="Aptos"/>
                <a:cs typeface="Aptos"/>
              </a:defRPr>
            </a:pPr>
            <a:r>
              <a:rPr sz="3225" b="1">
                <a:solidFill>
                  <a:srgbClr val="FFFFFF"/>
                </a:solidFill>
                <a:latin typeface="Aptos"/>
                <a:ea typeface="Aptos"/>
                <a:cs typeface="Aptos"/>
              </a:rPr>
              <a:t>Dukungan manajemen untuk memulai pengajuan resmi dan pilot integrasi</a:t>
            </a:r>
          </a:p>
        </p:txBody>
      </p:sp>
      <p:sp>
        <p:nvSpPr>
          <p:cNvPr id="4" name="">
            <a:extLst xmlns:a="http://schemas.openxmlformats.org/drawingml/2006/main">
              <a:ext uri="{FF2B5EF4-FFF2-40B4-BE49-F238E27FC236}">
                <a16:creationId xmlns:a16="http://schemas.microsoft.com/office/drawing/2014/main" id="{A3817314-47E2-4FD4-87C6-ACAF062BE067}"/>
              </a:ext>
            </a:extLst>
          </p:cNvPr>
          <p:cNvSpPr>
            <a:spLocks xmlns:a="http://schemas.openxmlformats.org/drawingml/2006/main" noGrp="1"/>
          </p:cNvSpPr>
          <p:nvPr/>
        </p:nvSpPr>
        <p:spPr>
          <a:xfrm xmlns:a="http://schemas.openxmlformats.org/drawingml/2006/main">
            <a:off x="685800" y="23431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0">
                <a:solidFill>
                  <a:srgbClr val="D8E9F4"/>
                </a:solidFill>
                <a:latin typeface="Aptos"/>
                <a:ea typeface="Aptos"/>
                <a:cs typeface="Aptos"/>
              </a:defRPr>
            </a:pPr>
            <a:r>
              <a:rPr sz="1950" b="0">
                <a:solidFill>
                  <a:srgbClr val="D8E9F4"/>
                </a:solidFill>
                <a:latin typeface="Aptos"/>
                <a:ea typeface="Aptos"/>
                <a:cs typeface="Aptos"/>
              </a:rPr>
              <a:t>Produksi mengajukan secara resmi kepada Accounting agar data dan transaksi ANSEI dapat dicatat di SAP melalui NOVA Shopfloor/MES.</a:t>
            </a:r>
          </a:p>
        </p:txBody>
      </p:sp>
      <p:sp>
        <p:nvSpPr>
          <p:cNvPr id="5" name="">
            <a:extLst xmlns:a="http://schemas.openxmlformats.org/drawingml/2006/main">
              <a:ext uri="{FF2B5EF4-FFF2-40B4-BE49-F238E27FC236}">
                <a16:creationId xmlns:a16="http://schemas.microsoft.com/office/drawing/2014/main" id="{313C6C75-9473-4A90-9C53-ED234994E03D}"/>
              </a:ext>
            </a:extLst>
          </p:cNvPr>
          <p:cNvSpPr>
            <a:spLocks xmlns:a="http://schemas.openxmlformats.org/drawingml/2006/main" noGrp="1"/>
          </p:cNvSpPr>
          <p:nvPr/>
        </p:nvSpPr>
        <p:spPr>
          <a:xfrm xmlns:a="http://schemas.openxmlformats.org/drawingml/2006/main">
            <a:off x="685800" y="3295650"/>
            <a:ext cx="10820400" cy="0"/>
          </a:xfrm>
          <a:prstGeom xmlns:a="http://schemas.openxmlformats.org/drawingml/2006/main" prst="line">
            <a:avLst/>
          </a:prstGeom>
          <a:noFill xmlns:a="http://schemas.openxmlformats.org/drawingml/2006/main"/>
          <a:ln xmlns:a="http://schemas.openxmlformats.org/drawingml/2006/main" w="19050">
            <a:solidFill>
              <a:srgbClr val="35546D"/>
            </a:solidFill>
            <a:prstDash val="solid"/>
          </a:ln>
        </p:spPr>
      </p:sp>
      <p:sp>
        <p:nvSpPr>
          <p:cNvPr id="6" name="">
            <a:extLst xmlns:a="http://schemas.openxmlformats.org/drawingml/2006/main">
              <a:ext uri="{FF2B5EF4-FFF2-40B4-BE49-F238E27FC236}">
                <a16:creationId xmlns:a16="http://schemas.microsoft.com/office/drawing/2014/main" id="{1B826153-0F19-433E-871A-2CA5B74FC14F}"/>
              </a:ext>
            </a:extLst>
          </p:cNvPr>
          <p:cNvSpPr>
            <a:spLocks xmlns:a="http://schemas.openxmlformats.org/drawingml/2006/main" noGrp="1"/>
          </p:cNvSpPr>
          <p:nvPr/>
        </p:nvSpPr>
        <p:spPr>
          <a:xfrm xmlns:a="http://schemas.openxmlformats.org/drawingml/2006/main">
            <a:off x="685800" y="3638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2B7E6"/>
                </a:solidFill>
                <a:latin typeface="Aptos"/>
                <a:ea typeface="Aptos"/>
                <a:cs typeface="Aptos"/>
              </a:defRPr>
            </a:pPr>
            <a:r>
              <a:rPr sz="1875" b="1">
                <a:solidFill>
                  <a:srgbClr val="12B7E6"/>
                </a:solidFill>
                <a:latin typeface="Aptos"/>
                <a:ea typeface="Aptos"/>
                <a:cs typeface="Aptos"/>
              </a:rPr>
              <a:t>Produksi</a:t>
            </a:r>
          </a:p>
        </p:txBody>
      </p:sp>
      <p:sp>
        <p:nvSpPr>
          <p:cNvPr id="7" name="">
            <a:extLst xmlns:a="http://schemas.openxmlformats.org/drawingml/2006/main">
              <a:ext uri="{FF2B5EF4-FFF2-40B4-BE49-F238E27FC236}">
                <a16:creationId xmlns:a16="http://schemas.microsoft.com/office/drawing/2014/main" id="{56DEA62C-080F-416C-A132-FD44CEF05FE4}"/>
              </a:ext>
            </a:extLst>
          </p:cNvPr>
          <p:cNvSpPr>
            <a:spLocks xmlns:a="http://schemas.openxmlformats.org/drawingml/2006/main" noGrp="1"/>
          </p:cNvSpPr>
          <p:nvPr/>
        </p:nvSpPr>
        <p:spPr>
          <a:xfrm xmlns:a="http://schemas.openxmlformats.org/drawingml/2006/main">
            <a:off x="685800" y="405765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a:solidFill>
                  <a:srgbClr val="FFFFFF"/>
                </a:solidFill>
                <a:latin typeface="Aptos"/>
                <a:ea typeface="Aptos"/>
                <a:cs typeface="Aptos"/>
              </a:defRPr>
            </a:pPr>
            <a:r>
              <a:rPr sz="1425" b="0">
                <a:solidFill>
                  <a:srgbClr val="FFFFFF"/>
                </a:solidFill>
                <a:latin typeface="Aptos"/>
                <a:ea typeface="Aptos"/>
                <a:cs typeface="Aptos"/>
              </a:rPr>
              <a:t>Sponsor proses, validasi flow, UAT, dan kesiapan operator</a:t>
            </a:r>
          </a:p>
        </p:txBody>
      </p:sp>
      <p:sp>
        <p:nvSpPr>
          <p:cNvPr id="8" name="">
            <a:extLst xmlns:a="http://schemas.openxmlformats.org/drawingml/2006/main">
              <a:ext uri="{FF2B5EF4-FFF2-40B4-BE49-F238E27FC236}">
                <a16:creationId xmlns:a16="http://schemas.microsoft.com/office/drawing/2014/main" id="{3BCD17B0-8A50-44BD-BBA8-22F8C2B16FEE}"/>
              </a:ext>
            </a:extLst>
          </p:cNvPr>
          <p:cNvSpPr>
            <a:spLocks xmlns:a="http://schemas.openxmlformats.org/drawingml/2006/main" noGrp="1"/>
          </p:cNvSpPr>
          <p:nvPr/>
        </p:nvSpPr>
        <p:spPr>
          <a:xfrm xmlns:a="http://schemas.openxmlformats.org/drawingml/2006/main">
            <a:off x="3429000" y="3638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2B7E6"/>
                </a:solidFill>
                <a:latin typeface="Aptos"/>
                <a:ea typeface="Aptos"/>
                <a:cs typeface="Aptos"/>
              </a:defRPr>
            </a:pPr>
            <a:r>
              <a:rPr sz="1875" b="1">
                <a:solidFill>
                  <a:srgbClr val="12B7E6"/>
                </a:solidFill>
                <a:latin typeface="Aptos"/>
                <a:ea typeface="Aptos"/>
                <a:cs typeface="Aptos"/>
              </a:rPr>
              <a:t>Accounting</a:t>
            </a:r>
          </a:p>
        </p:txBody>
      </p:sp>
      <p:sp>
        <p:nvSpPr>
          <p:cNvPr id="9" name="">
            <a:extLst xmlns:a="http://schemas.openxmlformats.org/drawingml/2006/main">
              <a:ext uri="{FF2B5EF4-FFF2-40B4-BE49-F238E27FC236}">
                <a16:creationId xmlns:a16="http://schemas.microsoft.com/office/drawing/2014/main" id="{3F8DD8BE-F680-457C-B86F-7EAEEEA2E318}"/>
              </a:ext>
            </a:extLst>
          </p:cNvPr>
          <p:cNvSpPr>
            <a:spLocks xmlns:a="http://schemas.openxmlformats.org/drawingml/2006/main" noGrp="1"/>
          </p:cNvSpPr>
          <p:nvPr/>
        </p:nvSpPr>
        <p:spPr>
          <a:xfrm xmlns:a="http://schemas.openxmlformats.org/drawingml/2006/main">
            <a:off x="3429000" y="405765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a:solidFill>
                  <a:srgbClr val="FFFFFF"/>
                </a:solidFill>
                <a:latin typeface="Aptos"/>
                <a:ea typeface="Aptos"/>
                <a:cs typeface="Aptos"/>
              </a:defRPr>
            </a:pPr>
            <a:r>
              <a:rPr sz="1425" b="0">
                <a:solidFill>
                  <a:srgbClr val="FFFFFF"/>
                </a:solidFill>
                <a:latin typeface="Aptos"/>
                <a:ea typeface="Aptos"/>
                <a:cs typeface="Aptos"/>
              </a:rPr>
              <a:t>Menetapkan desain SAP, ownership, valuation, dan kontrol rekonsiliasi</a:t>
            </a:r>
          </a:p>
        </p:txBody>
      </p:sp>
      <p:sp>
        <p:nvSpPr>
          <p:cNvPr id="10" name="">
            <a:extLst xmlns:a="http://schemas.openxmlformats.org/drawingml/2006/main">
              <a:ext uri="{FF2B5EF4-FFF2-40B4-BE49-F238E27FC236}">
                <a16:creationId xmlns:a16="http://schemas.microsoft.com/office/drawing/2014/main" id="{3715BBF5-BBEE-4A11-A993-0960E964CD4A}"/>
              </a:ext>
            </a:extLst>
          </p:cNvPr>
          <p:cNvSpPr>
            <a:spLocks xmlns:a="http://schemas.openxmlformats.org/drawingml/2006/main" noGrp="1"/>
          </p:cNvSpPr>
          <p:nvPr/>
        </p:nvSpPr>
        <p:spPr>
          <a:xfrm xmlns:a="http://schemas.openxmlformats.org/drawingml/2006/main">
            <a:off x="6172200" y="3638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2B7E6"/>
                </a:solidFill>
                <a:latin typeface="Aptos"/>
                <a:ea typeface="Aptos"/>
                <a:cs typeface="Aptos"/>
              </a:defRPr>
            </a:pPr>
            <a:r>
              <a:rPr sz="1875" b="1">
                <a:solidFill>
                  <a:srgbClr val="12B7E6"/>
                </a:solidFill>
                <a:latin typeface="Aptos"/>
                <a:ea typeface="Aptos"/>
                <a:cs typeface="Aptos"/>
              </a:rPr>
              <a:t>IT / SAP</a:t>
            </a:r>
          </a:p>
        </p:txBody>
      </p:sp>
      <p:sp>
        <p:nvSpPr>
          <p:cNvPr id="11" name="">
            <a:extLst xmlns:a="http://schemas.openxmlformats.org/drawingml/2006/main">
              <a:ext uri="{FF2B5EF4-FFF2-40B4-BE49-F238E27FC236}">
                <a16:creationId xmlns:a16="http://schemas.microsoft.com/office/drawing/2014/main" id="{0E991B01-1FCF-438F-A09D-F774ECAFE1B5}"/>
              </a:ext>
            </a:extLst>
          </p:cNvPr>
          <p:cNvSpPr>
            <a:spLocks xmlns:a="http://schemas.openxmlformats.org/drawingml/2006/main" noGrp="1"/>
          </p:cNvSpPr>
          <p:nvPr/>
        </p:nvSpPr>
        <p:spPr>
          <a:xfrm xmlns:a="http://schemas.openxmlformats.org/drawingml/2006/main">
            <a:off x="6172200" y="405765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a:solidFill>
                  <a:srgbClr val="FFFFFF"/>
                </a:solidFill>
                <a:latin typeface="Aptos"/>
                <a:ea typeface="Aptos"/>
                <a:cs typeface="Aptos"/>
              </a:defRPr>
            </a:pPr>
            <a:r>
              <a:rPr sz="1425" b="0">
                <a:solidFill>
                  <a:srgbClr val="FFFFFF"/>
                </a:solidFill>
                <a:latin typeface="Aptos"/>
                <a:ea typeface="Aptos"/>
                <a:cs typeface="Aptos"/>
              </a:rPr>
              <a:t>Membangun integrasi NOVA, monitoring, retry, security, dan support</a:t>
            </a:r>
          </a:p>
        </p:txBody>
      </p:sp>
      <p:sp>
        <p:nvSpPr>
          <p:cNvPr id="12" name="">
            <a:extLst xmlns:a="http://schemas.openxmlformats.org/drawingml/2006/main">
              <a:ext uri="{FF2B5EF4-FFF2-40B4-BE49-F238E27FC236}">
                <a16:creationId xmlns:a16="http://schemas.microsoft.com/office/drawing/2014/main" id="{60E5F29D-0D38-40C2-9C33-03D8870E7F2D}"/>
              </a:ext>
            </a:extLst>
          </p:cNvPr>
          <p:cNvSpPr>
            <a:spLocks xmlns:a="http://schemas.openxmlformats.org/drawingml/2006/main" noGrp="1"/>
          </p:cNvSpPr>
          <p:nvPr/>
        </p:nvSpPr>
        <p:spPr>
          <a:xfrm xmlns:a="http://schemas.openxmlformats.org/drawingml/2006/main">
            <a:off x="8915400" y="36385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2B7E6"/>
                </a:solidFill>
                <a:latin typeface="Aptos"/>
                <a:ea typeface="Aptos"/>
                <a:cs typeface="Aptos"/>
              </a:defRPr>
            </a:pPr>
            <a:r>
              <a:rPr sz="1875" b="1">
                <a:solidFill>
                  <a:srgbClr val="12B7E6"/>
                </a:solidFill>
                <a:latin typeface="Aptos"/>
                <a:ea typeface="Aptos"/>
                <a:cs typeface="Aptos"/>
              </a:rPr>
              <a:t>Manajemen</a:t>
            </a:r>
          </a:p>
        </p:txBody>
      </p:sp>
      <p:sp>
        <p:nvSpPr>
          <p:cNvPr id="13" name="">
            <a:extLst xmlns:a="http://schemas.openxmlformats.org/drawingml/2006/main">
              <a:ext uri="{FF2B5EF4-FFF2-40B4-BE49-F238E27FC236}">
                <a16:creationId xmlns:a16="http://schemas.microsoft.com/office/drawing/2014/main" id="{F36B5210-ADC4-41E2-9C4D-DB951601C9F6}"/>
              </a:ext>
            </a:extLst>
          </p:cNvPr>
          <p:cNvSpPr>
            <a:spLocks xmlns:a="http://schemas.openxmlformats.org/drawingml/2006/main" noGrp="1"/>
          </p:cNvSpPr>
          <p:nvPr/>
        </p:nvSpPr>
        <p:spPr>
          <a:xfrm xmlns:a="http://schemas.openxmlformats.org/drawingml/2006/main">
            <a:off x="8915400" y="4057650"/>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a:solidFill>
                  <a:srgbClr val="FFFFFF"/>
                </a:solidFill>
                <a:latin typeface="Aptos"/>
                <a:ea typeface="Aptos"/>
                <a:cs typeface="Aptos"/>
              </a:defRPr>
            </a:pPr>
            <a:r>
              <a:rPr sz="1425" b="0">
                <a:solidFill>
                  <a:srgbClr val="FFFFFF"/>
                </a:solidFill>
                <a:latin typeface="Aptos"/>
                <a:ea typeface="Aptos"/>
                <a:cs typeface="Aptos"/>
              </a:rPr>
              <a:t>Menyetujui arah single source of truth dan scope pilot</a:t>
            </a:r>
          </a:p>
        </p:txBody>
      </p:sp>
      <p:sp>
        <p:nvSpPr>
          <p:cNvPr id="14" name="">
            <a:extLst xmlns:a="http://schemas.openxmlformats.org/drawingml/2006/main">
              <a:ext uri="{FF2B5EF4-FFF2-40B4-BE49-F238E27FC236}">
                <a16:creationId xmlns:a16="http://schemas.microsoft.com/office/drawing/2014/main" id="{3B4496EE-DD00-406A-8375-C8ABAC593F8B}"/>
              </a:ext>
            </a:extLst>
          </p:cNvPr>
          <p:cNvSpPr>
            <a:spLocks xmlns:a="http://schemas.openxmlformats.org/drawingml/2006/main" noGrp="1"/>
          </p:cNvSpPr>
          <p:nvPr/>
        </p:nvSpPr>
        <p:spPr>
          <a:xfrm xmlns:a="http://schemas.openxmlformats.org/drawingml/2006/main">
            <a:off x="685800" y="5372100"/>
            <a:ext cx="108204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888E7F6-EC76-4AD4-A460-BA4C26300A0B}"/>
              </a:ext>
            </a:extLst>
          </p:cNvPr>
          <p:cNvSpPr>
            <a:spLocks xmlns:a="http://schemas.openxmlformats.org/drawingml/2006/main" noGrp="1"/>
          </p:cNvSpPr>
          <p:nvPr/>
        </p:nvSpPr>
        <p:spPr>
          <a:xfrm xmlns:a="http://schemas.openxmlformats.org/drawingml/2006/main">
            <a:off x="1066800" y="5534025"/>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750"/>
          </a:bodyPr>
          <a:lstStyle xmlns:a="http://schemas.openxmlformats.org/drawingml/2006/main"/>
          <a:p xmlns:a="http://schemas.openxmlformats.org/drawingml/2006/main">
            <a:pPr algn="ctr">
              <a:lnSpc>
                <a:spcPct val="100000"/>
              </a:lnSpc>
              <a:buNone/>
              <a:defRPr sz="1875" b="1">
                <a:solidFill>
                  <a:srgbClr val="071A2B"/>
                </a:solidFill>
                <a:latin typeface="Aptos"/>
                <a:ea typeface="Aptos"/>
                <a:cs typeface="Aptos"/>
              </a:defRPr>
            </a:pPr>
            <a:r>
              <a:rPr sz="1875" b="1">
                <a:solidFill>
                  <a:srgbClr val="071A2B"/>
                </a:solidFill>
                <a:latin typeface="Aptos"/>
                <a:ea typeface="Aptos"/>
                <a:cs typeface="Aptos"/>
              </a:rPr>
              <a:t>Target akhir: operator bekerja melalui NOVA, seluruh transaksi tercatat di SAP, dan organisasi memakai satu data yang sama.</a:t>
            </a:r>
          </a:p>
        </p:txBody>
      </p:sp>
      <p:sp>
        <p:nvSpPr>
          <p:cNvPr id="16" name="">
            <a:extLst xmlns:a="http://schemas.openxmlformats.org/drawingml/2006/main">
              <a:ext uri="{FF2B5EF4-FFF2-40B4-BE49-F238E27FC236}">
                <a16:creationId xmlns:a16="http://schemas.microsoft.com/office/drawing/2014/main" id="{2A7196C1-5328-41E0-BF79-715BFAE8BC0E}"/>
              </a:ext>
            </a:extLst>
          </p:cNvPr>
          <p:cNvSpPr>
            <a:spLocks xmlns:a="http://schemas.openxmlformats.org/drawingml/2006/main" noGrp="1"/>
          </p:cNvSpPr>
          <p:nvPr/>
        </p:nvSpPr>
        <p:spPr>
          <a:xfrm xmlns:a="http://schemas.openxmlformats.org/drawingml/2006/main">
            <a:off x="10972800" y="643890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1">
                <a:solidFill>
                  <a:srgbClr val="12B7E6"/>
                </a:solidFill>
                <a:latin typeface="Aptos"/>
                <a:ea typeface="Aptos"/>
                <a:cs typeface="Aptos"/>
              </a:defRPr>
            </a:pPr>
            <a:r>
              <a:rPr sz="1050" b="1">
                <a:solidFill>
                  <a:srgbClr val="12B7E6"/>
                </a:solidFill>
                <a:latin typeface="Aptos"/>
                <a:ea typeface="Aptos"/>
                <a:cs typeface="Aptos"/>
              </a:rPr>
              <a:t>08</a:t>
            </a:r>
          </a:p>
        </p:txBody>
      </p:sp>
    </p:spTree>
    <p:extLst>
      <p:ext uri="{BB962C8B-B14F-4D97-AF65-F5344CB8AC3E}">
        <p14:creationId xmlns:p14="http://schemas.microsoft.com/office/powerpoint/2010/main" val="6050850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2026-09-23T06:47:43.4090000Z</dcterms:created>
  <dcterms:modified xsi:type="dcterms:W3CDTF">2026-09-23T06:47:43.4090000Z</dcterms:modified>
</coreProperties>
</file>