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7a04589ca24693" /><Relationship Type="http://schemas.openxmlformats.org/officeDocument/2006/relationships/extended-properties" Target="/docProps/app.xml" Id="R99f3eedc90a64485" /><Relationship Type="http://schemas.openxmlformats.org/officeDocument/2006/relationships/officeDocument" Target="/ppt/presentation.xml" Id="Rf05dde06b85b435d" /></Relationships>
</file>

<file path=ppt/presentation.xml><?xml version="1.0" encoding="utf-8"?>
<p:presentation xmlns:p="http://schemas.openxmlformats.org/presentationml/2006/main">
  <p:sldMasterIdLst>
    <p:sldMasterId xmlns:r="http://schemas.openxmlformats.org/officeDocument/2006/relationships" id="2147483648" r:id="R55e707fce3554dd8"/>
  </p:sldMasterIdLst>
  <p:notesMasterIdLst>
    <p:notesMasterId xmlns:r="http://schemas.openxmlformats.org/officeDocument/2006/relationships" r:id="Rd074c55c15ff4e10"/>
  </p:notesMasterIdLst>
  <p:sldIdLst>
    <p:sldId xmlns:r="http://schemas.openxmlformats.org/officeDocument/2006/relationships" id="256" r:id="Rd91c1715f590479c"/>
    <p:sldId xmlns:r="http://schemas.openxmlformats.org/officeDocument/2006/relationships" id="257" r:id="R2e1327104bb94d1b"/>
    <p:sldId xmlns:r="http://schemas.openxmlformats.org/officeDocument/2006/relationships" id="258" r:id="Rbbd01f36b7cf41fd"/>
    <p:sldId xmlns:r="http://schemas.openxmlformats.org/officeDocument/2006/relationships" id="259" r:id="Ra4e4a8431e1e4a9f"/>
    <p:sldId xmlns:r="http://schemas.openxmlformats.org/officeDocument/2006/relationships" id="260" r:id="Rd88bd8bc09c044ff"/>
    <p:sldId xmlns:r="http://schemas.openxmlformats.org/officeDocument/2006/relationships" id="261" r:id="Rf4bb69841d1148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bb291291a34381" /><Relationship Type="http://schemas.openxmlformats.org/officeDocument/2006/relationships/slideMaster" Target="/ppt/slideMasters/slideMaster1.xml" Id="R55e707fce3554dd8" /><Relationship Type="http://schemas.openxmlformats.org/officeDocument/2006/relationships/notesMaster" Target="/ppt/notesMasters/notesMaster1.xml" Id="Rd074c55c15ff4e10" /><Relationship Type="http://schemas.openxmlformats.org/officeDocument/2006/relationships/presProps" Target="/ppt/presProps.xml" Id="Rdf3ba287265d4c0d" /><Relationship Type="http://schemas.openxmlformats.org/officeDocument/2006/relationships/tableStyles" Target="/ppt/tableStyles.xml" Id="Rfafa2b2b436b4ee6" /><Relationship Type="http://schemas.openxmlformats.org/officeDocument/2006/relationships/slide" Target="/ppt/slides/slide1.xml" Id="Rd91c1715f590479c" /><Relationship Type="http://schemas.openxmlformats.org/officeDocument/2006/relationships/slide" Target="/ppt/slides/slide2.xml" Id="R2e1327104bb94d1b" /><Relationship Type="http://schemas.openxmlformats.org/officeDocument/2006/relationships/slide" Target="/ppt/slides/slide3.xml" Id="Rbbd01f36b7cf41fd" /><Relationship Type="http://schemas.openxmlformats.org/officeDocument/2006/relationships/slide" Target="/ppt/slides/slide4.xml" Id="Ra4e4a8431e1e4a9f" /><Relationship Type="http://schemas.openxmlformats.org/officeDocument/2006/relationships/slide" Target="/ppt/slides/slide5.xml" Id="Rd88bd8bc09c044ff" /><Relationship Type="http://schemas.openxmlformats.org/officeDocument/2006/relationships/slide" Target="/ppt/slides/slide6.xml" Id="Rf4bb69841d1148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415dfbe7ef42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2a7ac5a8d64346" /><Relationship Type="http://schemas.openxmlformats.org/officeDocument/2006/relationships/notesMaster" Target="/ppt/notesMasters/notesMaster1.xml" Id="R1aaeead7b6da42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1120afdc6441e3" /><Relationship Type="http://schemas.openxmlformats.org/officeDocument/2006/relationships/notesMaster" Target="/ppt/notesMasters/notesMaster1.xml" Id="Rb254466fba574f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7d93cb7a0a42e0" /><Relationship Type="http://schemas.openxmlformats.org/officeDocument/2006/relationships/notesMaster" Target="/ppt/notesMasters/notesMaster1.xml" Id="R21a326dc32af40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0ef741f76a465d" /><Relationship Type="http://schemas.openxmlformats.org/officeDocument/2006/relationships/notesMaster" Target="/ppt/notesMasters/notesMaster1.xml" Id="Rf178a781607245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9ac1a87e484606" /><Relationship Type="http://schemas.openxmlformats.org/officeDocument/2006/relationships/notesMaster" Target="/ppt/notesMasters/notesMaster1.xml" Id="Rd49b2372a3ee42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f25c2abfc4424e" /><Relationship Type="http://schemas.openxmlformats.org/officeDocument/2006/relationships/notesMaster" Target="/ppt/notesMasters/notesMaster1.xml" Id="Re794eb62c35b4f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proposal connects the ANSEI production flow to SAP through NOVA. NOVA remains the shopfloor interface. SAP holds the business transactions and inventory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concern was ownership. IT and Accounting have now confirmed that SAP can support the ANSEI case with the right setup. The request is to move the formal discussion forward, led by Production and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ANSEI sequence runs from incoming material through production release, material picking, production result, Poka-Yoke, delivery, and release close. SAP does not receive the matching transactions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transaction sequence. NOVA controls the line process and sends completed events to SAP. SAP returns a document number for each posting. Poka-Yoke remains a quality gate, and the order closes only after every PO and label has been delivered and posted.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SAP sends the master data and production orders needed on the line. NOVA returns the completed business events. NOVA may hold technical queue and monitoring data, but SAP remains the source for inventory balances and accounting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transaction points are material receipt, material consumption, production output, and finished goods delivery. Accounting and the SAP team will decide the exact document types and account setup. The management decision today is to support the formal request and design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053daa19e846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ce161842964589" /><Relationship Type="http://schemas.openxmlformats.org/officeDocument/2006/relationships/slideLayout" Target="/ppt/slideLayouts/slideLayout1.xml" Id="R22b7802fd1e843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b7802fd1e843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321f5e92ec40f9" /><Relationship Type="http://schemas.openxmlformats.org/officeDocument/2006/relationships/image" Target="/ppt/media/image.png" Id="Ra3ea573b76974bdb" /><Relationship Type="http://schemas.openxmlformats.org/officeDocument/2006/relationships/image" Target="/ppt/media/image2.png" Id="R5bb037ef7980403d" /><Relationship Type="http://schemas.openxmlformats.org/officeDocument/2006/relationships/notesSlide" Target="/ppt/notesSlides/notesSlide1.xml" Id="R1da12db3265549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54848d29fc47cd" /><Relationship Type="http://schemas.openxmlformats.org/officeDocument/2006/relationships/notesSlide" Target="/ppt/notesSlides/notesSlide2.xml" Id="Rdb01f477784f40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c8792ab9994316" /><Relationship Type="http://schemas.openxmlformats.org/officeDocument/2006/relationships/notesSlide" Target="/ppt/notesSlides/notesSlide3.xml" Id="R0428ee7f316241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0e80dcb83046fc" /><Relationship Type="http://schemas.openxmlformats.org/officeDocument/2006/relationships/notesSlide" Target="/ppt/notesSlides/notesSlide4.xml" Id="R0e57dc597b6a42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d2c18040f14e78" /><Relationship Type="http://schemas.openxmlformats.org/officeDocument/2006/relationships/notesSlide" Target="/ppt/notesSlides/notesSlide5.xml" Id="R72368c4a58c54b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71e1c063084c47" /><Relationship Type="http://schemas.openxmlformats.org/officeDocument/2006/relationships/notesSlide" Target="/ppt/notesSlides/notesSlide6.xml" Id="Rd3985764787d4226"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3ea573b76974b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bb037ef7980403d"/>
          <a:stretch xmlns:a="http://schemas.openxmlformats.org/drawingml/2006/main"/>
        </p:blipFill>
        <p:spPr>
          <a:xfrm xmlns:a="http://schemas.openxmlformats.org/drawingml/2006/main">
            <a:off x="696776" y="495300"/>
            <a:ext cx="2702199" cy="1066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9A9A4D-2634-4664-A3D4-B1118AC58CB2}"/>
              </a:ext>
            </a:extLst>
          </p:cNvPr>
          <p:cNvSpPr>
            <a:spLocks xmlns:a="http://schemas.openxmlformats.org/drawingml/2006/main" noGrp="1"/>
          </p:cNvSpPr>
          <p:nvPr/>
        </p:nvSpPr>
        <p:spPr>
          <a:xfrm xmlns:a="http://schemas.openxmlformats.org/drawingml/2006/main">
            <a:off x="685800" y="1809750"/>
            <a:ext cx="2114550" cy="285750"/>
          </a:xfrm>
          <a:prstGeom xmlns:a="http://schemas.openxmlformats.org/drawingml/2006/main" prst="roundRect">
            <a:avLst>
              <a:gd name="adj" fmla="val 26667"/>
            </a:avLst>
          </a:prstGeom>
          <a:solidFill xmlns:a="http://schemas.openxmlformats.org/drawingml/2006/main">
            <a:srgbClr val="D94141"/>
          </a:solidFill>
          <a:ln xmlns:a="http://schemas.openxmlformats.org/drawingml/2006/main" w="0">
            <a:noFill/>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MANAGEMENT PROPOSAL</a:t>
            </a:r>
          </a:p>
        </p:txBody>
      </p:sp>
      <p:sp>
        <p:nvSpPr>
          <p:cNvPr id="4" name="">
            <a:extLst xmlns:a="http://schemas.openxmlformats.org/drawingml/2006/main">
              <a:ext uri="{FF2B5EF4-FFF2-40B4-BE49-F238E27FC236}">
                <a16:creationId xmlns:a16="http://schemas.microsoft.com/office/drawing/2014/main" id="{04E8B118-6993-4796-A6E4-1A5E59F85EBE}"/>
              </a:ext>
            </a:extLst>
          </p:cNvPr>
          <p:cNvSpPr>
            <a:spLocks xmlns:a="http://schemas.openxmlformats.org/drawingml/2006/main" noGrp="1"/>
          </p:cNvSpPr>
          <p:nvPr/>
        </p:nvSpPr>
        <p:spPr>
          <a:xfrm xmlns:a="http://schemas.openxmlformats.org/drawingml/2006/main">
            <a:off x="685800" y="2266950"/>
            <a:ext cx="5334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Connecting ANSEI</a:t>
            </a:r>
          </a:p>
          <a:p xmlns:a="http://schemas.openxmlformats.org/drawingml/2006/main">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Production to SAP</a:t>
            </a:r>
          </a:p>
        </p:txBody>
      </p:sp>
      <p:sp>
        <p:nvSpPr>
          <p:cNvPr id="5" name="">
            <a:extLst xmlns:a="http://schemas.openxmlformats.org/drawingml/2006/main">
              <a:ext uri="{FF2B5EF4-FFF2-40B4-BE49-F238E27FC236}">
                <a16:creationId xmlns:a16="http://schemas.microsoft.com/office/drawing/2014/main" id="{AD39FB92-40CE-4D5B-B9BF-59B4CB026361}"/>
              </a:ext>
            </a:extLst>
          </p:cNvPr>
          <p:cNvSpPr>
            <a:spLocks xmlns:a="http://schemas.openxmlformats.org/drawingml/2006/main" noGrp="1"/>
          </p:cNvSpPr>
          <p:nvPr/>
        </p:nvSpPr>
        <p:spPr>
          <a:xfrm xmlns:a="http://schemas.openxmlformats.org/drawingml/2006/main">
            <a:off x="704850" y="40005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FE8F7"/>
                </a:solidFill>
                <a:latin typeface="Aptos"/>
                <a:ea typeface="Aptos"/>
                <a:cs typeface="Aptos"/>
              </a:defRPr>
            </a:pPr>
            <a:r>
              <a:rPr sz="1875" b="0">
                <a:solidFill>
                  <a:srgbClr val="CFE8F7"/>
                </a:solidFill>
                <a:latin typeface="Aptos"/>
                <a:ea typeface="Aptos"/>
                <a:cs typeface="Aptos"/>
              </a:rPr>
              <a:t>NOVA as the shopfloor and MES layer</a:t>
            </a:r>
          </a:p>
        </p:txBody>
      </p:sp>
      <p:sp>
        <p:nvSpPr>
          <p:cNvPr id="6" name="">
            <a:extLst xmlns:a="http://schemas.openxmlformats.org/drawingml/2006/main">
              <a:ext uri="{FF2B5EF4-FFF2-40B4-BE49-F238E27FC236}">
                <a16:creationId xmlns:a16="http://schemas.microsoft.com/office/drawing/2014/main" id="{039A7D4D-06F6-4576-9B25-38BE8FBD6EB0}"/>
              </a:ext>
            </a:extLst>
          </p:cNvPr>
          <p:cNvSpPr>
            <a:spLocks xmlns:a="http://schemas.openxmlformats.org/drawingml/2006/main" noGrp="1"/>
          </p:cNvSpPr>
          <p:nvPr/>
        </p:nvSpPr>
        <p:spPr>
          <a:xfrm xmlns:a="http://schemas.openxmlformats.org/drawingml/2006/main">
            <a:off x="695325" y="4695825"/>
            <a:ext cx="800100" cy="47625"/>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DE42AB-7AD6-4BA2-BDB6-68B8C9EF4C9F}"/>
              </a:ext>
            </a:extLst>
          </p:cNvPr>
          <p:cNvSpPr>
            <a:spLocks xmlns:a="http://schemas.openxmlformats.org/drawingml/2006/main" noGrp="1"/>
          </p:cNvSpPr>
          <p:nvPr/>
        </p:nvSpPr>
        <p:spPr>
          <a:xfrm xmlns:a="http://schemas.openxmlformats.org/drawingml/2006/main">
            <a:off x="704850" y="495300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One business record in SAP</a:t>
            </a:r>
          </a:p>
        </p:txBody>
      </p:sp>
      <p:sp>
        <p:nvSpPr>
          <p:cNvPr id="8" name="">
            <a:extLst xmlns:a="http://schemas.openxmlformats.org/drawingml/2006/main">
              <a:ext uri="{FF2B5EF4-FFF2-40B4-BE49-F238E27FC236}">
                <a16:creationId xmlns:a16="http://schemas.microsoft.com/office/drawing/2014/main" id="{8F354FDB-EA48-4C4D-81EF-700490F5AFB3}"/>
              </a:ext>
            </a:extLst>
          </p:cNvPr>
          <p:cNvSpPr>
            <a:spLocks xmlns:a="http://schemas.openxmlformats.org/drawingml/2006/main" noGrp="1"/>
          </p:cNvSpPr>
          <p:nvPr/>
        </p:nvSpPr>
        <p:spPr>
          <a:xfrm xmlns:a="http://schemas.openxmlformats.org/drawingml/2006/main">
            <a:off x="704850" y="61150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IT and Accounting</a:t>
            </a:r>
          </a:p>
          <a:p xmlns:a="http://schemas.openxmlformats.org/drawingml/2006/main">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September 2026</a:t>
            </a:r>
          </a:p>
        </p:txBody>
      </p:sp>
    </p:spTree>
    <p:extLst>
      <p:ext uri="{BB962C8B-B14F-4D97-AF65-F5344CB8AC3E}">
        <p14:creationId xmlns:p14="http://schemas.microsoft.com/office/powerpoint/2010/main" val="18406816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FAA6D1-F2E6-4630-AF0F-465E56BC0F1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30C48A-084B-4E13-B54B-B721247D8C84}"/>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What we are proposing</a:t>
            </a:r>
          </a:p>
        </p:txBody>
      </p:sp>
      <p:sp>
        <p:nvSpPr>
          <p:cNvPr id="3" name="">
            <a:extLst xmlns:a="http://schemas.openxmlformats.org/drawingml/2006/main">
              <a:ext uri="{FF2B5EF4-FFF2-40B4-BE49-F238E27FC236}">
                <a16:creationId xmlns:a16="http://schemas.microsoft.com/office/drawing/2014/main" id="{C16111C4-F5FC-4350-AD43-1EC5F3CEAC1A}"/>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Move ANSEI production transactions into SAP while keeping NOVA focused on shopfloor execution</a:t>
            </a:r>
          </a:p>
        </p:txBody>
      </p:sp>
      <p:sp>
        <p:nvSpPr>
          <p:cNvPr id="4" name="">
            <a:extLst xmlns:a="http://schemas.openxmlformats.org/drawingml/2006/main">
              <a:ext uri="{FF2B5EF4-FFF2-40B4-BE49-F238E27FC236}">
                <a16:creationId xmlns:a16="http://schemas.microsoft.com/office/drawing/2014/main" id="{995A1BC1-D4A3-491B-8CB3-42A8386C87E2}"/>
              </a:ext>
            </a:extLst>
          </p:cNvPr>
          <p:cNvSpPr>
            <a:spLocks xmlns:a="http://schemas.openxmlformats.org/drawingml/2006/main" noGrp="1"/>
          </p:cNvSpPr>
          <p:nvPr/>
        </p:nvSpPr>
        <p:spPr>
          <a:xfrm xmlns:a="http://schemas.openxmlformats.org/drawingml/2006/main">
            <a:off x="723900" y="15811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D94141"/>
                </a:solidFill>
                <a:latin typeface="Aptos"/>
                <a:ea typeface="Aptos"/>
                <a:cs typeface="Aptos"/>
              </a:defRPr>
            </a:pPr>
            <a:r>
              <a:rPr sz="2100" b="1">
                <a:solidFill>
                  <a:srgbClr val="D94141"/>
                </a:solidFill>
                <a:latin typeface="Aptos"/>
                <a:ea typeface="Aptos"/>
                <a:cs typeface="Aptos"/>
              </a:rPr>
              <a:t>Why this matters</a:t>
            </a:r>
          </a:p>
        </p:txBody>
      </p:sp>
      <p:sp>
        <p:nvSpPr>
          <p:cNvPr id="5" name="">
            <a:extLst xmlns:a="http://schemas.openxmlformats.org/drawingml/2006/main">
              <a:ext uri="{FF2B5EF4-FFF2-40B4-BE49-F238E27FC236}">
                <a16:creationId xmlns:a16="http://schemas.microsoft.com/office/drawing/2014/main" id="{6CCC6C70-470A-4E34-8526-47FB296DA91F}"/>
              </a:ext>
            </a:extLst>
          </p:cNvPr>
          <p:cNvSpPr>
            <a:spLocks xmlns:a="http://schemas.openxmlformats.org/drawingml/2006/main" noGrp="1"/>
          </p:cNvSpPr>
          <p:nvPr/>
        </p:nvSpPr>
        <p:spPr>
          <a:xfrm xmlns:a="http://schemas.openxmlformats.org/drawingml/2006/main">
            <a:off x="5905500" y="1524000"/>
            <a:ext cx="0" cy="3638550"/>
          </a:xfrm>
          <a:prstGeom xmlns:a="http://schemas.openxmlformats.org/drawingml/2006/main" prst="line">
            <a:avLst/>
          </a:prstGeom>
          <a:noFill xmlns:a="http://schemas.openxmlformats.org/drawingml/2006/main"/>
          <a:ln xmlns:a="http://schemas.openxmlformats.org/drawingml/2006/main" w="19050">
            <a:solidFill>
              <a:srgbClr val="D5DEE6"/>
            </a:solidFill>
            <a:prstDash val="solid"/>
          </a:ln>
        </p:spPr>
      </p:sp>
      <p:sp>
        <p:nvSpPr>
          <p:cNvPr id="6" name="">
            <a:extLst xmlns:a="http://schemas.openxmlformats.org/drawingml/2006/main">
              <a:ext uri="{FF2B5EF4-FFF2-40B4-BE49-F238E27FC236}">
                <a16:creationId xmlns:a16="http://schemas.microsoft.com/office/drawing/2014/main" id="{492BCBC8-D25E-418B-BCA6-E73E4E61103C}"/>
              </a:ext>
            </a:extLst>
          </p:cNvPr>
          <p:cNvSpPr>
            <a:spLocks xmlns:a="http://schemas.openxmlformats.org/drawingml/2006/main" noGrp="1"/>
          </p:cNvSpPr>
          <p:nvPr/>
        </p:nvSpPr>
        <p:spPr>
          <a:xfrm xmlns:a="http://schemas.openxmlformats.org/drawingml/2006/main">
            <a:off x="723900" y="2286000"/>
            <a:ext cx="95250" cy="9525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DDA2FB-DD2B-4DF4-892E-8540AD170133}"/>
              </a:ext>
            </a:extLst>
          </p:cNvPr>
          <p:cNvSpPr>
            <a:spLocks xmlns:a="http://schemas.openxmlformats.org/drawingml/2006/main" noGrp="1"/>
          </p:cNvSpPr>
          <p:nvPr/>
        </p:nvSpPr>
        <p:spPr>
          <a:xfrm xmlns:a="http://schemas.openxmlformats.org/drawingml/2006/main">
            <a:off x="933450" y="2209800"/>
            <a:ext cx="441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ANSEI production data still sits outside SAP, with Excel used for reporting and handoffs.</a:t>
            </a:r>
          </a:p>
        </p:txBody>
      </p:sp>
      <p:sp>
        <p:nvSpPr>
          <p:cNvPr id="8" name="">
            <a:extLst xmlns:a="http://schemas.openxmlformats.org/drawingml/2006/main">
              <a:ext uri="{FF2B5EF4-FFF2-40B4-BE49-F238E27FC236}">
                <a16:creationId xmlns:a16="http://schemas.microsoft.com/office/drawing/2014/main" id="{6DC8575F-1AB5-4409-9131-6DD48AFA6DCB}"/>
              </a:ext>
            </a:extLst>
          </p:cNvPr>
          <p:cNvSpPr>
            <a:spLocks xmlns:a="http://schemas.openxmlformats.org/drawingml/2006/main" noGrp="1"/>
          </p:cNvSpPr>
          <p:nvPr/>
        </p:nvSpPr>
        <p:spPr>
          <a:xfrm xmlns:a="http://schemas.openxmlformats.org/drawingml/2006/main">
            <a:off x="723900" y="3352800"/>
            <a:ext cx="95250" cy="95250"/>
          </a:xfrm>
          <a:prstGeom xmlns:a="http://schemas.openxmlformats.org/drawingml/2006/main" prst="ellipse">
            <a:avLst/>
          </a:prstGeom>
          <a:solidFill xmlns:a="http://schemas.openxmlformats.org/drawingml/2006/main">
            <a:srgbClr val="D941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730CC7-2334-4A2F-A342-FD2B7942E8B5}"/>
              </a:ext>
            </a:extLst>
          </p:cNvPr>
          <p:cNvSpPr>
            <a:spLocks xmlns:a="http://schemas.openxmlformats.org/drawingml/2006/main" noGrp="1"/>
          </p:cNvSpPr>
          <p:nvPr/>
        </p:nvSpPr>
        <p:spPr>
          <a:xfrm xmlns:a="http://schemas.openxmlformats.org/drawingml/2006/main">
            <a:off x="933450" y="3276600"/>
            <a:ext cx="4419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Teams have to reconcile separate records, and SAP has no complete view of ANSEI material and finished goods movements.</a:t>
            </a:r>
          </a:p>
        </p:txBody>
      </p:sp>
      <p:sp>
        <p:nvSpPr>
          <p:cNvPr id="10" name="">
            <a:extLst xmlns:a="http://schemas.openxmlformats.org/drawingml/2006/main">
              <a:ext uri="{FF2B5EF4-FFF2-40B4-BE49-F238E27FC236}">
                <a16:creationId xmlns:a16="http://schemas.microsoft.com/office/drawing/2014/main" id="{4C2F5498-BB4C-4111-9787-A9451E2AAD1A}"/>
              </a:ext>
            </a:extLst>
          </p:cNvPr>
          <p:cNvSpPr>
            <a:spLocks xmlns:a="http://schemas.openxmlformats.org/drawingml/2006/main" noGrp="1"/>
          </p:cNvSpPr>
          <p:nvPr/>
        </p:nvSpPr>
        <p:spPr>
          <a:xfrm xmlns:a="http://schemas.openxmlformats.org/drawingml/2006/main">
            <a:off x="6457950" y="15811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3845B"/>
                </a:solidFill>
                <a:latin typeface="Aptos"/>
                <a:ea typeface="Aptos"/>
                <a:cs typeface="Aptos"/>
              </a:defRPr>
            </a:pPr>
            <a:r>
              <a:rPr sz="2100" b="1">
                <a:solidFill>
                  <a:srgbClr val="23845B"/>
                </a:solidFill>
                <a:latin typeface="Aptos"/>
                <a:ea typeface="Aptos"/>
                <a:cs typeface="Aptos"/>
              </a:rPr>
              <a:t>What changed</a:t>
            </a:r>
          </a:p>
        </p:txBody>
      </p:sp>
      <p:sp>
        <p:nvSpPr>
          <p:cNvPr id="11" name="">
            <a:extLst xmlns:a="http://schemas.openxmlformats.org/drawingml/2006/main">
              <a:ext uri="{FF2B5EF4-FFF2-40B4-BE49-F238E27FC236}">
                <a16:creationId xmlns:a16="http://schemas.microsoft.com/office/drawing/2014/main" id="{01A6600E-96AB-4E1A-AD39-6128B166A514}"/>
              </a:ext>
            </a:extLst>
          </p:cNvPr>
          <p:cNvSpPr>
            <a:spLocks xmlns:a="http://schemas.openxmlformats.org/drawingml/2006/main" noGrp="1"/>
          </p:cNvSpPr>
          <p:nvPr/>
        </p:nvSpPr>
        <p:spPr>
          <a:xfrm xmlns:a="http://schemas.openxmlformats.org/drawingml/2006/main">
            <a:off x="6457950" y="22860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E30C06-B2D2-413E-8A77-5C538D30C7A6}"/>
              </a:ext>
            </a:extLst>
          </p:cNvPr>
          <p:cNvSpPr>
            <a:spLocks xmlns:a="http://schemas.openxmlformats.org/drawingml/2006/main" noGrp="1"/>
          </p:cNvSpPr>
          <p:nvPr/>
        </p:nvSpPr>
        <p:spPr>
          <a:xfrm xmlns:a="http://schemas.openxmlformats.org/drawingml/2006/main">
            <a:off x="6667500" y="2209800"/>
            <a:ext cx="4552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IT and Accounting tested the ANSEI scenario in SAP. SAP can handle it with the right ownership and valuation setup.</a:t>
            </a:r>
          </a:p>
        </p:txBody>
      </p:sp>
      <p:sp>
        <p:nvSpPr>
          <p:cNvPr id="13" name="">
            <a:extLst xmlns:a="http://schemas.openxmlformats.org/drawingml/2006/main">
              <a:ext uri="{FF2B5EF4-FFF2-40B4-BE49-F238E27FC236}">
                <a16:creationId xmlns:a16="http://schemas.microsoft.com/office/drawing/2014/main" id="{CED521B1-6DE3-4957-AF1A-B77BD4491251}"/>
              </a:ext>
            </a:extLst>
          </p:cNvPr>
          <p:cNvSpPr>
            <a:spLocks xmlns:a="http://schemas.openxmlformats.org/drawingml/2006/main" noGrp="1"/>
          </p:cNvSpPr>
          <p:nvPr/>
        </p:nvSpPr>
        <p:spPr>
          <a:xfrm xmlns:a="http://schemas.openxmlformats.org/drawingml/2006/main">
            <a:off x="6457950" y="35433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7CAFA67-C8F3-47A4-8381-FABEE829905F}"/>
              </a:ext>
            </a:extLst>
          </p:cNvPr>
          <p:cNvSpPr>
            <a:spLocks xmlns:a="http://schemas.openxmlformats.org/drawingml/2006/main" noGrp="1"/>
          </p:cNvSpPr>
          <p:nvPr/>
        </p:nvSpPr>
        <p:spPr>
          <a:xfrm xmlns:a="http://schemas.openxmlformats.org/drawingml/2006/main">
            <a:off x="6667500" y="3467100"/>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NOVA can run the shopfloor process while SAP records the actual business transactions.</a:t>
            </a:r>
          </a:p>
        </p:txBody>
      </p:sp>
      <p:sp>
        <p:nvSpPr>
          <p:cNvPr id="15" name="">
            <a:extLst xmlns:a="http://schemas.openxmlformats.org/drawingml/2006/main">
              <a:ext uri="{FF2B5EF4-FFF2-40B4-BE49-F238E27FC236}">
                <a16:creationId xmlns:a16="http://schemas.microsoft.com/office/drawing/2014/main" id="{DDA941FB-6224-4A2B-B088-2BFC6A58FF7C}"/>
              </a:ext>
            </a:extLst>
          </p:cNvPr>
          <p:cNvSpPr>
            <a:spLocks xmlns:a="http://schemas.openxmlformats.org/drawingml/2006/main" noGrp="1"/>
          </p:cNvSpPr>
          <p:nvPr/>
        </p:nvSpPr>
        <p:spPr>
          <a:xfrm xmlns:a="http://schemas.openxmlformats.org/drawingml/2006/main">
            <a:off x="1314450" y="5010150"/>
            <a:ext cx="9563100" cy="1009650"/>
          </a:xfrm>
          <a:prstGeom xmlns:a="http://schemas.openxmlformats.org/drawingml/2006/main" prst="roundRect">
            <a:avLst>
              <a:gd name="adj" fmla="val 7547"/>
            </a:avLst>
          </a:prstGeom>
          <a:solidFill xmlns:a="http://schemas.openxmlformats.org/drawingml/2006/main">
            <a:srgbClr val="0E2C4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D4601B8-4FD7-42B3-83DE-9A45FBDE06AB}"/>
              </a:ext>
            </a:extLst>
          </p:cNvPr>
          <p:cNvSpPr>
            <a:spLocks xmlns:a="http://schemas.openxmlformats.org/drawingml/2006/main" noGrp="1"/>
          </p:cNvSpPr>
          <p:nvPr/>
        </p:nvSpPr>
        <p:spPr>
          <a:xfrm xmlns:a="http://schemas.openxmlformats.org/drawingml/2006/main">
            <a:off x="1657350" y="5200650"/>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2B7E6"/>
                </a:solidFill>
                <a:latin typeface="Aptos"/>
                <a:ea typeface="Aptos"/>
                <a:cs typeface="Aptos"/>
              </a:defRPr>
            </a:pPr>
            <a:r>
              <a:rPr sz="1650" b="1">
                <a:solidFill>
                  <a:srgbClr val="12B7E6"/>
                </a:solidFill>
                <a:latin typeface="Aptos"/>
                <a:ea typeface="Aptos"/>
                <a:cs typeface="Aptos"/>
              </a:rPr>
              <a:t>What we need from management</a:t>
            </a:r>
          </a:p>
        </p:txBody>
      </p:sp>
      <p:sp>
        <p:nvSpPr>
          <p:cNvPr id="17" name="">
            <a:extLst xmlns:a="http://schemas.openxmlformats.org/drawingml/2006/main">
              <a:ext uri="{FF2B5EF4-FFF2-40B4-BE49-F238E27FC236}">
                <a16:creationId xmlns:a16="http://schemas.microsoft.com/office/drawing/2014/main" id="{36DC60FF-F401-428F-9B1F-76C01D63BC10}"/>
              </a:ext>
            </a:extLst>
          </p:cNvPr>
          <p:cNvSpPr>
            <a:spLocks xmlns:a="http://schemas.openxmlformats.org/drawingml/2006/main" noGrp="1"/>
          </p:cNvSpPr>
          <p:nvPr/>
        </p:nvSpPr>
        <p:spPr>
          <a:xfrm xmlns:a="http://schemas.openxmlformats.org/drawingml/2006/main">
            <a:off x="1657350" y="5562600"/>
            <a:ext cx="8591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102"/>
          </a:bodyPr>
          <a:lstStyle xmlns:a="http://schemas.openxmlformats.org/drawingml/2006/main"/>
          <a:p xmlns:a="http://schemas.openxmlformats.org/drawingml/2006/main">
            <a:pPr algn="ctr">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Support Production in submitting the formal request to Accounting so the SAP design can move forward.</a:t>
            </a:r>
          </a:p>
        </p:txBody>
      </p:sp>
      <p:sp>
        <p:nvSpPr>
          <p:cNvPr id="18" name="">
            <a:extLst xmlns:a="http://schemas.openxmlformats.org/drawingml/2006/main">
              <a:ext uri="{FF2B5EF4-FFF2-40B4-BE49-F238E27FC236}">
                <a16:creationId xmlns:a16="http://schemas.microsoft.com/office/drawing/2014/main" id="{B6FDFB86-F632-4740-9CD4-D6FE0F6646E6}"/>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19" name="">
            <a:extLst xmlns:a="http://schemas.openxmlformats.org/drawingml/2006/main">
              <a:ext uri="{FF2B5EF4-FFF2-40B4-BE49-F238E27FC236}">
                <a16:creationId xmlns:a16="http://schemas.microsoft.com/office/drawing/2014/main" id="{FEF258BE-A98C-4DB4-A8AB-70F286B8FB1B}"/>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20" name="">
            <a:extLst xmlns:a="http://schemas.openxmlformats.org/drawingml/2006/main">
              <a:ext uri="{FF2B5EF4-FFF2-40B4-BE49-F238E27FC236}">
                <a16:creationId xmlns:a16="http://schemas.microsoft.com/office/drawing/2014/main" id="{598FE97B-6093-4594-82C8-77F6DCEEDC31}"/>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02</a:t>
            </a:r>
          </a:p>
        </p:txBody>
      </p:sp>
    </p:spTree>
    <p:extLst>
      <p:ext uri="{BB962C8B-B14F-4D97-AF65-F5344CB8AC3E}">
        <p14:creationId xmlns:p14="http://schemas.microsoft.com/office/powerpoint/2010/main" val="1518518190"/>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297B5A4-16B0-4495-BA7B-41B9880E912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384873-214A-4F64-AED9-D8CBC9F7F997}"/>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How ANSEI works today</a:t>
            </a:r>
          </a:p>
        </p:txBody>
      </p:sp>
      <p:sp>
        <p:nvSpPr>
          <p:cNvPr id="3" name="">
            <a:extLst xmlns:a="http://schemas.openxmlformats.org/drawingml/2006/main">
              <a:ext uri="{FF2B5EF4-FFF2-40B4-BE49-F238E27FC236}">
                <a16:creationId xmlns:a16="http://schemas.microsoft.com/office/drawing/2014/main" id="{28048261-2BC5-4D1F-A2E9-06B6DFB8B7F1}"/>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The operational flow is complete in ANSEI, but the resulting transactions do not reach SAP</a:t>
            </a:r>
          </a:p>
        </p:txBody>
      </p:sp>
      <p:sp>
        <p:nvSpPr>
          <p:cNvPr id="4" name="">
            <a:extLst xmlns:a="http://schemas.openxmlformats.org/drawingml/2006/main">
              <a:ext uri="{FF2B5EF4-FFF2-40B4-BE49-F238E27FC236}">
                <a16:creationId xmlns:a16="http://schemas.microsoft.com/office/drawing/2014/main" id="{B5C1DEA7-01EB-427F-8F96-CE4E62793A36}"/>
              </a:ext>
            </a:extLst>
          </p:cNvPr>
          <p:cNvSpPr>
            <a:spLocks xmlns:a="http://schemas.openxmlformats.org/drawingml/2006/main" noGrp="1"/>
          </p:cNvSpPr>
          <p:nvPr/>
        </p:nvSpPr>
        <p:spPr>
          <a:xfrm xmlns:a="http://schemas.openxmlformats.org/drawingml/2006/main">
            <a:off x="49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0B5CAD"/>
            </a:solidFill>
            <a:prstDash val="solid"/>
          </a:ln>
        </p:spPr>
      </p:sp>
      <p:sp>
        <p:nvSpPr>
          <p:cNvPr id="5" name="">
            <a:extLst xmlns:a="http://schemas.openxmlformats.org/drawingml/2006/main">
              <a:ext uri="{FF2B5EF4-FFF2-40B4-BE49-F238E27FC236}">
                <a16:creationId xmlns:a16="http://schemas.microsoft.com/office/drawing/2014/main" id="{E9B83E57-AE75-464D-84BA-3C11436FE26C}"/>
              </a:ext>
            </a:extLst>
          </p:cNvPr>
          <p:cNvSpPr>
            <a:spLocks xmlns:a="http://schemas.openxmlformats.org/drawingml/2006/main" noGrp="1"/>
          </p:cNvSpPr>
          <p:nvPr/>
        </p:nvSpPr>
        <p:spPr>
          <a:xfrm xmlns:a="http://schemas.openxmlformats.org/drawingml/2006/main">
            <a:off x="62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795F010-7FFE-457A-BBC2-259BD61CF0A4}"/>
              </a:ext>
            </a:extLst>
          </p:cNvPr>
          <p:cNvSpPr>
            <a:spLocks xmlns:a="http://schemas.openxmlformats.org/drawingml/2006/main" noGrp="1"/>
          </p:cNvSpPr>
          <p:nvPr/>
        </p:nvSpPr>
        <p:spPr>
          <a:xfrm xmlns:a="http://schemas.openxmlformats.org/drawingml/2006/main">
            <a:off x="628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Incoming</a:t>
            </a:r>
          </a:p>
        </p:txBody>
      </p:sp>
      <p:sp>
        <p:nvSpPr>
          <p:cNvPr id="7" name="">
            <a:extLst xmlns:a="http://schemas.openxmlformats.org/drawingml/2006/main">
              <a:ext uri="{FF2B5EF4-FFF2-40B4-BE49-F238E27FC236}">
                <a16:creationId xmlns:a16="http://schemas.microsoft.com/office/drawing/2014/main" id="{4F85E501-F7AC-463A-A0CC-39D975EB9A51}"/>
              </a:ext>
            </a:extLst>
          </p:cNvPr>
          <p:cNvSpPr>
            <a:spLocks xmlns:a="http://schemas.openxmlformats.org/drawingml/2006/main" noGrp="1"/>
          </p:cNvSpPr>
          <p:nvPr/>
        </p:nvSpPr>
        <p:spPr>
          <a:xfrm xmlns:a="http://schemas.openxmlformats.org/drawingml/2006/main">
            <a:off x="240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0B5CAD"/>
            </a:solidFill>
            <a:prstDash val="solid"/>
          </a:ln>
        </p:spPr>
      </p:sp>
      <p:sp>
        <p:nvSpPr>
          <p:cNvPr id="8" name="">
            <a:extLst xmlns:a="http://schemas.openxmlformats.org/drawingml/2006/main">
              <a:ext uri="{FF2B5EF4-FFF2-40B4-BE49-F238E27FC236}">
                <a16:creationId xmlns:a16="http://schemas.microsoft.com/office/drawing/2014/main" id="{BD0C05F5-11A5-49B1-B23A-423C42309958}"/>
              </a:ext>
            </a:extLst>
          </p:cNvPr>
          <p:cNvSpPr>
            <a:spLocks xmlns:a="http://schemas.openxmlformats.org/drawingml/2006/main" noGrp="1"/>
          </p:cNvSpPr>
          <p:nvPr/>
        </p:nvSpPr>
        <p:spPr>
          <a:xfrm xmlns:a="http://schemas.openxmlformats.org/drawingml/2006/main">
            <a:off x="253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193FFCCB-98D5-432C-9962-CE87E1F5F17D}"/>
              </a:ext>
            </a:extLst>
          </p:cNvPr>
          <p:cNvSpPr>
            <a:spLocks xmlns:a="http://schemas.openxmlformats.org/drawingml/2006/main" noGrp="1"/>
          </p:cNvSpPr>
          <p:nvPr/>
        </p:nvSpPr>
        <p:spPr>
          <a:xfrm xmlns:a="http://schemas.openxmlformats.org/drawingml/2006/main">
            <a:off x="2533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Production</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release</a:t>
            </a:r>
          </a:p>
        </p:txBody>
      </p:sp>
      <p:sp>
        <p:nvSpPr>
          <p:cNvPr id="10" name="">
            <a:extLst xmlns:a="http://schemas.openxmlformats.org/drawingml/2006/main">
              <a:ext uri="{FF2B5EF4-FFF2-40B4-BE49-F238E27FC236}">
                <a16:creationId xmlns:a16="http://schemas.microsoft.com/office/drawing/2014/main" id="{2A8B39C4-BF32-444D-A4B0-5842E58A7CC1}"/>
              </a:ext>
            </a:extLst>
          </p:cNvPr>
          <p:cNvSpPr>
            <a:spLocks xmlns:a="http://schemas.openxmlformats.org/drawingml/2006/main" noGrp="1"/>
          </p:cNvSpPr>
          <p:nvPr/>
        </p:nvSpPr>
        <p:spPr>
          <a:xfrm xmlns:a="http://schemas.openxmlformats.org/drawingml/2006/main">
            <a:off x="430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D98A0B"/>
            </a:solidFill>
            <a:prstDash val="solid"/>
          </a:ln>
        </p:spPr>
      </p:sp>
      <p:sp>
        <p:nvSpPr>
          <p:cNvPr id="11" name="">
            <a:extLst xmlns:a="http://schemas.openxmlformats.org/drawingml/2006/main">
              <a:ext uri="{FF2B5EF4-FFF2-40B4-BE49-F238E27FC236}">
                <a16:creationId xmlns:a16="http://schemas.microsoft.com/office/drawing/2014/main" id="{9C6BE9E9-4E6F-483A-9CAA-97DC0433D9EE}"/>
              </a:ext>
            </a:extLst>
          </p:cNvPr>
          <p:cNvSpPr>
            <a:spLocks xmlns:a="http://schemas.openxmlformats.org/drawingml/2006/main" noGrp="1"/>
          </p:cNvSpPr>
          <p:nvPr/>
        </p:nvSpPr>
        <p:spPr>
          <a:xfrm xmlns:a="http://schemas.openxmlformats.org/drawingml/2006/main">
            <a:off x="443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43A30A6C-64F9-4A56-B135-4D1169FFCF69}"/>
              </a:ext>
            </a:extLst>
          </p:cNvPr>
          <p:cNvSpPr>
            <a:spLocks xmlns:a="http://schemas.openxmlformats.org/drawingml/2006/main" noGrp="1"/>
          </p:cNvSpPr>
          <p:nvPr/>
        </p:nvSpPr>
        <p:spPr>
          <a:xfrm xmlns:a="http://schemas.openxmlformats.org/drawingml/2006/main">
            <a:off x="4438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Material</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picking</a:t>
            </a:r>
          </a:p>
        </p:txBody>
      </p:sp>
      <p:sp>
        <p:nvSpPr>
          <p:cNvPr id="13" name="">
            <a:extLst xmlns:a="http://schemas.openxmlformats.org/drawingml/2006/main">
              <a:ext uri="{FF2B5EF4-FFF2-40B4-BE49-F238E27FC236}">
                <a16:creationId xmlns:a16="http://schemas.microsoft.com/office/drawing/2014/main" id="{93AF7B74-07E1-4BCA-B7F5-D35905699F39}"/>
              </a:ext>
            </a:extLst>
          </p:cNvPr>
          <p:cNvSpPr>
            <a:spLocks xmlns:a="http://schemas.openxmlformats.org/drawingml/2006/main" noGrp="1"/>
          </p:cNvSpPr>
          <p:nvPr/>
        </p:nvSpPr>
        <p:spPr>
          <a:xfrm xmlns:a="http://schemas.openxmlformats.org/drawingml/2006/main">
            <a:off x="621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23845B"/>
            </a:solidFill>
            <a:prstDash val="solid"/>
          </a:ln>
        </p:spPr>
      </p:sp>
      <p:sp>
        <p:nvSpPr>
          <p:cNvPr id="14" name="">
            <a:extLst xmlns:a="http://schemas.openxmlformats.org/drawingml/2006/main">
              <a:ext uri="{FF2B5EF4-FFF2-40B4-BE49-F238E27FC236}">
                <a16:creationId xmlns:a16="http://schemas.microsoft.com/office/drawing/2014/main" id="{C7B3F0E7-9DF1-48EA-9463-D7C12A0F533D}"/>
              </a:ext>
            </a:extLst>
          </p:cNvPr>
          <p:cNvSpPr>
            <a:spLocks xmlns:a="http://schemas.openxmlformats.org/drawingml/2006/main" noGrp="1"/>
          </p:cNvSpPr>
          <p:nvPr/>
        </p:nvSpPr>
        <p:spPr>
          <a:xfrm xmlns:a="http://schemas.openxmlformats.org/drawingml/2006/main">
            <a:off x="634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9B1F1C4C-100E-4353-859A-8E4136891383}"/>
              </a:ext>
            </a:extLst>
          </p:cNvPr>
          <p:cNvSpPr>
            <a:spLocks xmlns:a="http://schemas.openxmlformats.org/drawingml/2006/main" noGrp="1"/>
          </p:cNvSpPr>
          <p:nvPr/>
        </p:nvSpPr>
        <p:spPr>
          <a:xfrm xmlns:a="http://schemas.openxmlformats.org/drawingml/2006/main">
            <a:off x="6343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Production</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result</a:t>
            </a:r>
          </a:p>
        </p:txBody>
      </p:sp>
      <p:sp>
        <p:nvSpPr>
          <p:cNvPr id="16" name="">
            <a:extLst xmlns:a="http://schemas.openxmlformats.org/drawingml/2006/main">
              <a:ext uri="{FF2B5EF4-FFF2-40B4-BE49-F238E27FC236}">
                <a16:creationId xmlns:a16="http://schemas.microsoft.com/office/drawing/2014/main" id="{F5060369-0728-4CB9-A709-A2BAEC001CFA}"/>
              </a:ext>
            </a:extLst>
          </p:cNvPr>
          <p:cNvSpPr>
            <a:spLocks xmlns:a="http://schemas.openxmlformats.org/drawingml/2006/main" noGrp="1"/>
          </p:cNvSpPr>
          <p:nvPr/>
        </p:nvSpPr>
        <p:spPr>
          <a:xfrm xmlns:a="http://schemas.openxmlformats.org/drawingml/2006/main">
            <a:off x="811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12B7E6"/>
            </a:solidFill>
            <a:prstDash val="solid"/>
          </a:ln>
        </p:spPr>
      </p:sp>
      <p:sp>
        <p:nvSpPr>
          <p:cNvPr id="17" name="">
            <a:extLst xmlns:a="http://schemas.openxmlformats.org/drawingml/2006/main">
              <a:ext uri="{FF2B5EF4-FFF2-40B4-BE49-F238E27FC236}">
                <a16:creationId xmlns:a16="http://schemas.microsoft.com/office/drawing/2014/main" id="{943FDCE8-2E85-4F1A-8315-31915919960A}"/>
              </a:ext>
            </a:extLst>
          </p:cNvPr>
          <p:cNvSpPr>
            <a:spLocks xmlns:a="http://schemas.openxmlformats.org/drawingml/2006/main" noGrp="1"/>
          </p:cNvSpPr>
          <p:nvPr/>
        </p:nvSpPr>
        <p:spPr>
          <a:xfrm xmlns:a="http://schemas.openxmlformats.org/drawingml/2006/main">
            <a:off x="824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FC4D0DE8-C0AF-45E3-A6A1-3C6DECD76F96}"/>
              </a:ext>
            </a:extLst>
          </p:cNvPr>
          <p:cNvSpPr>
            <a:spLocks xmlns:a="http://schemas.openxmlformats.org/drawingml/2006/main" noGrp="1"/>
          </p:cNvSpPr>
          <p:nvPr/>
        </p:nvSpPr>
        <p:spPr>
          <a:xfrm xmlns:a="http://schemas.openxmlformats.org/drawingml/2006/main">
            <a:off x="8248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Poka-Yoke</a:t>
            </a:r>
          </a:p>
        </p:txBody>
      </p:sp>
      <p:sp>
        <p:nvSpPr>
          <p:cNvPr id="19" name="">
            <a:extLst xmlns:a="http://schemas.openxmlformats.org/drawingml/2006/main">
              <a:ext uri="{FF2B5EF4-FFF2-40B4-BE49-F238E27FC236}">
                <a16:creationId xmlns:a16="http://schemas.microsoft.com/office/drawing/2014/main" id="{8A30C609-1DDA-4D8A-A6FA-E8F6FB2C4BD3}"/>
              </a:ext>
            </a:extLst>
          </p:cNvPr>
          <p:cNvSpPr>
            <a:spLocks xmlns:a="http://schemas.openxmlformats.org/drawingml/2006/main" noGrp="1"/>
          </p:cNvSpPr>
          <p:nvPr/>
        </p:nvSpPr>
        <p:spPr>
          <a:xfrm xmlns:a="http://schemas.openxmlformats.org/drawingml/2006/main">
            <a:off x="1002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D94141"/>
            </a:solidFill>
            <a:prstDash val="solid"/>
          </a:ln>
        </p:spPr>
      </p:sp>
      <p:sp>
        <p:nvSpPr>
          <p:cNvPr id="20" name="">
            <a:extLst xmlns:a="http://schemas.openxmlformats.org/drawingml/2006/main">
              <a:ext uri="{FF2B5EF4-FFF2-40B4-BE49-F238E27FC236}">
                <a16:creationId xmlns:a16="http://schemas.microsoft.com/office/drawing/2014/main" id="{B1FB85AF-792E-478E-81AA-7FE086BF52BE}"/>
              </a:ext>
            </a:extLst>
          </p:cNvPr>
          <p:cNvSpPr>
            <a:spLocks xmlns:a="http://schemas.openxmlformats.org/drawingml/2006/main" noGrp="1"/>
          </p:cNvSpPr>
          <p:nvPr/>
        </p:nvSpPr>
        <p:spPr>
          <a:xfrm xmlns:a="http://schemas.openxmlformats.org/drawingml/2006/main">
            <a:off x="1015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40763D32-2C88-4912-A47F-B41534F4365F}"/>
              </a:ext>
            </a:extLst>
          </p:cNvPr>
          <p:cNvSpPr>
            <a:spLocks xmlns:a="http://schemas.openxmlformats.org/drawingml/2006/main" noGrp="1"/>
          </p:cNvSpPr>
          <p:nvPr/>
        </p:nvSpPr>
        <p:spPr>
          <a:xfrm xmlns:a="http://schemas.openxmlformats.org/drawingml/2006/main">
            <a:off x="10153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Delivery</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and close</a:t>
            </a:r>
          </a:p>
        </p:txBody>
      </p:sp>
      <p:cxnSp>
        <p:nvCxnSpPr>
          <p:cNvPr id="60" name=""/>
          <p:cNvCxnSpPr>
            <a:stCxn xmlns:a="http://schemas.openxmlformats.org/drawingml/2006/main" id="4" idx="3"/>
            <a:endCxn xmlns:a="http://schemas.openxmlformats.org/drawingml/2006/main" id="7" idx="1"/>
          </p:cNvCxnSpPr>
          <p:nvPr/>
        </p:nvCxnSpPr>
        <p:spPr>
          <a:xfrm xmlns:a="http://schemas.openxmlformats.org/drawingml/2006/main">
            <a:off x="211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1" name=""/>
          <p:cNvCxnSpPr>
            <a:stCxn xmlns:a="http://schemas.openxmlformats.org/drawingml/2006/main" id="7" idx="3"/>
            <a:endCxn xmlns:a="http://schemas.openxmlformats.org/drawingml/2006/main" id="10" idx="1"/>
          </p:cNvCxnSpPr>
          <p:nvPr/>
        </p:nvCxnSpPr>
        <p:spPr>
          <a:xfrm xmlns:a="http://schemas.openxmlformats.org/drawingml/2006/main">
            <a:off x="4019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2" name=""/>
          <p:cNvCxnSpPr>
            <a:stCxn xmlns:a="http://schemas.openxmlformats.org/drawingml/2006/main" id="10" idx="3"/>
            <a:endCxn xmlns:a="http://schemas.openxmlformats.org/drawingml/2006/main" id="13" idx="1"/>
          </p:cNvCxnSpPr>
          <p:nvPr/>
        </p:nvCxnSpPr>
        <p:spPr>
          <a:xfrm xmlns:a="http://schemas.openxmlformats.org/drawingml/2006/main">
            <a:off x="592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3" name=""/>
          <p:cNvCxnSpPr>
            <a:stCxn xmlns:a="http://schemas.openxmlformats.org/drawingml/2006/main" id="13" idx="3"/>
            <a:endCxn xmlns:a="http://schemas.openxmlformats.org/drawingml/2006/main" id="16" idx="1"/>
          </p:cNvCxnSpPr>
          <p:nvPr/>
        </p:nvCxnSpPr>
        <p:spPr>
          <a:xfrm xmlns:a="http://schemas.openxmlformats.org/drawingml/2006/main">
            <a:off x="7829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4" name=""/>
          <p:cNvCxnSpPr>
            <a:stCxn xmlns:a="http://schemas.openxmlformats.org/drawingml/2006/main" id="16" idx="3"/>
            <a:endCxn xmlns:a="http://schemas.openxmlformats.org/drawingml/2006/main" id="19" idx="1"/>
          </p:cNvCxnSpPr>
          <p:nvPr/>
        </p:nvCxnSpPr>
        <p:spPr>
          <a:xfrm xmlns:a="http://schemas.openxmlformats.org/drawingml/2006/main">
            <a:off x="973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sp>
        <p:nvSpPr>
          <p:cNvPr id="27" name="">
            <a:extLst xmlns:a="http://schemas.openxmlformats.org/drawingml/2006/main">
              <a:ext uri="{FF2B5EF4-FFF2-40B4-BE49-F238E27FC236}">
                <a16:creationId xmlns:a16="http://schemas.microsoft.com/office/drawing/2014/main" id="{F4BD2550-439F-4C0A-A469-DAC1B29B9C6B}"/>
              </a:ext>
            </a:extLst>
          </p:cNvPr>
          <p:cNvSpPr>
            <a:spLocks xmlns:a="http://schemas.openxmlformats.org/drawingml/2006/main" noGrp="1"/>
          </p:cNvSpPr>
          <p:nvPr/>
        </p:nvSpPr>
        <p:spPr>
          <a:xfrm xmlns:a="http://schemas.openxmlformats.org/drawingml/2006/main">
            <a:off x="495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Supplier delivery is received and material stock increases.</a:t>
            </a:r>
          </a:p>
        </p:txBody>
      </p:sp>
      <p:sp>
        <p:nvSpPr>
          <p:cNvPr id="28" name="">
            <a:extLst xmlns:a="http://schemas.openxmlformats.org/drawingml/2006/main">
              <a:ext uri="{FF2B5EF4-FFF2-40B4-BE49-F238E27FC236}">
                <a16:creationId xmlns:a16="http://schemas.microsoft.com/office/drawing/2014/main" id="{E6F3F253-A4DA-41D2-A430-BE416F8B07C2}"/>
              </a:ext>
            </a:extLst>
          </p:cNvPr>
          <p:cNvSpPr>
            <a:spLocks xmlns:a="http://schemas.openxmlformats.org/drawingml/2006/main" noGrp="1"/>
          </p:cNvSpPr>
          <p:nvPr/>
        </p:nvSpPr>
        <p:spPr>
          <a:xfrm xmlns:a="http://schemas.openxmlformats.org/drawingml/2006/main">
            <a:off x="2400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The PO or forecast is scheduled and labels are created.</a:t>
            </a:r>
          </a:p>
        </p:txBody>
      </p:sp>
      <p:sp>
        <p:nvSpPr>
          <p:cNvPr id="29" name="">
            <a:extLst xmlns:a="http://schemas.openxmlformats.org/drawingml/2006/main">
              <a:ext uri="{FF2B5EF4-FFF2-40B4-BE49-F238E27FC236}">
                <a16:creationId xmlns:a16="http://schemas.microsoft.com/office/drawing/2014/main" id="{3EF7C23C-7255-4152-9C32-CB065D0F2857}"/>
              </a:ext>
            </a:extLst>
          </p:cNvPr>
          <p:cNvSpPr>
            <a:spLocks xmlns:a="http://schemas.openxmlformats.org/drawingml/2006/main" noGrp="1"/>
          </p:cNvSpPr>
          <p:nvPr/>
        </p:nvSpPr>
        <p:spPr>
          <a:xfrm xmlns:a="http://schemas.openxmlformats.org/drawingml/2006/main">
            <a:off x="4305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BOM material is issued and material stock decreases.</a:t>
            </a:r>
          </a:p>
        </p:txBody>
      </p:sp>
      <p:sp>
        <p:nvSpPr>
          <p:cNvPr id="30" name="">
            <a:extLst xmlns:a="http://schemas.openxmlformats.org/drawingml/2006/main">
              <a:ext uri="{FF2B5EF4-FFF2-40B4-BE49-F238E27FC236}">
                <a16:creationId xmlns:a16="http://schemas.microsoft.com/office/drawing/2014/main" id="{751A0A8D-62B6-4503-A244-81E8B063A178}"/>
              </a:ext>
            </a:extLst>
          </p:cNvPr>
          <p:cNvSpPr>
            <a:spLocks xmlns:a="http://schemas.openxmlformats.org/drawingml/2006/main" noGrp="1"/>
          </p:cNvSpPr>
          <p:nvPr/>
        </p:nvSpPr>
        <p:spPr>
          <a:xfrm xmlns:a="http://schemas.openxmlformats.org/drawingml/2006/main">
            <a:off x="6210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Finished goods are recorded after shopping or box assembly.</a:t>
            </a:r>
          </a:p>
        </p:txBody>
      </p:sp>
      <p:sp>
        <p:nvSpPr>
          <p:cNvPr id="31" name="">
            <a:extLst xmlns:a="http://schemas.openxmlformats.org/drawingml/2006/main">
              <a:ext uri="{FF2B5EF4-FFF2-40B4-BE49-F238E27FC236}">
                <a16:creationId xmlns:a16="http://schemas.microsoft.com/office/drawing/2014/main" id="{B2E0105B-B5E8-441A-86A4-DA6129B8544F}"/>
              </a:ext>
            </a:extLst>
          </p:cNvPr>
          <p:cNvSpPr>
            <a:spLocks xmlns:a="http://schemas.openxmlformats.org/drawingml/2006/main" noGrp="1"/>
          </p:cNvSpPr>
          <p:nvPr/>
        </p:nvSpPr>
        <p:spPr>
          <a:xfrm xmlns:a="http://schemas.openxmlformats.org/drawingml/2006/main">
            <a:off x="8115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Each label is checked before delivery.</a:t>
            </a:r>
          </a:p>
        </p:txBody>
      </p:sp>
      <p:sp>
        <p:nvSpPr>
          <p:cNvPr id="32" name="">
            <a:extLst xmlns:a="http://schemas.openxmlformats.org/drawingml/2006/main">
              <a:ext uri="{FF2B5EF4-FFF2-40B4-BE49-F238E27FC236}">
                <a16:creationId xmlns:a16="http://schemas.microsoft.com/office/drawing/2014/main" id="{00075DF3-DE0A-4D23-9BDF-C3AB6686CBF4}"/>
              </a:ext>
            </a:extLst>
          </p:cNvPr>
          <p:cNvSpPr>
            <a:spLocks xmlns:a="http://schemas.openxmlformats.org/drawingml/2006/main" noGrp="1"/>
          </p:cNvSpPr>
          <p:nvPr/>
        </p:nvSpPr>
        <p:spPr>
          <a:xfrm xmlns:a="http://schemas.openxmlformats.org/drawingml/2006/main">
            <a:off x="10020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FG stock decreases. The release closes after every PO is delivered.</a:t>
            </a:r>
          </a:p>
        </p:txBody>
      </p:sp>
      <p:sp>
        <p:nvSpPr>
          <p:cNvPr id="33" name="">
            <a:extLst xmlns:a="http://schemas.openxmlformats.org/drawingml/2006/main">
              <a:ext uri="{FF2B5EF4-FFF2-40B4-BE49-F238E27FC236}">
                <a16:creationId xmlns:a16="http://schemas.microsoft.com/office/drawing/2014/main" id="{5CEF73C3-E199-404E-ACFC-0E17B8FB8DE4}"/>
              </a:ext>
            </a:extLst>
          </p:cNvPr>
          <p:cNvSpPr>
            <a:spLocks xmlns:a="http://schemas.openxmlformats.org/drawingml/2006/main" noGrp="1"/>
          </p:cNvSpPr>
          <p:nvPr/>
        </p:nvSpPr>
        <p:spPr>
          <a:xfrm xmlns:a="http://schemas.openxmlformats.org/drawingml/2006/main">
            <a:off x="876300" y="4686300"/>
            <a:ext cx="104394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5DEE6"/>
            </a:solidFill>
            <a:prstDash val="solid"/>
          </a:ln>
        </p:spPr>
      </p:sp>
      <p:sp>
        <p:nvSpPr>
          <p:cNvPr id="34" name="">
            <a:extLst xmlns:a="http://schemas.openxmlformats.org/drawingml/2006/main">
              <a:ext uri="{FF2B5EF4-FFF2-40B4-BE49-F238E27FC236}">
                <a16:creationId xmlns:a16="http://schemas.microsoft.com/office/drawing/2014/main" id="{EF039FFD-4B3E-4D65-A9BF-E10BE710A6AB}"/>
              </a:ext>
            </a:extLst>
          </p:cNvPr>
          <p:cNvSpPr>
            <a:spLocks xmlns:a="http://schemas.openxmlformats.org/drawingml/2006/main" noGrp="1"/>
          </p:cNvSpPr>
          <p:nvPr/>
        </p:nvSpPr>
        <p:spPr>
          <a:xfrm xmlns:a="http://schemas.openxmlformats.org/drawingml/2006/main">
            <a:off x="1143000" y="48958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71A2B"/>
                </a:solidFill>
                <a:latin typeface="Aptos"/>
                <a:ea typeface="Aptos"/>
                <a:cs typeface="Aptos"/>
              </a:defRPr>
            </a:pPr>
            <a:r>
              <a:rPr sz="1800" b="1">
                <a:solidFill>
                  <a:srgbClr val="071A2B"/>
                </a:solidFill>
                <a:latin typeface="Aptos"/>
                <a:ea typeface="Aptos"/>
                <a:cs typeface="Aptos"/>
              </a:rPr>
              <a:t>Where the data lives today</a:t>
            </a:r>
          </a:p>
        </p:txBody>
      </p:sp>
      <p:sp>
        <p:nvSpPr>
          <p:cNvPr id="35" name="">
            <a:extLst xmlns:a="http://schemas.openxmlformats.org/drawingml/2006/main">
              <a:ext uri="{FF2B5EF4-FFF2-40B4-BE49-F238E27FC236}">
                <a16:creationId xmlns:a16="http://schemas.microsoft.com/office/drawing/2014/main" id="{D839BEEA-E102-4F83-AF79-782B5A4C4E23}"/>
              </a:ext>
            </a:extLst>
          </p:cNvPr>
          <p:cNvSpPr>
            <a:spLocks xmlns:a="http://schemas.openxmlformats.org/drawingml/2006/main" noGrp="1"/>
          </p:cNvSpPr>
          <p:nvPr/>
        </p:nvSpPr>
        <p:spPr>
          <a:xfrm xmlns:a="http://schemas.openxmlformats.org/drawingml/2006/main">
            <a:off x="1143000" y="53340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931"/>
          </a:bodyPr>
          <a:lstStyle xmlns:a="http://schemas.openxmlformats.org/drawingml/2006/main"/>
          <a:p xmlns:a="http://schemas.openxmlformats.org/drawingml/2006/main">
            <a:pPr algn="ctr">
              <a:lnSpc>
                <a:spcPct val="100000"/>
              </a:lnSpc>
              <a:buNone/>
              <a:defRPr sz="1575" b="0">
                <a:solidFill>
                  <a:srgbClr val="536575"/>
                </a:solidFill>
                <a:latin typeface="Aptos"/>
                <a:ea typeface="Aptos"/>
                <a:cs typeface="Aptos"/>
              </a:defRPr>
            </a:pPr>
            <a:r>
              <a:rPr sz="1575" b="0">
                <a:solidFill>
                  <a:srgbClr val="536575"/>
                </a:solidFill>
                <a:latin typeface="Aptos"/>
                <a:ea typeface="Aptos"/>
                <a:cs typeface="Aptos"/>
              </a:rPr>
              <a:t>ANSEI holds the operational stock trail in InventoryLedger. Excel remains part of the reporting handoff because SAP has no matching transactions.</a:t>
            </a:r>
          </a:p>
        </p:txBody>
      </p:sp>
      <p:sp>
        <p:nvSpPr>
          <p:cNvPr id="36" name="">
            <a:extLst xmlns:a="http://schemas.openxmlformats.org/drawingml/2006/main">
              <a:ext uri="{FF2B5EF4-FFF2-40B4-BE49-F238E27FC236}">
                <a16:creationId xmlns:a16="http://schemas.microsoft.com/office/drawing/2014/main" id="{0B45A692-4716-424B-BD36-3CAA5834E1FD}"/>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37" name="">
            <a:extLst xmlns:a="http://schemas.openxmlformats.org/drawingml/2006/main">
              <a:ext uri="{FF2B5EF4-FFF2-40B4-BE49-F238E27FC236}">
                <a16:creationId xmlns:a16="http://schemas.microsoft.com/office/drawing/2014/main" id="{A1E4D6F4-9D41-467B-8397-6E0722092EC3}"/>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38" name="">
            <a:extLst xmlns:a="http://schemas.openxmlformats.org/drawingml/2006/main">
              <a:ext uri="{FF2B5EF4-FFF2-40B4-BE49-F238E27FC236}">
                <a16:creationId xmlns:a16="http://schemas.microsoft.com/office/drawing/2014/main" id="{B7FFBED5-B06A-4049-A7FA-BF7BF06FECC0}"/>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03</a:t>
            </a:r>
          </a:p>
        </p:txBody>
      </p:sp>
    </p:spTree>
    <p:extLst>
      <p:ext uri="{BB962C8B-B14F-4D97-AF65-F5344CB8AC3E}">
        <p14:creationId xmlns:p14="http://schemas.microsoft.com/office/powerpoint/2010/main" val="1675345833"/>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A4BDFC73-7DBD-4570-98D7-195C25BBADF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EA8824-79A7-4D7D-A8D8-E536A37E634C}"/>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End-to-end integrated process</a:t>
            </a:r>
          </a:p>
        </p:txBody>
      </p:sp>
      <p:sp>
        <p:nvSpPr>
          <p:cNvPr id="3" name="">
            <a:extLst xmlns:a="http://schemas.openxmlformats.org/drawingml/2006/main">
              <a:ext uri="{FF2B5EF4-FFF2-40B4-BE49-F238E27FC236}">
                <a16:creationId xmlns:a16="http://schemas.microsoft.com/office/drawing/2014/main" id="{827A26AF-B37F-49CE-8C9F-8D3CE02839A0}"/>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runs the shopfloor steps and sends each completed business event to SAP</a:t>
            </a:r>
          </a:p>
        </p:txBody>
      </p:sp>
      <p:sp>
        <p:nvSpPr>
          <p:cNvPr id="4" name="">
            <a:extLst xmlns:a="http://schemas.openxmlformats.org/drawingml/2006/main">
              <a:ext uri="{FF2B5EF4-FFF2-40B4-BE49-F238E27FC236}">
                <a16:creationId xmlns:a16="http://schemas.microsoft.com/office/drawing/2014/main" id="{3EF16C8D-B562-437C-9C0A-140F3F0E885C}"/>
              </a:ext>
            </a:extLst>
          </p:cNvPr>
          <p:cNvSpPr>
            <a:spLocks xmlns:a="http://schemas.openxmlformats.org/drawingml/2006/main" noGrp="1"/>
          </p:cNvSpPr>
          <p:nvPr/>
        </p:nvSpPr>
        <p:spPr>
          <a:xfrm xmlns:a="http://schemas.openxmlformats.org/drawingml/2006/main">
            <a:off x="1200150" y="1390650"/>
            <a:ext cx="9791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0B5CAD"/>
                </a:solidFill>
                <a:latin typeface="Aptos"/>
                <a:ea typeface="Aptos"/>
                <a:cs typeface="Aptos"/>
              </a:defRPr>
            </a:pPr>
            <a:r>
              <a:rPr sz="1500" b="1">
                <a:solidFill>
                  <a:srgbClr val="0B5CAD"/>
                </a:solidFill>
                <a:latin typeface="Aptos"/>
                <a:ea typeface="Aptos"/>
                <a:cs typeface="Aptos"/>
              </a:rPr>
              <a:t>SAP provides the production order, material master, BOM, and current document status</a:t>
            </a:r>
          </a:p>
        </p:txBody>
      </p:sp>
      <p:sp>
        <p:nvSpPr>
          <p:cNvPr id="5" name="">
            <a:extLst xmlns:a="http://schemas.openxmlformats.org/drawingml/2006/main">
              <a:ext uri="{FF2B5EF4-FFF2-40B4-BE49-F238E27FC236}">
                <a16:creationId xmlns:a16="http://schemas.microsoft.com/office/drawing/2014/main" id="{DFEF01DD-5BCE-4935-8DB3-DB8733CF9C51}"/>
              </a:ext>
            </a:extLst>
          </p:cNvPr>
          <p:cNvSpPr>
            <a:spLocks xmlns:a="http://schemas.openxmlformats.org/drawingml/2006/main" noGrp="1"/>
          </p:cNvSpPr>
          <p:nvPr/>
        </p:nvSpPr>
        <p:spPr>
          <a:xfrm xmlns:a="http://schemas.openxmlformats.org/drawingml/2006/main">
            <a:off x="1352550" y="1847850"/>
            <a:ext cx="9486900" cy="0"/>
          </a:xfrm>
          <a:prstGeom xmlns:a="http://schemas.openxmlformats.org/drawingml/2006/main" prst="line">
            <a:avLst/>
          </a:prstGeom>
          <a:noFill xmlns:a="http://schemas.openxmlformats.org/drawingml/2006/main"/>
          <a:ln xmlns:a="http://schemas.openxmlformats.org/drawingml/2006/main" w="28575">
            <a:solidFill>
              <a:srgbClr val="0B5CAD"/>
            </a:solidFill>
            <a:prstDash val="solid"/>
          </a:ln>
        </p:spPr>
      </p:sp>
      <p:sp>
        <p:nvSpPr>
          <p:cNvPr id="6" name="">
            <a:extLst xmlns:a="http://schemas.openxmlformats.org/drawingml/2006/main">
              <a:ext uri="{FF2B5EF4-FFF2-40B4-BE49-F238E27FC236}">
                <a16:creationId xmlns:a16="http://schemas.microsoft.com/office/drawing/2014/main" id="{4336DEA7-DB17-4C3E-8348-319D1AE73B31}"/>
              </a:ext>
            </a:extLst>
          </p:cNvPr>
          <p:cNvSpPr>
            <a:spLocks xmlns:a="http://schemas.openxmlformats.org/drawingml/2006/main" noGrp="1"/>
          </p:cNvSpPr>
          <p:nvPr/>
        </p:nvSpPr>
        <p:spPr>
          <a:xfrm xmlns:a="http://schemas.openxmlformats.org/drawingml/2006/main">
            <a:off x="5143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0B5CAD"/>
            </a:solidFill>
            <a:prstDash val="solid"/>
          </a:ln>
        </p:spPr>
      </p:sp>
      <p:sp>
        <p:nvSpPr>
          <p:cNvPr id="7" name="">
            <a:extLst xmlns:a="http://schemas.openxmlformats.org/drawingml/2006/main">
              <a:ext uri="{FF2B5EF4-FFF2-40B4-BE49-F238E27FC236}">
                <a16:creationId xmlns:a16="http://schemas.microsoft.com/office/drawing/2014/main" id="{6F416FD1-5082-424C-BD18-7B2F11740C51}"/>
              </a:ext>
            </a:extLst>
          </p:cNvPr>
          <p:cNvSpPr>
            <a:spLocks xmlns:a="http://schemas.openxmlformats.org/drawingml/2006/main" noGrp="1"/>
          </p:cNvSpPr>
          <p:nvPr/>
        </p:nvSpPr>
        <p:spPr>
          <a:xfrm xmlns:a="http://schemas.openxmlformats.org/drawingml/2006/main">
            <a:off x="6667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399A0C78-0912-4187-877E-736BF69BC157}"/>
              </a:ext>
            </a:extLst>
          </p:cNvPr>
          <p:cNvSpPr>
            <a:spLocks xmlns:a="http://schemas.openxmlformats.org/drawingml/2006/main" noGrp="1"/>
          </p:cNvSpPr>
          <p:nvPr/>
        </p:nvSpPr>
        <p:spPr>
          <a:xfrm xmlns:a="http://schemas.openxmlformats.org/drawingml/2006/main">
            <a:off x="6667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Receive material</a:t>
            </a:r>
          </a:p>
        </p:txBody>
      </p:sp>
      <p:sp>
        <p:nvSpPr>
          <p:cNvPr id="9" name="">
            <a:extLst xmlns:a="http://schemas.openxmlformats.org/drawingml/2006/main">
              <a:ext uri="{FF2B5EF4-FFF2-40B4-BE49-F238E27FC236}">
                <a16:creationId xmlns:a16="http://schemas.microsoft.com/office/drawing/2014/main" id="{585064ED-8042-4CF4-99EE-0B0896DDC1B2}"/>
              </a:ext>
            </a:extLst>
          </p:cNvPr>
          <p:cNvSpPr>
            <a:spLocks xmlns:a="http://schemas.openxmlformats.org/drawingml/2006/main" noGrp="1"/>
          </p:cNvSpPr>
          <p:nvPr/>
        </p:nvSpPr>
        <p:spPr>
          <a:xfrm xmlns:a="http://schemas.openxmlformats.org/drawingml/2006/main">
            <a:off x="6667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10" name="">
            <a:extLst xmlns:a="http://schemas.openxmlformats.org/drawingml/2006/main">
              <a:ext uri="{FF2B5EF4-FFF2-40B4-BE49-F238E27FC236}">
                <a16:creationId xmlns:a16="http://schemas.microsoft.com/office/drawing/2014/main" id="{E8D5EA8A-6338-436B-AA17-4C889A26F5C6}"/>
              </a:ext>
            </a:extLst>
          </p:cNvPr>
          <p:cNvSpPr>
            <a:spLocks xmlns:a="http://schemas.openxmlformats.org/drawingml/2006/main" noGrp="1"/>
          </p:cNvSpPr>
          <p:nvPr/>
        </p:nvSpPr>
        <p:spPr>
          <a:xfrm xmlns:a="http://schemas.openxmlformats.org/drawingml/2006/main">
            <a:off x="6667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checks and approves the incoming delivery.</a:t>
            </a:r>
          </a:p>
        </p:txBody>
      </p:sp>
      <p:sp>
        <p:nvSpPr>
          <p:cNvPr id="11" name="">
            <a:extLst xmlns:a="http://schemas.openxmlformats.org/drawingml/2006/main">
              <a:ext uri="{FF2B5EF4-FFF2-40B4-BE49-F238E27FC236}">
                <a16:creationId xmlns:a16="http://schemas.microsoft.com/office/drawing/2014/main" id="{66CCD781-2678-4711-8CBD-6339E7074FFB}"/>
              </a:ext>
            </a:extLst>
          </p:cNvPr>
          <p:cNvSpPr>
            <a:spLocks xmlns:a="http://schemas.openxmlformats.org/drawingml/2006/main" noGrp="1"/>
          </p:cNvSpPr>
          <p:nvPr/>
        </p:nvSpPr>
        <p:spPr>
          <a:xfrm xmlns:a="http://schemas.openxmlformats.org/drawingml/2006/main">
            <a:off x="6667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12" name="">
            <a:extLst xmlns:a="http://schemas.openxmlformats.org/drawingml/2006/main">
              <a:ext uri="{FF2B5EF4-FFF2-40B4-BE49-F238E27FC236}">
                <a16:creationId xmlns:a16="http://schemas.microsoft.com/office/drawing/2014/main" id="{F7800B01-2AF8-47C0-AEA1-F82083AC3B16}"/>
              </a:ext>
            </a:extLst>
          </p:cNvPr>
          <p:cNvSpPr>
            <a:spLocks xmlns:a="http://schemas.openxmlformats.org/drawingml/2006/main" noGrp="1"/>
          </p:cNvSpPr>
          <p:nvPr/>
        </p:nvSpPr>
        <p:spPr>
          <a:xfrm xmlns:a="http://schemas.openxmlformats.org/drawingml/2006/main">
            <a:off x="6667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0B5CAD"/>
                </a:solidFill>
                <a:latin typeface="Aptos"/>
                <a:ea typeface="Aptos"/>
                <a:cs typeface="Aptos"/>
              </a:defRPr>
            </a:pPr>
            <a:r>
              <a:rPr sz="1125" b="1">
                <a:solidFill>
                  <a:srgbClr val="0B5CAD"/>
                </a:solidFill>
                <a:latin typeface="Aptos"/>
                <a:ea typeface="Aptos"/>
                <a:cs typeface="Aptos"/>
              </a:rPr>
              <a:t>SAP</a:t>
            </a:r>
          </a:p>
        </p:txBody>
      </p:sp>
      <p:sp>
        <p:nvSpPr>
          <p:cNvPr id="13" name="">
            <a:extLst xmlns:a="http://schemas.openxmlformats.org/drawingml/2006/main">
              <a:ext uri="{FF2B5EF4-FFF2-40B4-BE49-F238E27FC236}">
                <a16:creationId xmlns:a16="http://schemas.microsoft.com/office/drawing/2014/main" id="{D081F6FD-78AD-4232-A3DB-BB8954C05F18}"/>
              </a:ext>
            </a:extLst>
          </p:cNvPr>
          <p:cNvSpPr>
            <a:spLocks xmlns:a="http://schemas.openxmlformats.org/drawingml/2006/main" noGrp="1"/>
          </p:cNvSpPr>
          <p:nvPr/>
        </p:nvSpPr>
        <p:spPr>
          <a:xfrm xmlns:a="http://schemas.openxmlformats.org/drawingml/2006/main">
            <a:off x="6667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the material goods receipt.</a:t>
            </a:r>
          </a:p>
        </p:txBody>
      </p:sp>
      <p:sp>
        <p:nvSpPr>
          <p:cNvPr id="14" name="">
            <a:extLst xmlns:a="http://schemas.openxmlformats.org/drawingml/2006/main">
              <a:ext uri="{FF2B5EF4-FFF2-40B4-BE49-F238E27FC236}">
                <a16:creationId xmlns:a16="http://schemas.microsoft.com/office/drawing/2014/main" id="{A1699DA5-FF16-4180-9D72-A4EE99AF9704}"/>
              </a:ext>
            </a:extLst>
          </p:cNvPr>
          <p:cNvSpPr>
            <a:spLocks xmlns:a="http://schemas.openxmlformats.org/drawingml/2006/main" noGrp="1"/>
          </p:cNvSpPr>
          <p:nvPr/>
        </p:nvSpPr>
        <p:spPr>
          <a:xfrm xmlns:a="http://schemas.openxmlformats.org/drawingml/2006/main">
            <a:off x="28384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D98A0B"/>
            </a:solidFill>
            <a:prstDash val="solid"/>
          </a:ln>
        </p:spPr>
      </p:sp>
      <p:sp>
        <p:nvSpPr>
          <p:cNvPr id="15" name="">
            <a:extLst xmlns:a="http://schemas.openxmlformats.org/drawingml/2006/main">
              <a:ext uri="{FF2B5EF4-FFF2-40B4-BE49-F238E27FC236}">
                <a16:creationId xmlns:a16="http://schemas.microsoft.com/office/drawing/2014/main" id="{3599BB6B-7B92-45F1-9E09-14CE4120C0F8}"/>
              </a:ext>
            </a:extLst>
          </p:cNvPr>
          <p:cNvSpPr>
            <a:spLocks xmlns:a="http://schemas.openxmlformats.org/drawingml/2006/main" noGrp="1"/>
          </p:cNvSpPr>
          <p:nvPr/>
        </p:nvSpPr>
        <p:spPr>
          <a:xfrm xmlns:a="http://schemas.openxmlformats.org/drawingml/2006/main">
            <a:off x="29908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02</a:t>
            </a:r>
          </a:p>
        </p:txBody>
      </p:sp>
      <p:sp>
        <p:nvSpPr>
          <p:cNvPr id="16" name="">
            <a:extLst xmlns:a="http://schemas.openxmlformats.org/drawingml/2006/main">
              <a:ext uri="{FF2B5EF4-FFF2-40B4-BE49-F238E27FC236}">
                <a16:creationId xmlns:a16="http://schemas.microsoft.com/office/drawing/2014/main" id="{D5CE6AD5-CBA9-4D24-9FD6-6E150C6D1F24}"/>
              </a:ext>
            </a:extLst>
          </p:cNvPr>
          <p:cNvSpPr>
            <a:spLocks xmlns:a="http://schemas.openxmlformats.org/drawingml/2006/main" noGrp="1"/>
          </p:cNvSpPr>
          <p:nvPr/>
        </p:nvSpPr>
        <p:spPr>
          <a:xfrm xmlns:a="http://schemas.openxmlformats.org/drawingml/2006/main">
            <a:off x="29908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Release and pick</a:t>
            </a:r>
          </a:p>
        </p:txBody>
      </p:sp>
      <p:sp>
        <p:nvSpPr>
          <p:cNvPr id="17" name="">
            <a:extLst xmlns:a="http://schemas.openxmlformats.org/drawingml/2006/main">
              <a:ext uri="{FF2B5EF4-FFF2-40B4-BE49-F238E27FC236}">
                <a16:creationId xmlns:a16="http://schemas.microsoft.com/office/drawing/2014/main" id="{B86BFC3D-4147-48CD-A122-FA07AECCF62A}"/>
              </a:ext>
            </a:extLst>
          </p:cNvPr>
          <p:cNvSpPr>
            <a:spLocks xmlns:a="http://schemas.openxmlformats.org/drawingml/2006/main" noGrp="1"/>
          </p:cNvSpPr>
          <p:nvPr/>
        </p:nvSpPr>
        <p:spPr>
          <a:xfrm xmlns:a="http://schemas.openxmlformats.org/drawingml/2006/main">
            <a:off x="29908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18" name="">
            <a:extLst xmlns:a="http://schemas.openxmlformats.org/drawingml/2006/main">
              <a:ext uri="{FF2B5EF4-FFF2-40B4-BE49-F238E27FC236}">
                <a16:creationId xmlns:a16="http://schemas.microsoft.com/office/drawing/2014/main" id="{DED6B87F-D50F-4305-BE41-728D0B5669F1}"/>
              </a:ext>
            </a:extLst>
          </p:cNvPr>
          <p:cNvSpPr>
            <a:spLocks xmlns:a="http://schemas.openxmlformats.org/drawingml/2006/main" noGrp="1"/>
          </p:cNvSpPr>
          <p:nvPr/>
        </p:nvSpPr>
        <p:spPr>
          <a:xfrm xmlns:a="http://schemas.openxmlformats.org/drawingml/2006/main">
            <a:off x="29908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releases the PO and confirms BOM picking.</a:t>
            </a:r>
          </a:p>
        </p:txBody>
      </p:sp>
      <p:sp>
        <p:nvSpPr>
          <p:cNvPr id="19" name="">
            <a:extLst xmlns:a="http://schemas.openxmlformats.org/drawingml/2006/main">
              <a:ext uri="{FF2B5EF4-FFF2-40B4-BE49-F238E27FC236}">
                <a16:creationId xmlns:a16="http://schemas.microsoft.com/office/drawing/2014/main" id="{46EE3353-6D57-4A8B-AD95-54793625D251}"/>
              </a:ext>
            </a:extLst>
          </p:cNvPr>
          <p:cNvSpPr>
            <a:spLocks xmlns:a="http://schemas.openxmlformats.org/drawingml/2006/main" noGrp="1"/>
          </p:cNvSpPr>
          <p:nvPr/>
        </p:nvSpPr>
        <p:spPr>
          <a:xfrm xmlns:a="http://schemas.openxmlformats.org/drawingml/2006/main">
            <a:off x="29908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0" name="">
            <a:extLst xmlns:a="http://schemas.openxmlformats.org/drawingml/2006/main">
              <a:ext uri="{FF2B5EF4-FFF2-40B4-BE49-F238E27FC236}">
                <a16:creationId xmlns:a16="http://schemas.microsoft.com/office/drawing/2014/main" id="{8334AF76-2BAA-4B0A-9E01-14CB0A4F7CBC}"/>
              </a:ext>
            </a:extLst>
          </p:cNvPr>
          <p:cNvSpPr>
            <a:spLocks xmlns:a="http://schemas.openxmlformats.org/drawingml/2006/main" noGrp="1"/>
          </p:cNvSpPr>
          <p:nvPr/>
        </p:nvSpPr>
        <p:spPr>
          <a:xfrm xmlns:a="http://schemas.openxmlformats.org/drawingml/2006/main">
            <a:off x="29908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D98A0B"/>
                </a:solidFill>
                <a:latin typeface="Aptos"/>
                <a:ea typeface="Aptos"/>
                <a:cs typeface="Aptos"/>
              </a:defRPr>
            </a:pPr>
            <a:r>
              <a:rPr sz="1125" b="1">
                <a:solidFill>
                  <a:srgbClr val="D98A0B"/>
                </a:solidFill>
                <a:latin typeface="Aptos"/>
                <a:ea typeface="Aptos"/>
                <a:cs typeface="Aptos"/>
              </a:rPr>
              <a:t>SAP</a:t>
            </a:r>
          </a:p>
        </p:txBody>
      </p:sp>
      <p:sp>
        <p:nvSpPr>
          <p:cNvPr id="21" name="">
            <a:extLst xmlns:a="http://schemas.openxmlformats.org/drawingml/2006/main">
              <a:ext uri="{FF2B5EF4-FFF2-40B4-BE49-F238E27FC236}">
                <a16:creationId xmlns:a16="http://schemas.microsoft.com/office/drawing/2014/main" id="{D01FB865-CF1C-4C73-8040-2C36240B89CA}"/>
              </a:ext>
            </a:extLst>
          </p:cNvPr>
          <p:cNvSpPr>
            <a:spLocks xmlns:a="http://schemas.openxmlformats.org/drawingml/2006/main" noGrp="1"/>
          </p:cNvSpPr>
          <p:nvPr/>
        </p:nvSpPr>
        <p:spPr>
          <a:xfrm xmlns:a="http://schemas.openxmlformats.org/drawingml/2006/main">
            <a:off x="29908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material consumption to the production order.</a:t>
            </a:r>
          </a:p>
        </p:txBody>
      </p:sp>
      <p:sp>
        <p:nvSpPr>
          <p:cNvPr id="22" name="">
            <a:extLst xmlns:a="http://schemas.openxmlformats.org/drawingml/2006/main">
              <a:ext uri="{FF2B5EF4-FFF2-40B4-BE49-F238E27FC236}">
                <a16:creationId xmlns:a16="http://schemas.microsoft.com/office/drawing/2014/main" id="{0E1EF57B-C0DE-4D70-88BB-9562427FF738}"/>
              </a:ext>
            </a:extLst>
          </p:cNvPr>
          <p:cNvSpPr>
            <a:spLocks xmlns:a="http://schemas.openxmlformats.org/drawingml/2006/main" noGrp="1"/>
          </p:cNvSpPr>
          <p:nvPr/>
        </p:nvSpPr>
        <p:spPr>
          <a:xfrm xmlns:a="http://schemas.openxmlformats.org/drawingml/2006/main">
            <a:off x="51625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23845B"/>
            </a:solidFill>
            <a:prstDash val="solid"/>
          </a:ln>
        </p:spPr>
      </p:sp>
      <p:sp>
        <p:nvSpPr>
          <p:cNvPr id="23" name="">
            <a:extLst xmlns:a="http://schemas.openxmlformats.org/drawingml/2006/main">
              <a:ext uri="{FF2B5EF4-FFF2-40B4-BE49-F238E27FC236}">
                <a16:creationId xmlns:a16="http://schemas.microsoft.com/office/drawing/2014/main" id="{0B17302A-DDDC-4B05-B738-E249459D8950}"/>
              </a:ext>
            </a:extLst>
          </p:cNvPr>
          <p:cNvSpPr>
            <a:spLocks xmlns:a="http://schemas.openxmlformats.org/drawingml/2006/main" noGrp="1"/>
          </p:cNvSpPr>
          <p:nvPr/>
        </p:nvSpPr>
        <p:spPr>
          <a:xfrm xmlns:a="http://schemas.openxmlformats.org/drawingml/2006/main">
            <a:off x="53149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03</a:t>
            </a:r>
          </a:p>
        </p:txBody>
      </p:sp>
      <p:sp>
        <p:nvSpPr>
          <p:cNvPr id="24" name="">
            <a:extLst xmlns:a="http://schemas.openxmlformats.org/drawingml/2006/main">
              <a:ext uri="{FF2B5EF4-FFF2-40B4-BE49-F238E27FC236}">
                <a16:creationId xmlns:a16="http://schemas.microsoft.com/office/drawing/2014/main" id="{6B9C0457-D9A4-4F01-AD76-A8BF3CD6E2BE}"/>
              </a:ext>
            </a:extLst>
          </p:cNvPr>
          <p:cNvSpPr>
            <a:spLocks xmlns:a="http://schemas.openxmlformats.org/drawingml/2006/main" noGrp="1"/>
          </p:cNvSpPr>
          <p:nvPr/>
        </p:nvSpPr>
        <p:spPr>
          <a:xfrm xmlns:a="http://schemas.openxmlformats.org/drawingml/2006/main">
            <a:off x="53149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Record output</a:t>
            </a:r>
          </a:p>
        </p:txBody>
      </p:sp>
      <p:sp>
        <p:nvSpPr>
          <p:cNvPr id="25" name="">
            <a:extLst xmlns:a="http://schemas.openxmlformats.org/drawingml/2006/main">
              <a:ext uri="{FF2B5EF4-FFF2-40B4-BE49-F238E27FC236}">
                <a16:creationId xmlns:a16="http://schemas.microsoft.com/office/drawing/2014/main" id="{1DFC6382-7E6A-4D58-8DAC-3909099989FB}"/>
              </a:ext>
            </a:extLst>
          </p:cNvPr>
          <p:cNvSpPr>
            <a:spLocks xmlns:a="http://schemas.openxmlformats.org/drawingml/2006/main" noGrp="1"/>
          </p:cNvSpPr>
          <p:nvPr/>
        </p:nvSpPr>
        <p:spPr>
          <a:xfrm xmlns:a="http://schemas.openxmlformats.org/drawingml/2006/main">
            <a:off x="53149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26" name="">
            <a:extLst xmlns:a="http://schemas.openxmlformats.org/drawingml/2006/main">
              <a:ext uri="{FF2B5EF4-FFF2-40B4-BE49-F238E27FC236}">
                <a16:creationId xmlns:a16="http://schemas.microsoft.com/office/drawing/2014/main" id="{C09C7848-F9C6-43DE-9E2F-84CF38610E9F}"/>
              </a:ext>
            </a:extLst>
          </p:cNvPr>
          <p:cNvSpPr>
            <a:spLocks xmlns:a="http://schemas.openxmlformats.org/drawingml/2006/main" noGrp="1"/>
          </p:cNvSpPr>
          <p:nvPr/>
        </p:nvSpPr>
        <p:spPr>
          <a:xfrm xmlns:a="http://schemas.openxmlformats.org/drawingml/2006/main">
            <a:off x="53149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216"/>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records passthrough completion or each finished assembly box.</a:t>
            </a:r>
          </a:p>
        </p:txBody>
      </p:sp>
      <p:sp>
        <p:nvSpPr>
          <p:cNvPr id="27" name="">
            <a:extLst xmlns:a="http://schemas.openxmlformats.org/drawingml/2006/main">
              <a:ext uri="{FF2B5EF4-FFF2-40B4-BE49-F238E27FC236}">
                <a16:creationId xmlns:a16="http://schemas.microsoft.com/office/drawing/2014/main" id="{11DB816C-BEE7-4648-A97C-6CFE634F4D8C}"/>
              </a:ext>
            </a:extLst>
          </p:cNvPr>
          <p:cNvSpPr>
            <a:spLocks xmlns:a="http://schemas.openxmlformats.org/drawingml/2006/main" noGrp="1"/>
          </p:cNvSpPr>
          <p:nvPr/>
        </p:nvSpPr>
        <p:spPr>
          <a:xfrm xmlns:a="http://schemas.openxmlformats.org/drawingml/2006/main">
            <a:off x="53149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8" name="">
            <a:extLst xmlns:a="http://schemas.openxmlformats.org/drawingml/2006/main">
              <a:ext uri="{FF2B5EF4-FFF2-40B4-BE49-F238E27FC236}">
                <a16:creationId xmlns:a16="http://schemas.microsoft.com/office/drawing/2014/main" id="{419A5B40-0605-4965-9314-04ABE0F9BA8F}"/>
              </a:ext>
            </a:extLst>
          </p:cNvPr>
          <p:cNvSpPr>
            <a:spLocks xmlns:a="http://schemas.openxmlformats.org/drawingml/2006/main" noGrp="1"/>
          </p:cNvSpPr>
          <p:nvPr/>
        </p:nvSpPr>
        <p:spPr>
          <a:xfrm xmlns:a="http://schemas.openxmlformats.org/drawingml/2006/main">
            <a:off x="53149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3845B"/>
                </a:solidFill>
                <a:latin typeface="Aptos"/>
                <a:ea typeface="Aptos"/>
                <a:cs typeface="Aptos"/>
              </a:defRPr>
            </a:pPr>
            <a:r>
              <a:rPr sz="1125" b="1">
                <a:solidFill>
                  <a:srgbClr val="23845B"/>
                </a:solidFill>
                <a:latin typeface="Aptos"/>
                <a:ea typeface="Aptos"/>
                <a:cs typeface="Aptos"/>
              </a:rPr>
              <a:t>SAP</a:t>
            </a:r>
          </a:p>
        </p:txBody>
      </p:sp>
      <p:sp>
        <p:nvSpPr>
          <p:cNvPr id="29" name="">
            <a:extLst xmlns:a="http://schemas.openxmlformats.org/drawingml/2006/main">
              <a:ext uri="{FF2B5EF4-FFF2-40B4-BE49-F238E27FC236}">
                <a16:creationId xmlns:a16="http://schemas.microsoft.com/office/drawing/2014/main" id="{C107B3CE-E2C9-44AD-848E-02FEA93D01D2}"/>
              </a:ext>
            </a:extLst>
          </p:cNvPr>
          <p:cNvSpPr>
            <a:spLocks xmlns:a="http://schemas.openxmlformats.org/drawingml/2006/main" noGrp="1"/>
          </p:cNvSpPr>
          <p:nvPr/>
        </p:nvSpPr>
        <p:spPr>
          <a:xfrm xmlns:a="http://schemas.openxmlformats.org/drawingml/2006/main">
            <a:off x="53149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production confirmation and the FG receipt.</a:t>
            </a:r>
          </a:p>
        </p:txBody>
      </p:sp>
      <p:sp>
        <p:nvSpPr>
          <p:cNvPr id="30" name="">
            <a:extLst xmlns:a="http://schemas.openxmlformats.org/drawingml/2006/main">
              <a:ext uri="{FF2B5EF4-FFF2-40B4-BE49-F238E27FC236}">
                <a16:creationId xmlns:a16="http://schemas.microsoft.com/office/drawing/2014/main" id="{12B224DC-CA7B-498F-9A44-576C7189D646}"/>
              </a:ext>
            </a:extLst>
          </p:cNvPr>
          <p:cNvSpPr>
            <a:spLocks xmlns:a="http://schemas.openxmlformats.org/drawingml/2006/main" noGrp="1"/>
          </p:cNvSpPr>
          <p:nvPr/>
        </p:nvSpPr>
        <p:spPr>
          <a:xfrm xmlns:a="http://schemas.openxmlformats.org/drawingml/2006/main">
            <a:off x="74866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12B7E6"/>
            </a:solidFill>
            <a:prstDash val="solid"/>
          </a:ln>
        </p:spPr>
      </p:sp>
      <p:sp>
        <p:nvSpPr>
          <p:cNvPr id="31" name="">
            <a:extLst xmlns:a="http://schemas.openxmlformats.org/drawingml/2006/main">
              <a:ext uri="{FF2B5EF4-FFF2-40B4-BE49-F238E27FC236}">
                <a16:creationId xmlns:a16="http://schemas.microsoft.com/office/drawing/2014/main" id="{FC20E153-452A-4B99-8C6C-7ECE34E5EBA1}"/>
              </a:ext>
            </a:extLst>
          </p:cNvPr>
          <p:cNvSpPr>
            <a:spLocks xmlns:a="http://schemas.openxmlformats.org/drawingml/2006/main" noGrp="1"/>
          </p:cNvSpPr>
          <p:nvPr/>
        </p:nvSpPr>
        <p:spPr>
          <a:xfrm xmlns:a="http://schemas.openxmlformats.org/drawingml/2006/main">
            <a:off x="76390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04</a:t>
            </a:r>
          </a:p>
        </p:txBody>
      </p:sp>
      <p:sp>
        <p:nvSpPr>
          <p:cNvPr id="32" name="">
            <a:extLst xmlns:a="http://schemas.openxmlformats.org/drawingml/2006/main">
              <a:ext uri="{FF2B5EF4-FFF2-40B4-BE49-F238E27FC236}">
                <a16:creationId xmlns:a16="http://schemas.microsoft.com/office/drawing/2014/main" id="{4F135A1C-F557-4783-873C-E43F9BD76199}"/>
              </a:ext>
            </a:extLst>
          </p:cNvPr>
          <p:cNvSpPr>
            <a:spLocks xmlns:a="http://schemas.openxmlformats.org/drawingml/2006/main" noGrp="1"/>
          </p:cNvSpPr>
          <p:nvPr/>
        </p:nvSpPr>
        <p:spPr>
          <a:xfrm xmlns:a="http://schemas.openxmlformats.org/drawingml/2006/main">
            <a:off x="76390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Validate and deliver</a:t>
            </a:r>
          </a:p>
        </p:txBody>
      </p:sp>
      <p:sp>
        <p:nvSpPr>
          <p:cNvPr id="33" name="">
            <a:extLst xmlns:a="http://schemas.openxmlformats.org/drawingml/2006/main">
              <a:ext uri="{FF2B5EF4-FFF2-40B4-BE49-F238E27FC236}">
                <a16:creationId xmlns:a16="http://schemas.microsoft.com/office/drawing/2014/main" id="{142474F2-0AAB-42C7-9479-12FF1EB8C59C}"/>
              </a:ext>
            </a:extLst>
          </p:cNvPr>
          <p:cNvSpPr>
            <a:spLocks xmlns:a="http://schemas.openxmlformats.org/drawingml/2006/main" noGrp="1"/>
          </p:cNvSpPr>
          <p:nvPr/>
        </p:nvSpPr>
        <p:spPr>
          <a:xfrm xmlns:a="http://schemas.openxmlformats.org/drawingml/2006/main">
            <a:off x="76390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34" name="">
            <a:extLst xmlns:a="http://schemas.openxmlformats.org/drawingml/2006/main">
              <a:ext uri="{FF2B5EF4-FFF2-40B4-BE49-F238E27FC236}">
                <a16:creationId xmlns:a16="http://schemas.microsoft.com/office/drawing/2014/main" id="{FDF02F0A-85BC-455B-B594-8FFCE4D18FA0}"/>
              </a:ext>
            </a:extLst>
          </p:cNvPr>
          <p:cNvSpPr>
            <a:spLocks xmlns:a="http://schemas.openxmlformats.org/drawingml/2006/main" noGrp="1"/>
          </p:cNvSpPr>
          <p:nvPr/>
        </p:nvSpPr>
        <p:spPr>
          <a:xfrm xmlns:a="http://schemas.openxmlformats.org/drawingml/2006/main">
            <a:off x="76390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Poka-Yoke must pass before NOVA accepts the delivery scan.</a:t>
            </a:r>
          </a:p>
        </p:txBody>
      </p:sp>
      <p:sp>
        <p:nvSpPr>
          <p:cNvPr id="35" name="">
            <a:extLst xmlns:a="http://schemas.openxmlformats.org/drawingml/2006/main">
              <a:ext uri="{FF2B5EF4-FFF2-40B4-BE49-F238E27FC236}">
                <a16:creationId xmlns:a16="http://schemas.microsoft.com/office/drawing/2014/main" id="{3DADEB91-7919-4907-B454-318478A34C80}"/>
              </a:ext>
            </a:extLst>
          </p:cNvPr>
          <p:cNvSpPr>
            <a:spLocks xmlns:a="http://schemas.openxmlformats.org/drawingml/2006/main" noGrp="1"/>
          </p:cNvSpPr>
          <p:nvPr/>
        </p:nvSpPr>
        <p:spPr>
          <a:xfrm xmlns:a="http://schemas.openxmlformats.org/drawingml/2006/main">
            <a:off x="76390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36" name="">
            <a:extLst xmlns:a="http://schemas.openxmlformats.org/drawingml/2006/main">
              <a:ext uri="{FF2B5EF4-FFF2-40B4-BE49-F238E27FC236}">
                <a16:creationId xmlns:a16="http://schemas.microsoft.com/office/drawing/2014/main" id="{FB63E550-D45A-4866-A0BC-55057CF9A3CF}"/>
              </a:ext>
            </a:extLst>
          </p:cNvPr>
          <p:cNvSpPr>
            <a:spLocks xmlns:a="http://schemas.openxmlformats.org/drawingml/2006/main" noGrp="1"/>
          </p:cNvSpPr>
          <p:nvPr/>
        </p:nvSpPr>
        <p:spPr>
          <a:xfrm xmlns:a="http://schemas.openxmlformats.org/drawingml/2006/main">
            <a:off x="76390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12B7E6"/>
                </a:solidFill>
                <a:latin typeface="Aptos"/>
                <a:ea typeface="Aptos"/>
                <a:cs typeface="Aptos"/>
              </a:defRPr>
            </a:pPr>
            <a:r>
              <a:rPr sz="1125" b="1">
                <a:solidFill>
                  <a:srgbClr val="12B7E6"/>
                </a:solidFill>
                <a:latin typeface="Aptos"/>
                <a:ea typeface="Aptos"/>
                <a:cs typeface="Aptos"/>
              </a:rPr>
              <a:t>SAP</a:t>
            </a:r>
          </a:p>
        </p:txBody>
      </p:sp>
      <p:sp>
        <p:nvSpPr>
          <p:cNvPr id="37" name="">
            <a:extLst xmlns:a="http://schemas.openxmlformats.org/drawingml/2006/main">
              <a:ext uri="{FF2B5EF4-FFF2-40B4-BE49-F238E27FC236}">
                <a16:creationId xmlns:a16="http://schemas.microsoft.com/office/drawing/2014/main" id="{CBBED340-22AD-4E08-8538-AF5C8F4ECFA3}"/>
              </a:ext>
            </a:extLst>
          </p:cNvPr>
          <p:cNvSpPr>
            <a:spLocks xmlns:a="http://schemas.openxmlformats.org/drawingml/2006/main" noGrp="1"/>
          </p:cNvSpPr>
          <p:nvPr/>
        </p:nvSpPr>
        <p:spPr>
          <a:xfrm xmlns:a="http://schemas.openxmlformats.org/drawingml/2006/main">
            <a:off x="76390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the FG goods issue or delivery transaction.</a:t>
            </a:r>
          </a:p>
        </p:txBody>
      </p:sp>
      <p:sp>
        <p:nvSpPr>
          <p:cNvPr id="38" name="">
            <a:extLst xmlns:a="http://schemas.openxmlformats.org/drawingml/2006/main">
              <a:ext uri="{FF2B5EF4-FFF2-40B4-BE49-F238E27FC236}">
                <a16:creationId xmlns:a16="http://schemas.microsoft.com/office/drawing/2014/main" id="{80C11C9F-F5E8-44DB-B3EB-C21792BE6502}"/>
              </a:ext>
            </a:extLst>
          </p:cNvPr>
          <p:cNvSpPr>
            <a:spLocks xmlns:a="http://schemas.openxmlformats.org/drawingml/2006/main" noGrp="1"/>
          </p:cNvSpPr>
          <p:nvPr/>
        </p:nvSpPr>
        <p:spPr>
          <a:xfrm xmlns:a="http://schemas.openxmlformats.org/drawingml/2006/main">
            <a:off x="98107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D94141"/>
            </a:solidFill>
            <a:prstDash val="solid"/>
          </a:ln>
        </p:spPr>
      </p:sp>
      <p:sp>
        <p:nvSpPr>
          <p:cNvPr id="39" name="">
            <a:extLst xmlns:a="http://schemas.openxmlformats.org/drawingml/2006/main">
              <a:ext uri="{FF2B5EF4-FFF2-40B4-BE49-F238E27FC236}">
                <a16:creationId xmlns:a16="http://schemas.microsoft.com/office/drawing/2014/main" id="{A27C669D-80D9-43CB-919E-D987567BEF0D}"/>
              </a:ext>
            </a:extLst>
          </p:cNvPr>
          <p:cNvSpPr>
            <a:spLocks xmlns:a="http://schemas.openxmlformats.org/drawingml/2006/main" noGrp="1"/>
          </p:cNvSpPr>
          <p:nvPr/>
        </p:nvSpPr>
        <p:spPr>
          <a:xfrm xmlns:a="http://schemas.openxmlformats.org/drawingml/2006/main">
            <a:off x="99631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05</a:t>
            </a:r>
          </a:p>
        </p:txBody>
      </p:sp>
      <p:sp>
        <p:nvSpPr>
          <p:cNvPr id="40" name="">
            <a:extLst xmlns:a="http://schemas.openxmlformats.org/drawingml/2006/main">
              <a:ext uri="{FF2B5EF4-FFF2-40B4-BE49-F238E27FC236}">
                <a16:creationId xmlns:a16="http://schemas.microsoft.com/office/drawing/2014/main" id="{A003BFE7-9FA4-4180-A42F-70C0B15284B4}"/>
              </a:ext>
            </a:extLst>
          </p:cNvPr>
          <p:cNvSpPr>
            <a:spLocks xmlns:a="http://schemas.openxmlformats.org/drawingml/2006/main" noGrp="1"/>
          </p:cNvSpPr>
          <p:nvPr/>
        </p:nvSpPr>
        <p:spPr>
          <a:xfrm xmlns:a="http://schemas.openxmlformats.org/drawingml/2006/main">
            <a:off x="99631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Close the order</a:t>
            </a:r>
          </a:p>
        </p:txBody>
      </p:sp>
      <p:sp>
        <p:nvSpPr>
          <p:cNvPr id="41" name="">
            <a:extLst xmlns:a="http://schemas.openxmlformats.org/drawingml/2006/main">
              <a:ext uri="{FF2B5EF4-FFF2-40B4-BE49-F238E27FC236}">
                <a16:creationId xmlns:a16="http://schemas.microsoft.com/office/drawing/2014/main" id="{B09BDF85-0D79-4312-B069-370EBDB2DBD5}"/>
              </a:ext>
            </a:extLst>
          </p:cNvPr>
          <p:cNvSpPr>
            <a:spLocks xmlns:a="http://schemas.openxmlformats.org/drawingml/2006/main" noGrp="1"/>
          </p:cNvSpPr>
          <p:nvPr/>
        </p:nvSpPr>
        <p:spPr>
          <a:xfrm xmlns:a="http://schemas.openxmlformats.org/drawingml/2006/main">
            <a:off x="99631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42" name="">
            <a:extLst xmlns:a="http://schemas.openxmlformats.org/drawingml/2006/main">
              <a:ext uri="{FF2B5EF4-FFF2-40B4-BE49-F238E27FC236}">
                <a16:creationId xmlns:a16="http://schemas.microsoft.com/office/drawing/2014/main" id="{4186AFBF-4359-4A49-AC16-B5777260FAB4}"/>
              </a:ext>
            </a:extLst>
          </p:cNvPr>
          <p:cNvSpPr>
            <a:spLocks xmlns:a="http://schemas.openxmlformats.org/drawingml/2006/main" noGrp="1"/>
          </p:cNvSpPr>
          <p:nvPr/>
        </p:nvSpPr>
        <p:spPr>
          <a:xfrm xmlns:a="http://schemas.openxmlformats.org/drawingml/2006/main">
            <a:off x="99631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confirms that every label and PO has been delivered.</a:t>
            </a:r>
          </a:p>
        </p:txBody>
      </p:sp>
      <p:sp>
        <p:nvSpPr>
          <p:cNvPr id="43" name="">
            <a:extLst xmlns:a="http://schemas.openxmlformats.org/drawingml/2006/main">
              <a:ext uri="{FF2B5EF4-FFF2-40B4-BE49-F238E27FC236}">
                <a16:creationId xmlns:a16="http://schemas.microsoft.com/office/drawing/2014/main" id="{122BCBD2-00B2-4DC1-BF44-12B84F3CE48B}"/>
              </a:ext>
            </a:extLst>
          </p:cNvPr>
          <p:cNvSpPr>
            <a:spLocks xmlns:a="http://schemas.openxmlformats.org/drawingml/2006/main" noGrp="1"/>
          </p:cNvSpPr>
          <p:nvPr/>
        </p:nvSpPr>
        <p:spPr>
          <a:xfrm xmlns:a="http://schemas.openxmlformats.org/drawingml/2006/main">
            <a:off x="99631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44" name="">
            <a:extLst xmlns:a="http://schemas.openxmlformats.org/drawingml/2006/main">
              <a:ext uri="{FF2B5EF4-FFF2-40B4-BE49-F238E27FC236}">
                <a16:creationId xmlns:a16="http://schemas.microsoft.com/office/drawing/2014/main" id="{B38D052F-CAB5-4D46-B987-C475599A7520}"/>
              </a:ext>
            </a:extLst>
          </p:cNvPr>
          <p:cNvSpPr>
            <a:spLocks xmlns:a="http://schemas.openxmlformats.org/drawingml/2006/main" noGrp="1"/>
          </p:cNvSpPr>
          <p:nvPr/>
        </p:nvSpPr>
        <p:spPr>
          <a:xfrm xmlns:a="http://schemas.openxmlformats.org/drawingml/2006/main">
            <a:off x="99631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D94141"/>
                </a:solidFill>
                <a:latin typeface="Aptos"/>
                <a:ea typeface="Aptos"/>
                <a:cs typeface="Aptos"/>
              </a:defRPr>
            </a:pPr>
            <a:r>
              <a:rPr sz="1125" b="1">
                <a:solidFill>
                  <a:srgbClr val="D94141"/>
                </a:solidFill>
                <a:latin typeface="Aptos"/>
                <a:ea typeface="Aptos"/>
                <a:cs typeface="Aptos"/>
              </a:rPr>
              <a:t>SAP</a:t>
            </a:r>
          </a:p>
        </p:txBody>
      </p:sp>
      <p:sp>
        <p:nvSpPr>
          <p:cNvPr id="45" name="">
            <a:extLst xmlns:a="http://schemas.openxmlformats.org/drawingml/2006/main">
              <a:ext uri="{FF2B5EF4-FFF2-40B4-BE49-F238E27FC236}">
                <a16:creationId xmlns:a16="http://schemas.microsoft.com/office/drawing/2014/main" id="{5B884337-760D-440F-811B-A874E78F4C5F}"/>
              </a:ext>
            </a:extLst>
          </p:cNvPr>
          <p:cNvSpPr>
            <a:spLocks xmlns:a="http://schemas.openxmlformats.org/drawingml/2006/main" noGrp="1"/>
          </p:cNvSpPr>
          <p:nvPr/>
        </p:nvSpPr>
        <p:spPr>
          <a:xfrm xmlns:a="http://schemas.openxmlformats.org/drawingml/2006/main">
            <a:off x="99631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finalizes the order after every posting is complete.</a:t>
            </a:r>
          </a:p>
        </p:txBody>
      </p:sp>
      <p:cxnSp>
        <p:nvCxnSpPr>
          <p:cNvPr id="100" name=""/>
          <p:cNvCxnSpPr>
            <a:stCxn xmlns:a="http://schemas.openxmlformats.org/drawingml/2006/main" id="6" idx="3"/>
            <a:endCxn xmlns:a="http://schemas.openxmlformats.org/drawingml/2006/main" id="14" idx="1"/>
          </p:cNvCxnSpPr>
          <p:nvPr/>
        </p:nvCxnSpPr>
        <p:spPr>
          <a:xfrm xmlns:a="http://schemas.openxmlformats.org/drawingml/2006/main">
            <a:off x="24193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101" name=""/>
          <p:cNvCxnSpPr>
            <a:stCxn xmlns:a="http://schemas.openxmlformats.org/drawingml/2006/main" id="14" idx="3"/>
            <a:endCxn xmlns:a="http://schemas.openxmlformats.org/drawingml/2006/main" id="22" idx="1"/>
          </p:cNvCxnSpPr>
          <p:nvPr/>
        </p:nvCxnSpPr>
        <p:spPr>
          <a:xfrm xmlns:a="http://schemas.openxmlformats.org/drawingml/2006/main">
            <a:off x="47434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102" name=""/>
          <p:cNvCxnSpPr>
            <a:stCxn xmlns:a="http://schemas.openxmlformats.org/drawingml/2006/main" id="22" idx="3"/>
            <a:endCxn xmlns:a="http://schemas.openxmlformats.org/drawingml/2006/main" id="30" idx="1"/>
          </p:cNvCxnSpPr>
          <p:nvPr/>
        </p:nvCxnSpPr>
        <p:spPr>
          <a:xfrm xmlns:a="http://schemas.openxmlformats.org/drawingml/2006/main">
            <a:off x="70675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103" name=""/>
          <p:cNvCxnSpPr>
            <a:stCxn xmlns:a="http://schemas.openxmlformats.org/drawingml/2006/main" id="30" idx="3"/>
            <a:endCxn xmlns:a="http://schemas.openxmlformats.org/drawingml/2006/main" id="38" idx="1"/>
          </p:cNvCxnSpPr>
          <p:nvPr/>
        </p:nvCxnSpPr>
        <p:spPr>
          <a:xfrm xmlns:a="http://schemas.openxmlformats.org/drawingml/2006/main">
            <a:off x="93916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sp>
        <p:nvSpPr>
          <p:cNvPr id="50" name="">
            <a:extLst xmlns:a="http://schemas.openxmlformats.org/drawingml/2006/main">
              <a:ext uri="{FF2B5EF4-FFF2-40B4-BE49-F238E27FC236}">
                <a16:creationId xmlns:a16="http://schemas.microsoft.com/office/drawing/2014/main" id="{9C00F16E-CFE9-4AA1-B1BD-EBCD3140F370}"/>
              </a:ext>
            </a:extLst>
          </p:cNvPr>
          <p:cNvSpPr>
            <a:spLocks xmlns:a="http://schemas.openxmlformats.org/drawingml/2006/main" noGrp="1"/>
          </p:cNvSpPr>
          <p:nvPr/>
        </p:nvSpPr>
        <p:spPr>
          <a:xfrm xmlns:a="http://schemas.openxmlformats.org/drawingml/2006/main">
            <a:off x="1466850" y="5619750"/>
            <a:ext cx="9258300" cy="533400"/>
          </a:xfrm>
          <a:prstGeom xmlns:a="http://schemas.openxmlformats.org/drawingml/2006/main" prst="roundRect">
            <a:avLst>
              <a:gd name="adj" fmla="val 14286"/>
            </a:avLst>
          </a:prstGeom>
          <a:solidFill xmlns:a="http://schemas.openxmlformats.org/drawingml/2006/main">
            <a:srgbClr val="FFF5DF"/>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9CC02404-D18E-4B64-B466-08626C2EFD4A}"/>
              </a:ext>
            </a:extLst>
          </p:cNvPr>
          <p:cNvSpPr>
            <a:spLocks xmlns:a="http://schemas.openxmlformats.org/drawingml/2006/main" noGrp="1"/>
          </p:cNvSpPr>
          <p:nvPr/>
        </p:nvSpPr>
        <p:spPr>
          <a:xfrm xmlns:a="http://schemas.openxmlformats.org/drawingml/2006/main">
            <a:off x="1752600" y="5743575"/>
            <a:ext cx="868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655"/>
          </a:bodyPr>
          <a:lstStyle xmlns:a="http://schemas.openxmlformats.org/drawingml/2006/main"/>
          <a:p xmlns:a="http://schemas.openxmlformats.org/drawingml/2006/main">
            <a:pPr algn="ctr">
              <a:lnSpc>
                <a:spcPct val="100000"/>
              </a:lnSpc>
              <a:buNone/>
              <a:defRPr sz="1425" b="1">
                <a:solidFill>
                  <a:srgbClr val="8A5A00"/>
                </a:solidFill>
                <a:latin typeface="Aptos"/>
                <a:ea typeface="Aptos"/>
                <a:cs typeface="Aptos"/>
              </a:defRPr>
            </a:pPr>
            <a:r>
              <a:rPr sz="1425" b="1">
                <a:solidFill>
                  <a:srgbClr val="8A5A00"/>
                </a:solidFill>
                <a:latin typeface="Aptos"/>
                <a:ea typeface="Aptos"/>
                <a:cs typeface="Aptos"/>
              </a:rPr>
              <a:t>NOVA marks a transaction as posted only after SAP returns the document number. Errors remain visible for follow-up.</a:t>
            </a:r>
          </a:p>
        </p:txBody>
      </p:sp>
      <p:sp>
        <p:nvSpPr>
          <p:cNvPr id="52" name="">
            <a:extLst xmlns:a="http://schemas.openxmlformats.org/drawingml/2006/main">
              <a:ext uri="{FF2B5EF4-FFF2-40B4-BE49-F238E27FC236}">
                <a16:creationId xmlns:a16="http://schemas.microsoft.com/office/drawing/2014/main" id="{56C76D36-36CC-438D-AD82-583FFD9A0E6F}"/>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53" name="">
            <a:extLst xmlns:a="http://schemas.openxmlformats.org/drawingml/2006/main">
              <a:ext uri="{FF2B5EF4-FFF2-40B4-BE49-F238E27FC236}">
                <a16:creationId xmlns:a16="http://schemas.microsoft.com/office/drawing/2014/main" id="{60AFDE60-CD84-4E8D-873B-598B3869AD13}"/>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54" name="">
            <a:extLst xmlns:a="http://schemas.openxmlformats.org/drawingml/2006/main">
              <a:ext uri="{FF2B5EF4-FFF2-40B4-BE49-F238E27FC236}">
                <a16:creationId xmlns:a16="http://schemas.microsoft.com/office/drawing/2014/main" id="{5D588C0B-C675-4F13-906E-B504EAFAEFD1}"/>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04</a:t>
            </a:r>
          </a:p>
        </p:txBody>
      </p:sp>
    </p:spTree>
    <p:extLst>
      <p:ext uri="{BB962C8B-B14F-4D97-AF65-F5344CB8AC3E}">
        <p14:creationId xmlns:p14="http://schemas.microsoft.com/office/powerpoint/2010/main" val="15325006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8A2A39D-44CC-473D-AA25-8ED7D8BD178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D2E7C8-F61B-4724-9011-1EE010E8E89D}"/>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Target connection to SAP</a:t>
            </a:r>
          </a:p>
        </p:txBody>
      </p:sp>
      <p:sp>
        <p:nvSpPr>
          <p:cNvPr id="3" name="">
            <a:extLst xmlns:a="http://schemas.openxmlformats.org/drawingml/2006/main">
              <a:ext uri="{FF2B5EF4-FFF2-40B4-BE49-F238E27FC236}">
                <a16:creationId xmlns:a16="http://schemas.microsoft.com/office/drawing/2014/main" id="{C8C9F56E-FC75-46B4-8858-198E52608F94}"/>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SAP owns the business records. NOVA provides the shopfloor screens, scanning, and transaction status</a:t>
            </a:r>
          </a:p>
        </p:txBody>
      </p:sp>
      <p:sp>
        <p:nvSpPr>
          <p:cNvPr id="4" name="">
            <a:extLst xmlns:a="http://schemas.openxmlformats.org/drawingml/2006/main">
              <a:ext uri="{FF2B5EF4-FFF2-40B4-BE49-F238E27FC236}">
                <a16:creationId xmlns:a16="http://schemas.microsoft.com/office/drawing/2014/main" id="{0745BCC5-B75A-4C3C-B0C9-82744292EBFC}"/>
              </a:ext>
            </a:extLst>
          </p:cNvPr>
          <p:cNvSpPr>
            <a:spLocks xmlns:a="http://schemas.openxmlformats.org/drawingml/2006/main" noGrp="1"/>
          </p:cNvSpPr>
          <p:nvPr/>
        </p:nvSpPr>
        <p:spPr>
          <a:xfrm xmlns:a="http://schemas.openxmlformats.org/drawingml/2006/main">
            <a:off x="4229100" y="1485900"/>
            <a:ext cx="3733800" cy="1314450"/>
          </a:xfrm>
          <a:prstGeom xmlns:a="http://schemas.openxmlformats.org/drawingml/2006/main" prst="roundRect">
            <a:avLst>
              <a:gd name="adj" fmla="val 5797"/>
            </a:avLst>
          </a:prstGeom>
          <a:solidFill xmlns:a="http://schemas.openxmlformats.org/drawingml/2006/main">
            <a:srgbClr val="0E2C4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5118EA-95FF-4CD4-8096-1EAD51CEF1A6}"/>
              </a:ext>
            </a:extLst>
          </p:cNvPr>
          <p:cNvSpPr>
            <a:spLocks xmlns:a="http://schemas.openxmlformats.org/drawingml/2006/main" noGrp="1"/>
          </p:cNvSpPr>
          <p:nvPr/>
        </p:nvSpPr>
        <p:spPr>
          <a:xfrm xmlns:a="http://schemas.openxmlformats.org/drawingml/2006/main">
            <a:off x="4229100" y="1676400"/>
            <a:ext cx="3733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278"/>
          </a:bodyPr>
          <a:lstStyle xmlns:a="http://schemas.openxmlformats.org/drawingml/2006/main"/>
          <a:p xmlns:a="http://schemas.openxmlformats.org/drawingml/2006/main">
            <a:pPr algn="ctr">
              <a:lnSpc>
                <a:spcPct val="100000"/>
              </a:lnSpc>
              <a:buNone/>
              <a:defRPr sz="3600" b="1">
                <a:solidFill>
                  <a:srgbClr val="FFFFFF"/>
                </a:solidFill>
                <a:latin typeface="Aptos"/>
                <a:ea typeface="Aptos"/>
                <a:cs typeface="Aptos"/>
              </a:defRPr>
            </a:pPr>
            <a:r>
              <a:rPr sz="3600" b="1">
                <a:solidFill>
                  <a:srgbClr val="FFFFFF"/>
                </a:solidFill>
                <a:latin typeface="Aptos"/>
                <a:ea typeface="Aptos"/>
                <a:cs typeface="Aptos"/>
              </a:rPr>
              <a:t>SAP</a:t>
            </a:r>
          </a:p>
        </p:txBody>
      </p:sp>
      <p:sp>
        <p:nvSpPr>
          <p:cNvPr id="6" name="">
            <a:extLst xmlns:a="http://schemas.openxmlformats.org/drawingml/2006/main">
              <a:ext uri="{FF2B5EF4-FFF2-40B4-BE49-F238E27FC236}">
                <a16:creationId xmlns:a16="http://schemas.microsoft.com/office/drawing/2014/main" id="{332A9CE1-DF22-44CA-B66B-75CE1A6CDD14}"/>
              </a:ext>
            </a:extLst>
          </p:cNvPr>
          <p:cNvSpPr>
            <a:spLocks xmlns:a="http://schemas.openxmlformats.org/drawingml/2006/main" noGrp="1"/>
          </p:cNvSpPr>
          <p:nvPr/>
        </p:nvSpPr>
        <p:spPr>
          <a:xfrm xmlns:a="http://schemas.openxmlformats.org/drawingml/2006/main">
            <a:off x="4229100" y="226695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FE8F7"/>
                </a:solidFill>
                <a:latin typeface="Aptos"/>
                <a:ea typeface="Aptos"/>
                <a:cs typeface="Aptos"/>
              </a:defRPr>
            </a:pPr>
            <a:r>
              <a:rPr sz="1500" b="0">
                <a:solidFill>
                  <a:srgbClr val="CFE8F7"/>
                </a:solidFill>
                <a:latin typeface="Aptos"/>
                <a:ea typeface="Aptos"/>
                <a:cs typeface="Aptos"/>
              </a:rPr>
              <a:t>Inventory and accounting record</a:t>
            </a:r>
          </a:p>
        </p:txBody>
      </p:sp>
      <p:sp>
        <p:nvSpPr>
          <p:cNvPr id="7" name="">
            <a:extLst xmlns:a="http://schemas.openxmlformats.org/drawingml/2006/main">
              <a:ext uri="{FF2B5EF4-FFF2-40B4-BE49-F238E27FC236}">
                <a16:creationId xmlns:a16="http://schemas.microsoft.com/office/drawing/2014/main" id="{C16B0B23-D12C-454C-A590-6C3B093FD780}"/>
              </a:ext>
            </a:extLst>
          </p:cNvPr>
          <p:cNvSpPr>
            <a:spLocks xmlns:a="http://schemas.openxmlformats.org/drawingml/2006/main" noGrp="1"/>
          </p:cNvSpPr>
          <p:nvPr/>
        </p:nvSpPr>
        <p:spPr>
          <a:xfrm xmlns:a="http://schemas.openxmlformats.org/drawingml/2006/main">
            <a:off x="4229100" y="4171950"/>
            <a:ext cx="3733800" cy="1162050"/>
          </a:xfrm>
          <a:prstGeom xmlns:a="http://schemas.openxmlformats.org/drawingml/2006/main" prst="roundRect">
            <a:avLst>
              <a:gd name="adj" fmla="val 6557"/>
            </a:avLst>
          </a:prstGeom>
          <a:solidFill xmlns:a="http://schemas.openxmlformats.org/drawingml/2006/main">
            <a:srgbClr val="EAF5FB"/>
          </a:solidFill>
          <a:ln xmlns:a="http://schemas.openxmlformats.org/drawingml/2006/main" w="28575">
            <a:solidFill>
              <a:srgbClr val="12B7E6"/>
            </a:solidFill>
            <a:prstDash val="solid"/>
          </a:ln>
        </p:spPr>
      </p:sp>
      <p:sp>
        <p:nvSpPr>
          <p:cNvPr id="8" name="">
            <a:extLst xmlns:a="http://schemas.openxmlformats.org/drawingml/2006/main">
              <a:ext uri="{FF2B5EF4-FFF2-40B4-BE49-F238E27FC236}">
                <a16:creationId xmlns:a16="http://schemas.microsoft.com/office/drawing/2014/main" id="{41F07857-D0A1-4CE1-8A3B-2EE30A64D0D5}"/>
              </a:ext>
            </a:extLst>
          </p:cNvPr>
          <p:cNvSpPr>
            <a:spLocks xmlns:a="http://schemas.openxmlformats.org/drawingml/2006/main" noGrp="1"/>
          </p:cNvSpPr>
          <p:nvPr/>
        </p:nvSpPr>
        <p:spPr>
          <a:xfrm xmlns:a="http://schemas.openxmlformats.org/drawingml/2006/main">
            <a:off x="4229100" y="4362450"/>
            <a:ext cx="373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071A2B"/>
                </a:solidFill>
                <a:latin typeface="Aptos"/>
                <a:ea typeface="Aptos"/>
                <a:cs typeface="Aptos"/>
              </a:defRPr>
            </a:pPr>
            <a:r>
              <a:rPr sz="2250" b="1">
                <a:solidFill>
                  <a:srgbClr val="071A2B"/>
                </a:solidFill>
                <a:latin typeface="Aptos"/>
                <a:ea typeface="Aptos"/>
                <a:cs typeface="Aptos"/>
              </a:rPr>
              <a:t>NOVA Shopfloor MES</a:t>
            </a:r>
          </a:p>
        </p:txBody>
      </p:sp>
      <p:sp>
        <p:nvSpPr>
          <p:cNvPr id="9" name="">
            <a:extLst xmlns:a="http://schemas.openxmlformats.org/drawingml/2006/main">
              <a:ext uri="{FF2B5EF4-FFF2-40B4-BE49-F238E27FC236}">
                <a16:creationId xmlns:a16="http://schemas.microsoft.com/office/drawing/2014/main" id="{93D8D1BC-4FFB-42F7-8403-9BDE60D6DD34}"/>
              </a:ext>
            </a:extLst>
          </p:cNvPr>
          <p:cNvSpPr>
            <a:spLocks xmlns:a="http://schemas.openxmlformats.org/drawingml/2006/main" noGrp="1"/>
          </p:cNvSpPr>
          <p:nvPr/>
        </p:nvSpPr>
        <p:spPr>
          <a:xfrm xmlns:a="http://schemas.openxmlformats.org/drawingml/2006/main">
            <a:off x="4514850" y="4838700"/>
            <a:ext cx="316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lnSpc>
                <a:spcPct val="100000"/>
              </a:lnSpc>
              <a:buNone/>
              <a:defRPr sz="1350" b="0">
                <a:solidFill>
                  <a:srgbClr val="536575"/>
                </a:solidFill>
                <a:latin typeface="Aptos"/>
                <a:ea typeface="Aptos"/>
                <a:cs typeface="Aptos"/>
              </a:defRPr>
            </a:pPr>
            <a:r>
              <a:rPr sz="1350" b="0">
                <a:solidFill>
                  <a:srgbClr val="536575"/>
                </a:solidFill>
                <a:latin typeface="Aptos"/>
                <a:ea typeface="Aptos"/>
                <a:cs typeface="Aptos"/>
              </a:rPr>
              <a:t>Operator screens, scanning, checks, and integration status</a:t>
            </a:r>
          </a:p>
        </p:txBody>
      </p:sp>
      <p:sp>
        <p:nvSpPr>
          <p:cNvPr id="10" name="">
            <a:extLst xmlns:a="http://schemas.openxmlformats.org/drawingml/2006/main">
              <a:ext uri="{FF2B5EF4-FFF2-40B4-BE49-F238E27FC236}">
                <a16:creationId xmlns:a16="http://schemas.microsoft.com/office/drawing/2014/main" id="{F4035E99-0F2B-48C6-B0BC-A1A95062FDC3}"/>
              </a:ext>
            </a:extLst>
          </p:cNvPr>
          <p:cNvSpPr>
            <a:spLocks xmlns:a="http://schemas.openxmlformats.org/drawingml/2006/main" noGrp="1"/>
          </p:cNvSpPr>
          <p:nvPr/>
        </p:nvSpPr>
        <p:spPr>
          <a:xfrm xmlns:a="http://schemas.openxmlformats.org/drawingml/2006/main">
            <a:off x="666750" y="2457450"/>
            <a:ext cx="2686050" cy="1581150"/>
          </a:xfrm>
          <a:prstGeom xmlns:a="http://schemas.openxmlformats.org/drawingml/2006/main" prst="roundRect">
            <a:avLst>
              <a:gd name="adj" fmla="val 4819"/>
            </a:avLst>
          </a:prstGeom>
          <a:solidFill xmlns:a="http://schemas.openxmlformats.org/drawingml/2006/main">
            <a:srgbClr val="F3F6F9"/>
          </a:solidFill>
          <a:ln xmlns:a="http://schemas.openxmlformats.org/drawingml/2006/main" w="9525">
            <a:solidFill>
              <a:srgbClr val="D5DEE6"/>
            </a:solidFill>
            <a:prstDash val="solid"/>
          </a:ln>
        </p:spPr>
      </p:sp>
      <p:sp>
        <p:nvSpPr>
          <p:cNvPr id="11" name="">
            <a:extLst xmlns:a="http://schemas.openxmlformats.org/drawingml/2006/main">
              <a:ext uri="{FF2B5EF4-FFF2-40B4-BE49-F238E27FC236}">
                <a16:creationId xmlns:a16="http://schemas.microsoft.com/office/drawing/2014/main" id="{A29DCC97-46FD-455C-88B8-9C163D531523}"/>
              </a:ext>
            </a:extLst>
          </p:cNvPr>
          <p:cNvSpPr>
            <a:spLocks xmlns:a="http://schemas.openxmlformats.org/drawingml/2006/main" noGrp="1"/>
          </p:cNvSpPr>
          <p:nvPr/>
        </p:nvSpPr>
        <p:spPr>
          <a:xfrm xmlns:a="http://schemas.openxmlformats.org/drawingml/2006/main">
            <a:off x="895350" y="2667000"/>
            <a:ext cx="2228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0B5CAD"/>
                </a:solidFill>
                <a:latin typeface="Aptos"/>
                <a:ea typeface="Aptos"/>
                <a:cs typeface="Aptos"/>
              </a:defRPr>
            </a:pPr>
            <a:r>
              <a:rPr sz="1875" b="1">
                <a:solidFill>
                  <a:srgbClr val="0B5CAD"/>
                </a:solidFill>
                <a:latin typeface="Aptos"/>
                <a:ea typeface="Aptos"/>
                <a:cs typeface="Aptos"/>
              </a:rPr>
              <a:t>SAP sends</a:t>
            </a:r>
          </a:p>
        </p:txBody>
      </p:sp>
      <p:sp>
        <p:nvSpPr>
          <p:cNvPr id="12" name="">
            <a:extLst xmlns:a="http://schemas.openxmlformats.org/drawingml/2006/main">
              <a:ext uri="{FF2B5EF4-FFF2-40B4-BE49-F238E27FC236}">
                <a16:creationId xmlns:a16="http://schemas.microsoft.com/office/drawing/2014/main" id="{B0F597C1-3D61-4D42-91E8-D4453C92A267}"/>
              </a:ext>
            </a:extLst>
          </p:cNvPr>
          <p:cNvSpPr>
            <a:spLocks xmlns:a="http://schemas.openxmlformats.org/drawingml/2006/main" noGrp="1"/>
          </p:cNvSpPr>
          <p:nvPr/>
        </p:nvSpPr>
        <p:spPr>
          <a:xfrm xmlns:a="http://schemas.openxmlformats.org/drawingml/2006/main">
            <a:off x="895350" y="3143250"/>
            <a:ext cx="2228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466"/>
          </a:bodyPr>
          <a:lstStyle xmlns:a="http://schemas.openxmlformats.org/drawingml/2006/main"/>
          <a:p xmlns:a="http://schemas.openxmlformats.org/drawingml/2006/main">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Material and BOM master</a:t>
            </a:r>
          </a:p>
          <a:p xmlns:a="http://schemas.openxmlformats.org/drawingml/2006/main">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Production orders</a:t>
            </a:r>
          </a:p>
          <a:p xmlns:a="http://schemas.openxmlformats.org/drawingml/2006/main">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Stock and document status</a:t>
            </a:r>
          </a:p>
        </p:txBody>
      </p:sp>
      <p:sp>
        <p:nvSpPr>
          <p:cNvPr id="13" name="">
            <a:extLst xmlns:a="http://schemas.openxmlformats.org/drawingml/2006/main">
              <a:ext uri="{FF2B5EF4-FFF2-40B4-BE49-F238E27FC236}">
                <a16:creationId xmlns:a16="http://schemas.microsoft.com/office/drawing/2014/main" id="{18E2B17D-B027-4A9F-8EAF-A23C5EF113E0}"/>
              </a:ext>
            </a:extLst>
          </p:cNvPr>
          <p:cNvSpPr>
            <a:spLocks xmlns:a="http://schemas.openxmlformats.org/drawingml/2006/main" noGrp="1"/>
          </p:cNvSpPr>
          <p:nvPr/>
        </p:nvSpPr>
        <p:spPr>
          <a:xfrm xmlns:a="http://schemas.openxmlformats.org/drawingml/2006/main">
            <a:off x="8839200" y="2266950"/>
            <a:ext cx="2686050" cy="1962150"/>
          </a:xfrm>
          <a:prstGeom xmlns:a="http://schemas.openxmlformats.org/drawingml/2006/main" prst="roundRect">
            <a:avLst>
              <a:gd name="adj" fmla="val 3883"/>
            </a:avLst>
          </a:prstGeom>
          <a:solidFill xmlns:a="http://schemas.openxmlformats.org/drawingml/2006/main">
            <a:srgbClr val="F3F6F9"/>
          </a:solidFill>
          <a:ln xmlns:a="http://schemas.openxmlformats.org/drawingml/2006/main" w="9525">
            <a:solidFill>
              <a:srgbClr val="D5DEE6"/>
            </a:solidFill>
            <a:prstDash val="solid"/>
          </a:ln>
        </p:spPr>
      </p:sp>
      <p:sp>
        <p:nvSpPr>
          <p:cNvPr id="14" name="">
            <a:extLst xmlns:a="http://schemas.openxmlformats.org/drawingml/2006/main">
              <a:ext uri="{FF2B5EF4-FFF2-40B4-BE49-F238E27FC236}">
                <a16:creationId xmlns:a16="http://schemas.microsoft.com/office/drawing/2014/main" id="{0D39DC4B-77B2-4DFC-9787-6540E36491DA}"/>
              </a:ext>
            </a:extLst>
          </p:cNvPr>
          <p:cNvSpPr>
            <a:spLocks xmlns:a="http://schemas.openxmlformats.org/drawingml/2006/main" noGrp="1"/>
          </p:cNvSpPr>
          <p:nvPr/>
        </p:nvSpPr>
        <p:spPr>
          <a:xfrm xmlns:a="http://schemas.openxmlformats.org/drawingml/2006/main">
            <a:off x="9067800" y="2476500"/>
            <a:ext cx="2228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23845B"/>
                </a:solidFill>
                <a:latin typeface="Aptos"/>
                <a:ea typeface="Aptos"/>
                <a:cs typeface="Aptos"/>
              </a:defRPr>
            </a:pPr>
            <a:r>
              <a:rPr sz="1875" b="1">
                <a:solidFill>
                  <a:srgbClr val="23845B"/>
                </a:solidFill>
                <a:latin typeface="Aptos"/>
                <a:ea typeface="Aptos"/>
                <a:cs typeface="Aptos"/>
              </a:rPr>
              <a:t>NOVA sends</a:t>
            </a:r>
          </a:p>
        </p:txBody>
      </p:sp>
      <p:sp>
        <p:nvSpPr>
          <p:cNvPr id="15" name="">
            <a:extLst xmlns:a="http://schemas.openxmlformats.org/drawingml/2006/main">
              <a:ext uri="{FF2B5EF4-FFF2-40B4-BE49-F238E27FC236}">
                <a16:creationId xmlns:a16="http://schemas.microsoft.com/office/drawing/2014/main" id="{F26724DF-9900-40A6-9D87-F8ABBA2092B0}"/>
              </a:ext>
            </a:extLst>
          </p:cNvPr>
          <p:cNvSpPr>
            <a:spLocks xmlns:a="http://schemas.openxmlformats.org/drawingml/2006/main" noGrp="1"/>
          </p:cNvSpPr>
          <p:nvPr/>
        </p:nvSpPr>
        <p:spPr>
          <a:xfrm xmlns:a="http://schemas.openxmlformats.org/drawingml/2006/main">
            <a:off x="9067800" y="2952750"/>
            <a:ext cx="2228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69"/>
          </a:bodyPr>
          <a:lstStyle xmlns:a="http://schemas.openxmlformats.org/drawingml/2006/main"/>
          <a:p xmlns:a="http://schemas.openxmlformats.org/drawingml/2006/main">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Material receipt and consumption</a:t>
            </a:r>
          </a:p>
          <a:p xmlns:a="http://schemas.openxmlformats.org/drawingml/2006/main">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Production confirmation and FG receipt</a:t>
            </a:r>
          </a:p>
          <a:p xmlns:a="http://schemas.openxmlformats.org/drawingml/2006/main">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FG delivery posting</a:t>
            </a:r>
          </a:p>
        </p:txBody>
      </p:sp>
      <p:cxnSp>
        <p:nvCxnSpPr>
          <p:cNvPr id="39" name=""/>
          <p:cNvCxnSpPr>
            <a:stCxn xmlns:a="http://schemas.openxmlformats.org/drawingml/2006/main" id="4" idx="2"/>
            <a:endCxn xmlns:a="http://schemas.openxmlformats.org/drawingml/2006/main" id="7" idx="0"/>
          </p:cNvCxnSpPr>
          <p:nvPr/>
        </p:nvCxnSpPr>
        <p:spPr>
          <a:xfrm xmlns:a="http://schemas.openxmlformats.org/drawingml/2006/main">
            <a:off x="6096000" y="2800350"/>
            <a:ext cx="0" cy="1371600"/>
          </a:xfrm>
          <a:prstGeom xmlns:a="http://schemas.openxmlformats.org/drawingml/2006/main" prst="straightConnector1">
            <a:avLst/>
          </a:prstGeom>
          <a:ln xmlns:a="http://schemas.openxmlformats.org/drawingml/2006/main" w="28575">
            <a:solidFill>
              <a:srgbClr val="12B7E6"/>
            </a:solidFill>
            <a:prstDash val="solid"/>
            <a:headEnd type="triangle" w="med" len="med"/>
            <a:tailEnd type="triangle" w="med" len="med"/>
          </a:ln>
        </p:spPr>
      </p:cxnSp>
      <p:sp>
        <p:nvSpPr>
          <p:cNvPr id="17" name="">
            <a:extLst xmlns:a="http://schemas.openxmlformats.org/drawingml/2006/main">
              <a:ext uri="{FF2B5EF4-FFF2-40B4-BE49-F238E27FC236}">
                <a16:creationId xmlns:a16="http://schemas.microsoft.com/office/drawing/2014/main" id="{05ABFFE8-E28E-46E0-8272-9A3FFD6B4DA2}"/>
              </a:ext>
            </a:extLst>
          </p:cNvPr>
          <p:cNvSpPr>
            <a:spLocks xmlns:a="http://schemas.openxmlformats.org/drawingml/2006/main" noGrp="1"/>
          </p:cNvSpPr>
          <p:nvPr/>
        </p:nvSpPr>
        <p:spPr>
          <a:xfrm xmlns:a="http://schemas.openxmlformats.org/drawingml/2006/main">
            <a:off x="4000500" y="3276600"/>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0B5CAD"/>
                </a:solidFill>
                <a:latin typeface="Aptos"/>
                <a:ea typeface="Aptos"/>
                <a:cs typeface="Aptos"/>
              </a:defRPr>
            </a:pPr>
            <a:r>
              <a:rPr sz="1200" b="1">
                <a:solidFill>
                  <a:srgbClr val="0B5CAD"/>
                </a:solidFill>
                <a:latin typeface="Aptos"/>
                <a:ea typeface="Aptos"/>
                <a:cs typeface="Aptos"/>
              </a:rPr>
              <a:t>Master data and orders</a:t>
            </a:r>
          </a:p>
        </p:txBody>
      </p:sp>
      <p:sp>
        <p:nvSpPr>
          <p:cNvPr id="18" name="">
            <a:extLst xmlns:a="http://schemas.openxmlformats.org/drawingml/2006/main">
              <a:ext uri="{FF2B5EF4-FFF2-40B4-BE49-F238E27FC236}">
                <a16:creationId xmlns:a16="http://schemas.microsoft.com/office/drawing/2014/main" id="{191D53AF-719D-4EC7-9CBC-61C01D501188}"/>
              </a:ext>
            </a:extLst>
          </p:cNvPr>
          <p:cNvSpPr>
            <a:spLocks xmlns:a="http://schemas.openxmlformats.org/drawingml/2006/main" noGrp="1"/>
          </p:cNvSpPr>
          <p:nvPr/>
        </p:nvSpPr>
        <p:spPr>
          <a:xfrm xmlns:a="http://schemas.openxmlformats.org/drawingml/2006/main">
            <a:off x="6419850" y="3714750"/>
            <a:ext cx="1752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3845B"/>
                </a:solidFill>
                <a:latin typeface="Aptos"/>
                <a:ea typeface="Aptos"/>
                <a:cs typeface="Aptos"/>
              </a:defRPr>
            </a:pPr>
            <a:r>
              <a:rPr sz="1200" b="1">
                <a:solidFill>
                  <a:srgbClr val="23845B"/>
                </a:solidFill>
                <a:latin typeface="Aptos"/>
                <a:ea typeface="Aptos"/>
                <a:cs typeface="Aptos"/>
              </a:rPr>
              <a:t>Posted transactions</a:t>
            </a:r>
          </a:p>
        </p:txBody>
      </p:sp>
      <p:sp>
        <p:nvSpPr>
          <p:cNvPr id="19" name="">
            <a:extLst xmlns:a="http://schemas.openxmlformats.org/drawingml/2006/main">
              <a:ext uri="{FF2B5EF4-FFF2-40B4-BE49-F238E27FC236}">
                <a16:creationId xmlns:a16="http://schemas.microsoft.com/office/drawing/2014/main" id="{44B9DBA6-7DD6-4FC7-856D-2C49FDC16171}"/>
              </a:ext>
            </a:extLst>
          </p:cNvPr>
          <p:cNvSpPr>
            <a:spLocks xmlns:a="http://schemas.openxmlformats.org/drawingml/2006/main" noGrp="1"/>
          </p:cNvSpPr>
          <p:nvPr/>
        </p:nvSpPr>
        <p:spPr>
          <a:xfrm xmlns:a="http://schemas.openxmlformats.org/drawingml/2006/main">
            <a:off x="1562100" y="5619750"/>
            <a:ext cx="9067800" cy="552450"/>
          </a:xfrm>
          <a:prstGeom xmlns:a="http://schemas.openxmlformats.org/drawingml/2006/main" prst="roundRect">
            <a:avLst>
              <a:gd name="adj" fmla="val 13793"/>
            </a:avLst>
          </a:prstGeom>
          <a:solidFill xmlns:a="http://schemas.openxmlformats.org/drawingml/2006/main">
            <a:srgbClr val="FBED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856434-C29D-4444-A8BD-46216655599C}"/>
              </a:ext>
            </a:extLst>
          </p:cNvPr>
          <p:cNvSpPr>
            <a:spLocks xmlns:a="http://schemas.openxmlformats.org/drawingml/2006/main" noGrp="1"/>
          </p:cNvSpPr>
          <p:nvPr/>
        </p:nvSpPr>
        <p:spPr>
          <a:xfrm xmlns:a="http://schemas.openxmlformats.org/drawingml/2006/main">
            <a:off x="1847850" y="5743575"/>
            <a:ext cx="8496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0866"/>
          </a:bodyPr>
          <a:lstStyle xmlns:a="http://schemas.openxmlformats.org/drawingml/2006/main"/>
          <a:p xmlns:a="http://schemas.openxmlformats.org/drawingml/2006/main">
            <a:pPr algn="ctr">
              <a:lnSpc>
                <a:spcPct val="100000"/>
              </a:lnSpc>
              <a:buNone/>
              <a:defRPr sz="1425" b="1">
                <a:solidFill>
                  <a:srgbClr val="D94141"/>
                </a:solidFill>
                <a:latin typeface="Aptos"/>
                <a:ea typeface="Aptos"/>
                <a:cs typeface="Aptos"/>
              </a:defRPr>
            </a:pPr>
            <a:r>
              <a:rPr sz="1425" b="1">
                <a:solidFill>
                  <a:srgbClr val="D94141"/>
                </a:solidFill>
                <a:latin typeface="Aptos"/>
                <a:ea typeface="Aptos"/>
                <a:cs typeface="Aptos"/>
              </a:rPr>
              <a:t>NOVA keeps only the technical data needed to run and monitor the interface. SAP remains the source for balances and business documents.</a:t>
            </a:r>
          </a:p>
        </p:txBody>
      </p:sp>
      <p:sp>
        <p:nvSpPr>
          <p:cNvPr id="21" name="">
            <a:extLst xmlns:a="http://schemas.openxmlformats.org/drawingml/2006/main">
              <a:ext uri="{FF2B5EF4-FFF2-40B4-BE49-F238E27FC236}">
                <a16:creationId xmlns:a16="http://schemas.microsoft.com/office/drawing/2014/main" id="{F406E3EE-565D-4311-AA87-25AFBD1C650E}"/>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2" name="">
            <a:extLst xmlns:a="http://schemas.openxmlformats.org/drawingml/2006/main">
              <a:ext uri="{FF2B5EF4-FFF2-40B4-BE49-F238E27FC236}">
                <a16:creationId xmlns:a16="http://schemas.microsoft.com/office/drawing/2014/main" id="{6A76531C-43D3-4EA1-92CF-7BE6110A114D}"/>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23" name="">
            <a:extLst xmlns:a="http://schemas.openxmlformats.org/drawingml/2006/main">
              <a:ext uri="{FF2B5EF4-FFF2-40B4-BE49-F238E27FC236}">
                <a16:creationId xmlns:a16="http://schemas.microsoft.com/office/drawing/2014/main" id="{D327A8A6-A1BD-4162-9B34-F6D86308553A}"/>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05</a:t>
            </a:r>
          </a:p>
        </p:txBody>
      </p:sp>
    </p:spTree>
    <p:extLst>
      <p:ext uri="{BB962C8B-B14F-4D97-AF65-F5344CB8AC3E}">
        <p14:creationId xmlns:p14="http://schemas.microsoft.com/office/powerpoint/2010/main" val="2114050956"/>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502CA5-491F-4F04-AC6D-033211613AD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6B13AC-160A-4B28-88C6-5F08BEC7277D}"/>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SAP transaction points</a:t>
            </a:r>
          </a:p>
        </p:txBody>
      </p:sp>
      <p:sp>
        <p:nvSpPr>
          <p:cNvPr id="3" name="">
            <a:extLst xmlns:a="http://schemas.openxmlformats.org/drawingml/2006/main">
              <a:ext uri="{FF2B5EF4-FFF2-40B4-BE49-F238E27FC236}">
                <a16:creationId xmlns:a16="http://schemas.microsoft.com/office/drawing/2014/main" id="{010F6D4F-6650-473E-A98A-C649328D7958}"/>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posts each transaction only after the related shopfloor event is complete</a:t>
            </a:r>
          </a:p>
        </p:txBody>
      </p:sp>
      <p:graphicFrame>
        <p:nvGraphicFramePr>
          <p:cNvPr id="15" name=""/>
          <p:cNvGraphicFramePr/>
          <p:nvPr/>
        </p:nvGraphicFramePr>
        <p:xfrm>
          <a:off xmlns:a="http://schemas.openxmlformats.org/drawingml/2006/main" x="609600" y="1466850"/>
          <a:ext xmlns:a="http://schemas.openxmlformats.org/drawingml/2006/main" cx="10972800" cy="3714750"/>
        </p:xfrm>
        <a:graphic xmlns:a="http://schemas.openxmlformats.org/drawingml/2006/main">
          <a:graphicData uri="http://schemas.openxmlformats.org/drawingml/2006/table">
            <a:tbl>
              <a:tblPr/>
              <a:tblGrid>
                <a:gridCol w="2095500"/>
                <a:gridCol w="2781300"/>
                <a:gridCol w="3581400"/>
                <a:gridCol w="2514600"/>
              </a:tblGrid>
              <a:tr h="590550">
                <a:tc>
                  <a:txBody>
                    <a:bodyPr anchor="ctr"/>
                    <a:lstStyle/>
                    <a:p>
                      <a:pPr algn="ctr"/>
                      <a:r>
                        <a:rPr sz="1500" b="1">
                          <a:solidFill>
                            <a:srgbClr val="FFFFFF"/>
                          </a:solidFill>
                          <a:latin typeface="Aptos"/>
                          <a:ea typeface="Aptos"/>
                          <a:cs typeface="Aptos"/>
                        </a:rPr>
                        <a:t>Shopfloor event</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When NOVA sends it</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SAP record</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Confirmation back to NOVA</a:t>
                      </a:r>
                    </a:p>
                  </a:txBody>
                  <a:tcPr marL="95250" marR="95250" marT="76200" marB="76200" anchor="ctr">
                    <a:solidFill>
                      <a:srgbClr val="0E2C47"/>
                    </a:solidFill>
                  </a:tcPr>
                </a:tc>
              </a:tr>
              <a:tr h="781050">
                <a:tc>
                  <a:txBody>
                    <a:bodyPr anchor="ctr"/>
                    <a:lstStyle/>
                    <a:p>
                      <a:r>
                        <a:rPr sz="1425" b="1">
                          <a:solidFill>
                            <a:srgbClr val="071A2B"/>
                          </a:solidFill>
                          <a:latin typeface="Aptos"/>
                          <a:ea typeface="Aptos"/>
                          <a:cs typeface="Aptos"/>
                        </a:rPr>
                        <a:t>Material receipt</a:t>
                      </a:r>
                    </a:p>
                  </a:txBody>
                  <a:tcPr marL="95250" marR="95250" marT="76200" marB="76200" anchor="ctr">
                    <a:solidFill>
                      <a:srgbClr val="EAF5FB"/>
                    </a:solidFill>
                  </a:tcPr>
                </a:tc>
                <a:tc>
                  <a:txBody>
                    <a:bodyPr anchor="ctr"/>
                    <a:lstStyle/>
                    <a:p>
                      <a:r>
                        <a:rPr sz="1350">
                          <a:solidFill>
                            <a:srgbClr val="142433"/>
                          </a:solidFill>
                          <a:latin typeface="Aptos"/>
                          <a:ea typeface="Aptos"/>
                          <a:cs typeface="Aptos"/>
                        </a:rPr>
                        <a:t>Incoming has been checked and approved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Material goods receipt</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SAP document number</a:t>
                      </a:r>
                    </a:p>
                  </a:txBody>
                  <a:tcPr marL="95250" marR="95250" marT="76200" marB="76200" anchor="ctr">
                    <a:solidFill>
                      <a:srgbClr val="FFFFFF"/>
                    </a:solidFill>
                  </a:tcPr>
                </a:tc>
              </a:tr>
              <a:tr h="781050">
                <a:tc>
                  <a:txBody>
                    <a:bodyPr anchor="ctr"/>
                    <a:lstStyle/>
                    <a:p>
                      <a:r>
                        <a:rPr sz="1425" b="1">
                          <a:solidFill>
                            <a:srgbClr val="071A2B"/>
                          </a:solidFill>
                          <a:latin typeface="Aptos"/>
                          <a:ea typeface="Aptos"/>
                          <a:cs typeface="Aptos"/>
                        </a:rPr>
                        <a:t>Material consumption</a:t>
                      </a:r>
                    </a:p>
                  </a:txBody>
                  <a:tcPr marL="95250" marR="95250" marT="76200" marB="76200" anchor="ctr">
                    <a:solidFill>
                      <a:srgbClr val="F3F6F9"/>
                    </a:solidFill>
                  </a:tcPr>
                </a:tc>
                <a:tc>
                  <a:txBody>
                    <a:bodyPr anchor="ctr"/>
                    <a:lstStyle/>
                    <a:p>
                      <a:r>
                        <a:rPr sz="1350">
                          <a:solidFill>
                            <a:srgbClr val="142433"/>
                          </a:solidFill>
                          <a:latin typeface="Aptos"/>
                          <a:ea typeface="Aptos"/>
                          <a:cs typeface="Aptos"/>
                        </a:rPr>
                        <a:t>BOM picking has been confirmed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Goods issue to the production order</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Material document number</a:t>
                      </a:r>
                    </a:p>
                  </a:txBody>
                  <a:tcPr marL="95250" marR="95250" marT="76200" marB="76200" anchor="ctr">
                    <a:solidFill>
                      <a:srgbClr val="FFFFFF"/>
                    </a:solidFill>
                  </a:tcPr>
                </a:tc>
              </a:tr>
              <a:tr h="781050">
                <a:tc>
                  <a:txBody>
                    <a:bodyPr anchor="ctr"/>
                    <a:lstStyle/>
                    <a:p>
                      <a:r>
                        <a:rPr sz="1425" b="1">
                          <a:solidFill>
                            <a:srgbClr val="071A2B"/>
                          </a:solidFill>
                          <a:latin typeface="Aptos"/>
                          <a:ea typeface="Aptos"/>
                          <a:cs typeface="Aptos"/>
                        </a:rPr>
                        <a:t>Production output</a:t>
                      </a:r>
                    </a:p>
                  </a:txBody>
                  <a:tcPr marL="95250" marR="95250" marT="76200" marB="76200" anchor="ctr">
                    <a:solidFill>
                      <a:srgbClr val="EAF5FB"/>
                    </a:solidFill>
                  </a:tcPr>
                </a:tc>
                <a:tc>
                  <a:txBody>
                    <a:bodyPr anchor="ctr"/>
                    <a:lstStyle/>
                    <a:p>
                      <a:r>
                        <a:rPr sz="1350">
                          <a:solidFill>
                            <a:srgbClr val="142433"/>
                          </a:solidFill>
                          <a:latin typeface="Aptos"/>
                          <a:ea typeface="Aptos"/>
                          <a:cs typeface="Aptos"/>
                        </a:rPr>
                        <a:t>Passthrough or box assembly is complete</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Production confirmation and FG receipt</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Confirmation and material document</a:t>
                      </a:r>
                    </a:p>
                  </a:txBody>
                  <a:tcPr marL="95250" marR="95250" marT="76200" marB="76200" anchor="ctr">
                    <a:solidFill>
                      <a:srgbClr val="FFFFFF"/>
                    </a:solidFill>
                  </a:tcPr>
                </a:tc>
              </a:tr>
              <a:tr h="781050">
                <a:tc>
                  <a:txBody>
                    <a:bodyPr anchor="ctr"/>
                    <a:lstStyle/>
                    <a:p>
                      <a:r>
                        <a:rPr sz="1425" b="1">
                          <a:solidFill>
                            <a:srgbClr val="071A2B"/>
                          </a:solidFill>
                          <a:latin typeface="Aptos"/>
                          <a:ea typeface="Aptos"/>
                          <a:cs typeface="Aptos"/>
                        </a:rPr>
                        <a:t>FG delivery</a:t>
                      </a:r>
                    </a:p>
                  </a:txBody>
                  <a:tcPr marL="95250" marR="95250" marT="76200" marB="76200" anchor="ctr">
                    <a:solidFill>
                      <a:srgbClr val="F3F6F9"/>
                    </a:solidFill>
                  </a:tcPr>
                </a:tc>
                <a:tc>
                  <a:txBody>
                    <a:bodyPr anchor="ctr"/>
                    <a:lstStyle/>
                    <a:p>
                      <a:r>
                        <a:rPr sz="1350">
                          <a:solidFill>
                            <a:srgbClr val="142433"/>
                          </a:solidFill>
                          <a:latin typeface="Aptos"/>
                          <a:ea typeface="Aptos"/>
                          <a:cs typeface="Aptos"/>
                        </a:rPr>
                        <a:t>Poka-Yoke passed and the label was delivered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FG goods issue or delivery posting</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Delivery document and final status</a:t>
                      </a:r>
                    </a:p>
                  </a:txBody>
                  <a:tcPr marL="95250" marR="952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D2FD58E-10E5-429A-BDB0-0C1C3A2C6702}"/>
              </a:ext>
            </a:extLst>
          </p:cNvPr>
          <p:cNvSpPr>
            <a:spLocks xmlns:a="http://schemas.openxmlformats.org/drawingml/2006/main" noGrp="1"/>
          </p:cNvSpPr>
          <p:nvPr/>
        </p:nvSpPr>
        <p:spPr>
          <a:xfrm xmlns:a="http://schemas.openxmlformats.org/drawingml/2006/main">
            <a:off x="1085850" y="5429250"/>
            <a:ext cx="10020300" cy="723900"/>
          </a:xfrm>
          <a:prstGeom xmlns:a="http://schemas.openxmlformats.org/drawingml/2006/main" prst="roundRect">
            <a:avLst>
              <a:gd name="adj" fmla="val 10526"/>
            </a:avLst>
          </a:prstGeom>
          <a:solidFill xmlns:a="http://schemas.openxmlformats.org/drawingml/2006/main">
            <a:srgbClr val="0E2C4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E92482-8514-4F76-A0DA-1BF70C507ACB}"/>
              </a:ext>
            </a:extLst>
          </p:cNvPr>
          <p:cNvSpPr>
            <a:spLocks xmlns:a="http://schemas.openxmlformats.org/drawingml/2006/main" noGrp="1"/>
          </p:cNvSpPr>
          <p:nvPr/>
        </p:nvSpPr>
        <p:spPr>
          <a:xfrm xmlns:a="http://schemas.openxmlformats.org/drawingml/2006/main">
            <a:off x="1371600" y="5600700"/>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2B7E6"/>
                </a:solidFill>
                <a:latin typeface="Aptos"/>
                <a:ea typeface="Aptos"/>
                <a:cs typeface="Aptos"/>
              </a:defRPr>
            </a:pPr>
            <a:r>
              <a:rPr sz="1575" b="1">
                <a:solidFill>
                  <a:srgbClr val="12B7E6"/>
                </a:solidFill>
                <a:latin typeface="Aptos"/>
                <a:ea typeface="Aptos"/>
                <a:cs typeface="Aptos"/>
              </a:rPr>
              <a:t>Management ask</a:t>
            </a:r>
          </a:p>
        </p:txBody>
      </p:sp>
      <p:sp>
        <p:nvSpPr>
          <p:cNvPr id="7" name="">
            <a:extLst xmlns:a="http://schemas.openxmlformats.org/drawingml/2006/main">
              <a:ext uri="{FF2B5EF4-FFF2-40B4-BE49-F238E27FC236}">
                <a16:creationId xmlns:a16="http://schemas.microsoft.com/office/drawing/2014/main" id="{EB2F3480-D8DC-4FF7-BB85-B75FD2A11218}"/>
              </a:ext>
            </a:extLst>
          </p:cNvPr>
          <p:cNvSpPr>
            <a:spLocks xmlns:a="http://schemas.openxmlformats.org/drawingml/2006/main" noGrp="1"/>
          </p:cNvSpPr>
          <p:nvPr/>
        </p:nvSpPr>
        <p:spPr>
          <a:xfrm xmlns:a="http://schemas.openxmlformats.org/drawingml/2006/main">
            <a:off x="3429000" y="5572125"/>
            <a:ext cx="7219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1220"/>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Support Production's formal request to Accounting and approve the SAP design review.</a:t>
            </a:r>
          </a:p>
        </p:txBody>
      </p:sp>
      <p:sp>
        <p:nvSpPr>
          <p:cNvPr id="8" name="">
            <a:extLst xmlns:a="http://schemas.openxmlformats.org/drawingml/2006/main">
              <a:ext uri="{FF2B5EF4-FFF2-40B4-BE49-F238E27FC236}">
                <a16:creationId xmlns:a16="http://schemas.microsoft.com/office/drawing/2014/main" id="{EFC62D62-312E-4BC7-A46E-D072CA86A2A9}"/>
              </a:ext>
            </a:extLst>
          </p:cNvPr>
          <p:cNvSpPr>
            <a:spLocks xmlns:a="http://schemas.openxmlformats.org/drawingml/2006/main" noGrp="1"/>
          </p:cNvSpPr>
          <p:nvPr/>
        </p:nvSpPr>
        <p:spPr>
          <a:xfrm xmlns:a="http://schemas.openxmlformats.org/drawingml/2006/main">
            <a:off x="3429000" y="5915025"/>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CFE8F7"/>
                </a:solidFill>
                <a:latin typeface="Aptos"/>
                <a:ea typeface="Aptos"/>
                <a:cs typeface="Aptos"/>
              </a:defRPr>
            </a:pPr>
            <a:r>
              <a:rPr sz="1125" b="0">
                <a:solidFill>
                  <a:srgbClr val="CFE8F7"/>
                </a:solidFill>
                <a:latin typeface="Aptos"/>
                <a:ea typeface="Aptos"/>
                <a:cs typeface="Aptos"/>
              </a:rPr>
              <a:t>Accounting and the SAP team will confirm the final document types and account setup.</a:t>
            </a:r>
          </a:p>
        </p:txBody>
      </p:sp>
      <p:sp>
        <p:nvSpPr>
          <p:cNvPr id="9" name="">
            <a:extLst xmlns:a="http://schemas.openxmlformats.org/drawingml/2006/main">
              <a:ext uri="{FF2B5EF4-FFF2-40B4-BE49-F238E27FC236}">
                <a16:creationId xmlns:a16="http://schemas.microsoft.com/office/drawing/2014/main" id="{8F56C0EF-6226-44F9-898C-1077AE340203}"/>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10" name="">
            <a:extLst xmlns:a="http://schemas.openxmlformats.org/drawingml/2006/main">
              <a:ext uri="{FF2B5EF4-FFF2-40B4-BE49-F238E27FC236}">
                <a16:creationId xmlns:a16="http://schemas.microsoft.com/office/drawing/2014/main" id="{8ECFF99C-899F-4702-869F-68E8D7DEB8CF}"/>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11" name="">
            <a:extLst xmlns:a="http://schemas.openxmlformats.org/drawingml/2006/main">
              <a:ext uri="{FF2B5EF4-FFF2-40B4-BE49-F238E27FC236}">
                <a16:creationId xmlns:a16="http://schemas.microsoft.com/office/drawing/2014/main" id="{23A9E06F-A9F9-42A9-A38C-7127AF05D8BD}"/>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06</a:t>
            </a:r>
          </a:p>
        </p:txBody>
      </p:sp>
    </p:spTree>
    <p:extLst>
      <p:ext uri="{BB962C8B-B14F-4D97-AF65-F5344CB8AC3E}">
        <p14:creationId xmlns:p14="http://schemas.microsoft.com/office/powerpoint/2010/main" val="1307800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2026-09-23T07:04:57.3990000Z</dcterms:created>
  <dcterms:modified xsi:type="dcterms:W3CDTF">2026-09-23T07:04:57.3990000Z</dcterms:modified>
</coreProperties>
</file>