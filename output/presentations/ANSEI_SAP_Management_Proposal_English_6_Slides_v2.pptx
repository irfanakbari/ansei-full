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proposal connects the ANSEI production flow to SAP through NOVA. NOVA remains the shopfloor interface. SAP holds the business transactions and inventory records.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earlier concern was ownership. IT and Accounting have now confirmed that SAP can support the ANSEI case with the right setup. The request is to move the formal discussion forward, led by Production and Accounting.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current ANSEI sequence runs from incoming material through production release, material picking, production result, Poka-Yoke, delivery, and release close. SAP does not receive the matching transactions today.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proposed transaction sequence. NOVA controls the line process and sends completed events to SAP. SAP returns a document number for each posting. Poka-Yoke remains a quality gate, and the order closes only after every PO and label has been delivered and posted.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SAP sends the master data and production orders needed on the line. NOVA returns the completed business events. NOVA may hold technical queue and monitoring data, but SAP remains the source for inventory balances and accounting documents.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four transaction points are material receipt, material consumption, production output, and finished goods delivery. Accounting and the SAP team will decide the exact document types and account setup. The management decision today is to support the formal request and design review.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r:embed="rId3"/>
          <a:srcRect t="27" b="27"/>
          <a:stretch>
            <a:fillRect/>
          </a:stretch>
        </p:blipFill>
        <p:spPr>
          <a:xfrm>
            <a:off x="0" y="0"/>
            <a:ext cx="12192000" cy="6858000"/>
          </a:xfrm>
          <a:prstGeom prst="rect">
            <a:avLst/>
          </a:prstGeom>
        </p:spPr>
      </p:pic>
      <p:pic>
        <p:nvPicPr>
          <p:cNvPr id="10" name="Picture 9"/>
          <p:cNvPicPr>
            <a:picLocks noChangeAspect="1"/>
          </p:cNvPicPr>
          <p:nvPr/>
        </p:nvPicPr>
        <p:blipFill>
          <a:blip r:embed="rId4"/>
          <a:stretch/>
        </p:blipFill>
        <p:spPr>
          <a:xfrm>
            <a:off x="696776" y="495300"/>
            <a:ext cx="2702199" cy="1066800"/>
          </a:xfrm>
          <a:prstGeom prst="rect">
            <a:avLst/>
          </a:prstGeom>
        </p:spPr>
      </p:pic>
      <p:sp>
        <p:nvSpPr>
          <p:cNvPr id="3" name="Rectangle: Rounded Corners 2">
            <a:extLst>
              <a:ext uri="{FF2B5EF4-FFF2-40B4-BE49-F238E27FC236}">
                <a16:creationId xmlns:a16="http://schemas.microsoft.com/office/drawing/2014/main" id="{54B24B01-B082-4780-902F-FA4623AB0798}"/>
              </a:ext>
            </a:extLst>
          </p:cNvPr>
          <p:cNvSpPr>
            <a:spLocks noGrp="1"/>
          </p:cNvSpPr>
          <p:nvPr/>
        </p:nvSpPr>
        <p:spPr>
          <a:xfrm>
            <a:off x="685800" y="1809750"/>
            <a:ext cx="2114550" cy="285750"/>
          </a:xfrm>
          <a:prstGeom prst="roundRect">
            <a:avLst>
              <a:gd name="adj" fmla="val 26667"/>
            </a:avLst>
          </a:prstGeom>
          <a:solidFill>
            <a:srgbClr val="D94141"/>
          </a:solidFill>
          <a:ln w="0">
            <a:noFill/>
          </a:ln>
        </p:spPr>
        <p:txBody>
          <a:bodyPr lIns="76200" tIns="19050" rIns="76200" bIns="19050" anchor="ctr">
            <a:normAutofit/>
          </a:bodyPr>
          <a:lstStyle/>
          <a:p>
            <a:pPr algn="ctr">
              <a:defRPr sz="1125" b="1">
                <a:solidFill>
                  <a:srgbClr val="FFFFFF"/>
                </a:solidFill>
                <a:latin typeface="Aptos"/>
                <a:ea typeface="Aptos"/>
                <a:cs typeface="Aptos"/>
              </a:defRPr>
            </a:pPr>
            <a:r>
              <a:rPr sz="1125" b="1">
                <a:solidFill>
                  <a:srgbClr val="FFFFFF"/>
                </a:solidFill>
                <a:latin typeface="Aptos"/>
                <a:ea typeface="Aptos"/>
                <a:cs typeface="Aptos"/>
              </a:rPr>
              <a:t>MANAGEMENT PROPOSAL</a:t>
            </a:r>
          </a:p>
        </p:txBody>
      </p:sp>
      <p:sp>
        <p:nvSpPr>
          <p:cNvPr id="4" name="Rectangle 3">
            <a:extLst>
              <a:ext uri="{FF2B5EF4-FFF2-40B4-BE49-F238E27FC236}">
                <a16:creationId xmlns:a16="http://schemas.microsoft.com/office/drawing/2014/main" id="{37AAEFE1-CB68-4F3A-81F6-DCBD44F3B3DC}"/>
              </a:ext>
            </a:extLst>
          </p:cNvPr>
          <p:cNvSpPr>
            <a:spLocks noGrp="1"/>
          </p:cNvSpPr>
          <p:nvPr/>
        </p:nvSpPr>
        <p:spPr>
          <a:xfrm>
            <a:off x="685800" y="2266950"/>
            <a:ext cx="5334000" cy="1524000"/>
          </a:xfrm>
          <a:prstGeom prst="rect">
            <a:avLst/>
          </a:prstGeom>
          <a:noFill/>
          <a:ln w="0">
            <a:noFill/>
          </a:ln>
        </p:spPr>
        <p:txBody>
          <a:bodyPr wrap="square" lIns="0" tIns="0" rIns="0" bIns="0" anchor="t">
            <a:normAutofit/>
          </a:bodyPr>
          <a:lstStyle/>
          <a:p>
            <a:pPr algn="l">
              <a:lnSpc>
                <a:spcPct val="92000"/>
              </a:lnSpc>
              <a:buNone/>
              <a:defRPr sz="4050" b="1">
                <a:solidFill>
                  <a:srgbClr val="FFFFFF"/>
                </a:solidFill>
                <a:latin typeface="Aptos"/>
                <a:ea typeface="Aptos"/>
                <a:cs typeface="Aptos"/>
              </a:defRPr>
            </a:pPr>
            <a:r>
              <a:rPr sz="4050" b="1">
                <a:solidFill>
                  <a:srgbClr val="FFFFFF"/>
                </a:solidFill>
                <a:latin typeface="Aptos"/>
                <a:ea typeface="Aptos"/>
                <a:cs typeface="Aptos"/>
              </a:rPr>
              <a:t>Connecting ANSEI</a:t>
            </a:r>
          </a:p>
          <a:p>
            <a:pPr algn="l">
              <a:lnSpc>
                <a:spcPct val="92000"/>
              </a:lnSpc>
              <a:buNone/>
              <a:defRPr sz="4050" b="1">
                <a:solidFill>
                  <a:srgbClr val="FFFFFF"/>
                </a:solidFill>
                <a:latin typeface="Aptos"/>
                <a:ea typeface="Aptos"/>
                <a:cs typeface="Aptos"/>
              </a:defRPr>
            </a:pPr>
            <a:r>
              <a:rPr sz="4050" b="1">
                <a:solidFill>
                  <a:srgbClr val="FFFFFF"/>
                </a:solidFill>
                <a:latin typeface="Aptos"/>
                <a:ea typeface="Aptos"/>
                <a:cs typeface="Aptos"/>
              </a:rPr>
              <a:t>Production to SAP</a:t>
            </a:r>
          </a:p>
        </p:txBody>
      </p:sp>
      <p:sp>
        <p:nvSpPr>
          <p:cNvPr id="5" name="Rectangle 4">
            <a:extLst>
              <a:ext uri="{FF2B5EF4-FFF2-40B4-BE49-F238E27FC236}">
                <a16:creationId xmlns:a16="http://schemas.microsoft.com/office/drawing/2014/main" id="{C43720A7-6501-4991-AD09-91890ED1FFC3}"/>
              </a:ext>
            </a:extLst>
          </p:cNvPr>
          <p:cNvSpPr>
            <a:spLocks noGrp="1"/>
          </p:cNvSpPr>
          <p:nvPr/>
        </p:nvSpPr>
        <p:spPr>
          <a:xfrm>
            <a:off x="704850" y="4000500"/>
            <a:ext cx="4857750" cy="438150"/>
          </a:xfrm>
          <a:prstGeom prst="rect">
            <a:avLst/>
          </a:prstGeom>
          <a:noFill/>
          <a:ln w="0">
            <a:noFill/>
          </a:ln>
        </p:spPr>
        <p:txBody>
          <a:bodyPr wrap="square" lIns="0" tIns="0" rIns="0" bIns="0" anchor="t">
            <a:normAutofit/>
          </a:bodyPr>
          <a:lstStyle/>
          <a:p>
            <a:pPr algn="l">
              <a:lnSpc>
                <a:spcPct val="100000"/>
              </a:lnSpc>
              <a:buNone/>
              <a:defRPr sz="1875" b="0">
                <a:solidFill>
                  <a:srgbClr val="CFE8F7"/>
                </a:solidFill>
                <a:latin typeface="Aptos"/>
                <a:ea typeface="Aptos"/>
                <a:cs typeface="Aptos"/>
              </a:defRPr>
            </a:pPr>
            <a:r>
              <a:rPr sz="1875" b="0">
                <a:solidFill>
                  <a:srgbClr val="CFE8F7"/>
                </a:solidFill>
                <a:latin typeface="Aptos"/>
                <a:ea typeface="Aptos"/>
                <a:cs typeface="Aptos"/>
              </a:rPr>
              <a:t>NOVA as the shopfloor and MES layer</a:t>
            </a:r>
          </a:p>
        </p:txBody>
      </p:sp>
      <p:sp>
        <p:nvSpPr>
          <p:cNvPr id="6" name="Rectangle 5">
            <a:extLst>
              <a:ext uri="{FF2B5EF4-FFF2-40B4-BE49-F238E27FC236}">
                <a16:creationId xmlns:a16="http://schemas.microsoft.com/office/drawing/2014/main" id="{CD4BD4D6-F0E7-4803-AD46-7A32CE75CD65}"/>
              </a:ext>
            </a:extLst>
          </p:cNvPr>
          <p:cNvSpPr>
            <a:spLocks noGrp="1"/>
          </p:cNvSpPr>
          <p:nvPr/>
        </p:nvSpPr>
        <p:spPr>
          <a:xfrm>
            <a:off x="695325" y="4695825"/>
            <a:ext cx="800100" cy="47625"/>
          </a:xfrm>
          <a:prstGeom prst="rect">
            <a:avLst/>
          </a:prstGeom>
          <a:solidFill>
            <a:srgbClr val="12B7E6"/>
          </a:solidFill>
          <a:ln w="0">
            <a:noFill/>
          </a:ln>
        </p:spPr>
        <p:txBody>
          <a:bodyPr/>
          <a:lstStyle/>
          <a:p>
            <a:endParaRPr lang="en-ID"/>
          </a:p>
        </p:txBody>
      </p:sp>
      <p:sp>
        <p:nvSpPr>
          <p:cNvPr id="7" name="Rectangle 6">
            <a:extLst>
              <a:ext uri="{FF2B5EF4-FFF2-40B4-BE49-F238E27FC236}">
                <a16:creationId xmlns:a16="http://schemas.microsoft.com/office/drawing/2014/main" id="{D6399EDA-9D3E-4A97-80A7-37A7B67AE87E}"/>
              </a:ext>
            </a:extLst>
          </p:cNvPr>
          <p:cNvSpPr>
            <a:spLocks noGrp="1"/>
          </p:cNvSpPr>
          <p:nvPr/>
        </p:nvSpPr>
        <p:spPr>
          <a:xfrm>
            <a:off x="704850" y="4953000"/>
            <a:ext cx="4810125" cy="400050"/>
          </a:xfrm>
          <a:prstGeom prst="rect">
            <a:avLst/>
          </a:prstGeom>
          <a:noFill/>
          <a:ln w="0">
            <a:noFill/>
          </a:ln>
        </p:spPr>
        <p:txBody>
          <a:bodyPr wrap="square" lIns="0" tIns="0" rIns="0" bIns="0" anchor="t">
            <a:normAutofit/>
          </a:bodyPr>
          <a:lstStyle/>
          <a:p>
            <a:pPr algn="l">
              <a:lnSpc>
                <a:spcPct val="100000"/>
              </a:lnSpc>
              <a:buNone/>
              <a:defRPr sz="1725" b="1">
                <a:solidFill>
                  <a:srgbClr val="FFFFFF"/>
                </a:solidFill>
                <a:latin typeface="Aptos"/>
                <a:ea typeface="Aptos"/>
                <a:cs typeface="Aptos"/>
              </a:defRPr>
            </a:pPr>
            <a:r>
              <a:rPr sz="1725" b="1">
                <a:solidFill>
                  <a:srgbClr val="FFFFFF"/>
                </a:solidFill>
                <a:latin typeface="Aptos"/>
                <a:ea typeface="Aptos"/>
                <a:cs typeface="Aptos"/>
              </a:rPr>
              <a:t>SAP as the system of record</a:t>
            </a:r>
          </a:p>
        </p:txBody>
      </p:sp>
      <p:sp>
        <p:nvSpPr>
          <p:cNvPr id="8" name="Rectangle 7">
            <a:extLst>
              <a:ext uri="{FF2B5EF4-FFF2-40B4-BE49-F238E27FC236}">
                <a16:creationId xmlns:a16="http://schemas.microsoft.com/office/drawing/2014/main" id="{E7884074-AF0E-4D56-B1B2-CF382DBC5001}"/>
              </a:ext>
            </a:extLst>
          </p:cNvPr>
          <p:cNvSpPr>
            <a:spLocks noGrp="1"/>
          </p:cNvSpPr>
          <p:nvPr/>
        </p:nvSpPr>
        <p:spPr>
          <a:xfrm>
            <a:off x="704850" y="6115050"/>
            <a:ext cx="4000500" cy="438150"/>
          </a:xfrm>
          <a:prstGeom prst="rect">
            <a:avLst/>
          </a:prstGeom>
          <a:noFill/>
          <a:ln w="0">
            <a:noFill/>
          </a:ln>
        </p:spPr>
        <p:txBody>
          <a:bodyPr wrap="square" lIns="0" tIns="0" rIns="0" bIns="0" anchor="t">
            <a:normAutofit/>
          </a:bodyPr>
          <a:lstStyle/>
          <a:p>
            <a:pPr algn="l">
              <a:lnSpc>
                <a:spcPct val="100000"/>
              </a:lnSpc>
              <a:buNone/>
              <a:defRPr sz="1200" b="0">
                <a:solidFill>
                  <a:srgbClr val="B5CADD"/>
                </a:solidFill>
                <a:latin typeface="Aptos"/>
                <a:ea typeface="Aptos"/>
                <a:cs typeface="Aptos"/>
              </a:defRPr>
            </a:pPr>
            <a:r>
              <a:rPr sz="1200" b="0">
                <a:solidFill>
                  <a:srgbClr val="B5CADD"/>
                </a:solidFill>
                <a:latin typeface="Aptos"/>
                <a:ea typeface="Aptos"/>
                <a:cs typeface="Aptos"/>
              </a:rPr>
              <a:t>IT and Accounting</a:t>
            </a:r>
          </a:p>
          <a:p>
            <a:pPr algn="l">
              <a:lnSpc>
                <a:spcPct val="100000"/>
              </a:lnSpc>
              <a:buNone/>
              <a:defRPr sz="1200" b="0">
                <a:solidFill>
                  <a:srgbClr val="B5CADD"/>
                </a:solidFill>
                <a:latin typeface="Aptos"/>
                <a:ea typeface="Aptos"/>
                <a:cs typeface="Aptos"/>
              </a:defRPr>
            </a:pPr>
            <a:r>
              <a:rPr sz="1200" b="0">
                <a:solidFill>
                  <a:srgbClr val="B5CADD"/>
                </a:solidFill>
                <a:latin typeface="Aptos"/>
                <a:ea typeface="Aptos"/>
                <a:cs typeface="Aptos"/>
              </a:rPr>
              <a:t>September 2026</a:t>
            </a:r>
          </a:p>
        </p:txBody>
      </p:sp>
    </p:spTree>
    <p:extLst>
      <p:ext uri="{BB962C8B-B14F-4D97-AF65-F5344CB8AC3E}">
        <p14:creationId xmlns:p14="http://schemas.microsoft.com/office/powerpoint/2010/main" val="1448502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B190284-EF4B-44F4-8DC0-DB50CBE79C6F}"/>
              </a:ext>
            </a:extLst>
          </p:cNvPr>
          <p:cNvSpPr>
            <a:spLocks noGrp="1"/>
          </p:cNvSpPr>
          <p:nvPr/>
        </p:nvSpPr>
        <p:spPr>
          <a:xfrm>
            <a:off x="0" y="0"/>
            <a:ext cx="12192000" cy="95250"/>
          </a:xfrm>
          <a:prstGeom prst="rect">
            <a:avLst/>
          </a:prstGeom>
          <a:solidFill>
            <a:srgbClr val="12B7E6"/>
          </a:solidFill>
          <a:ln w="0">
            <a:noFill/>
          </a:ln>
        </p:spPr>
        <p:txBody>
          <a:bodyPr/>
          <a:lstStyle/>
          <a:p>
            <a:endParaRPr lang="en-ID"/>
          </a:p>
        </p:txBody>
      </p:sp>
      <p:sp>
        <p:nvSpPr>
          <p:cNvPr id="2" name="Rectangle 1">
            <a:extLst>
              <a:ext uri="{FF2B5EF4-FFF2-40B4-BE49-F238E27FC236}">
                <a16:creationId xmlns:a16="http://schemas.microsoft.com/office/drawing/2014/main" id="{0F5A4D0C-1E74-4EF9-95FA-41F23CA2CD70}"/>
              </a:ext>
            </a:extLst>
          </p:cNvPr>
          <p:cNvSpPr>
            <a:spLocks noGrp="1"/>
          </p:cNvSpPr>
          <p:nvPr/>
        </p:nvSpPr>
        <p:spPr>
          <a:xfrm>
            <a:off x="609600" y="361950"/>
            <a:ext cx="10668000" cy="514350"/>
          </a:xfrm>
          <a:prstGeom prst="rect">
            <a:avLst/>
          </a:prstGeom>
          <a:noFill/>
          <a:ln w="0">
            <a:noFill/>
          </a:ln>
        </p:spPr>
        <p:txBody>
          <a:bodyPr wrap="square" lIns="0" tIns="0" rIns="0" bIns="0" anchor="t">
            <a:normAutofit/>
          </a:bodyPr>
          <a:lstStyle/>
          <a:p>
            <a:pPr algn="l">
              <a:lnSpc>
                <a:spcPct val="100000"/>
              </a:lnSpc>
              <a:buNone/>
              <a:defRPr sz="3150" b="1">
                <a:solidFill>
                  <a:srgbClr val="071A2B"/>
                </a:solidFill>
                <a:latin typeface="Aptos"/>
                <a:ea typeface="Aptos"/>
                <a:cs typeface="Aptos"/>
              </a:defRPr>
            </a:pPr>
            <a:r>
              <a:rPr sz="3150" b="1">
                <a:solidFill>
                  <a:srgbClr val="071A2B"/>
                </a:solidFill>
                <a:latin typeface="Aptos"/>
                <a:ea typeface="Aptos"/>
                <a:cs typeface="Aptos"/>
              </a:rPr>
              <a:t>What we are proposing</a:t>
            </a:r>
          </a:p>
        </p:txBody>
      </p:sp>
      <p:sp>
        <p:nvSpPr>
          <p:cNvPr id="3" name="Rectangle 2">
            <a:extLst>
              <a:ext uri="{FF2B5EF4-FFF2-40B4-BE49-F238E27FC236}">
                <a16:creationId xmlns:a16="http://schemas.microsoft.com/office/drawing/2014/main" id="{3FDB7B38-1467-42AB-85A3-F5980449A051}"/>
              </a:ext>
            </a:extLst>
          </p:cNvPr>
          <p:cNvSpPr>
            <a:spLocks noGrp="1"/>
          </p:cNvSpPr>
          <p:nvPr/>
        </p:nvSpPr>
        <p:spPr>
          <a:xfrm>
            <a:off x="628650" y="914400"/>
            <a:ext cx="10287000" cy="323850"/>
          </a:xfrm>
          <a:prstGeom prst="rect">
            <a:avLst/>
          </a:prstGeom>
          <a:noFill/>
          <a:ln w="0">
            <a:noFill/>
          </a:ln>
        </p:spPr>
        <p:txBody>
          <a:bodyPr wrap="square" lIns="0" tIns="0" rIns="0" bIns="0" anchor="t">
            <a:normAutofit/>
          </a:bodyPr>
          <a:lstStyle/>
          <a:p>
            <a:pPr algn="l">
              <a:lnSpc>
                <a:spcPct val="100000"/>
              </a:lnSpc>
              <a:buNone/>
              <a:defRPr sz="1500" b="0">
                <a:solidFill>
                  <a:srgbClr val="536575"/>
                </a:solidFill>
                <a:latin typeface="Aptos"/>
                <a:ea typeface="Aptos"/>
                <a:cs typeface="Aptos"/>
              </a:defRPr>
            </a:pPr>
            <a:r>
              <a:rPr sz="1500" b="0">
                <a:solidFill>
                  <a:srgbClr val="536575"/>
                </a:solidFill>
                <a:latin typeface="Aptos"/>
                <a:ea typeface="Aptos"/>
                <a:cs typeface="Aptos"/>
              </a:rPr>
              <a:t>Move ANSEI production transactions into SAP while keeping NOVA focused on shopfloor execution</a:t>
            </a:r>
          </a:p>
        </p:txBody>
      </p:sp>
      <p:sp>
        <p:nvSpPr>
          <p:cNvPr id="4" name="Rectangle 3">
            <a:extLst>
              <a:ext uri="{FF2B5EF4-FFF2-40B4-BE49-F238E27FC236}">
                <a16:creationId xmlns:a16="http://schemas.microsoft.com/office/drawing/2014/main" id="{51CD1522-095D-4CC2-A51E-071739D252E9}"/>
              </a:ext>
            </a:extLst>
          </p:cNvPr>
          <p:cNvSpPr>
            <a:spLocks noGrp="1"/>
          </p:cNvSpPr>
          <p:nvPr/>
        </p:nvSpPr>
        <p:spPr>
          <a:xfrm>
            <a:off x="723900" y="1581150"/>
            <a:ext cx="4572000" cy="400050"/>
          </a:xfrm>
          <a:prstGeom prst="rect">
            <a:avLst/>
          </a:prstGeom>
          <a:noFill/>
          <a:ln w="0">
            <a:noFill/>
          </a:ln>
        </p:spPr>
        <p:txBody>
          <a:bodyPr wrap="square" lIns="0" tIns="0" rIns="0" bIns="0" anchor="t">
            <a:normAutofit/>
          </a:bodyPr>
          <a:lstStyle/>
          <a:p>
            <a:pPr algn="l">
              <a:lnSpc>
                <a:spcPct val="100000"/>
              </a:lnSpc>
              <a:buNone/>
              <a:defRPr sz="2100" b="1">
                <a:solidFill>
                  <a:srgbClr val="D94141"/>
                </a:solidFill>
                <a:latin typeface="Aptos"/>
                <a:ea typeface="Aptos"/>
                <a:cs typeface="Aptos"/>
              </a:defRPr>
            </a:pPr>
            <a:r>
              <a:rPr sz="2100" b="1">
                <a:solidFill>
                  <a:srgbClr val="D94141"/>
                </a:solidFill>
                <a:latin typeface="Aptos"/>
                <a:ea typeface="Aptos"/>
                <a:cs typeface="Aptos"/>
              </a:rPr>
              <a:t>Why this matters</a:t>
            </a:r>
          </a:p>
        </p:txBody>
      </p:sp>
      <p:sp>
        <p:nvSpPr>
          <p:cNvPr id="5" name="Straight Connector 4">
            <a:extLst>
              <a:ext uri="{FF2B5EF4-FFF2-40B4-BE49-F238E27FC236}">
                <a16:creationId xmlns:a16="http://schemas.microsoft.com/office/drawing/2014/main" id="{57BBB0BE-4C51-4743-AEBE-EC754CD0B93B}"/>
              </a:ext>
            </a:extLst>
          </p:cNvPr>
          <p:cNvSpPr>
            <a:spLocks noGrp="1"/>
          </p:cNvSpPr>
          <p:nvPr/>
        </p:nvSpPr>
        <p:spPr>
          <a:xfrm>
            <a:off x="5905500" y="1524000"/>
            <a:ext cx="0" cy="3638550"/>
          </a:xfrm>
          <a:prstGeom prst="line">
            <a:avLst/>
          </a:prstGeom>
          <a:noFill/>
          <a:ln w="19050">
            <a:solidFill>
              <a:srgbClr val="D5DEE6"/>
            </a:solidFill>
            <a:prstDash val="solid"/>
          </a:ln>
        </p:spPr>
        <p:txBody>
          <a:bodyPr/>
          <a:lstStyle/>
          <a:p>
            <a:endParaRPr lang="en-ID"/>
          </a:p>
        </p:txBody>
      </p:sp>
      <p:sp>
        <p:nvSpPr>
          <p:cNvPr id="6" name="Oval 5">
            <a:extLst>
              <a:ext uri="{FF2B5EF4-FFF2-40B4-BE49-F238E27FC236}">
                <a16:creationId xmlns:a16="http://schemas.microsoft.com/office/drawing/2014/main" id="{FD00FD13-7573-4F97-A388-BAC74984DFDD}"/>
              </a:ext>
            </a:extLst>
          </p:cNvPr>
          <p:cNvSpPr>
            <a:spLocks noGrp="1"/>
          </p:cNvSpPr>
          <p:nvPr/>
        </p:nvSpPr>
        <p:spPr>
          <a:xfrm>
            <a:off x="723900" y="2286000"/>
            <a:ext cx="95250" cy="95250"/>
          </a:xfrm>
          <a:prstGeom prst="ellipse">
            <a:avLst/>
          </a:prstGeom>
          <a:solidFill>
            <a:srgbClr val="12B7E6"/>
          </a:solidFill>
          <a:ln w="0">
            <a:noFill/>
          </a:ln>
        </p:spPr>
        <p:txBody>
          <a:bodyPr/>
          <a:lstStyle/>
          <a:p>
            <a:endParaRPr lang="en-ID"/>
          </a:p>
        </p:txBody>
      </p:sp>
      <p:sp>
        <p:nvSpPr>
          <p:cNvPr id="7" name="Rectangle 6">
            <a:extLst>
              <a:ext uri="{FF2B5EF4-FFF2-40B4-BE49-F238E27FC236}">
                <a16:creationId xmlns:a16="http://schemas.microsoft.com/office/drawing/2014/main" id="{0D43E9D9-2354-4D77-BA8C-453A072CDD33}"/>
              </a:ext>
            </a:extLst>
          </p:cNvPr>
          <p:cNvSpPr>
            <a:spLocks noGrp="1"/>
          </p:cNvSpPr>
          <p:nvPr/>
        </p:nvSpPr>
        <p:spPr>
          <a:xfrm>
            <a:off x="933450" y="2209800"/>
            <a:ext cx="4419600" cy="666750"/>
          </a:xfrm>
          <a:prstGeom prst="rect">
            <a:avLst/>
          </a:prstGeom>
          <a:noFill/>
          <a:ln w="0">
            <a:noFill/>
          </a:ln>
        </p:spPr>
        <p:txBody>
          <a:bodyPr wrap="square" lIns="0" tIns="0" rIns="0" bIns="0" anchor="t">
            <a:normAutofit/>
          </a:bodyPr>
          <a:lstStyle/>
          <a:p>
            <a:pPr algn="l">
              <a:lnSpc>
                <a:spcPct val="105000"/>
              </a:lnSpc>
              <a:buNone/>
              <a:defRPr sz="1650" b="0">
                <a:solidFill>
                  <a:srgbClr val="142433"/>
                </a:solidFill>
                <a:latin typeface="Aptos"/>
                <a:ea typeface="Aptos"/>
                <a:cs typeface="Aptos"/>
              </a:defRPr>
            </a:pPr>
            <a:r>
              <a:rPr sz="1650" b="0">
                <a:solidFill>
                  <a:srgbClr val="142433"/>
                </a:solidFill>
                <a:latin typeface="Aptos"/>
                <a:ea typeface="Aptos"/>
                <a:cs typeface="Aptos"/>
              </a:rPr>
              <a:t>ANSEI production data still sits outside SAP, with Excel used for reporting and handoffs.</a:t>
            </a:r>
          </a:p>
        </p:txBody>
      </p:sp>
      <p:sp>
        <p:nvSpPr>
          <p:cNvPr id="8" name="Oval 7">
            <a:extLst>
              <a:ext uri="{FF2B5EF4-FFF2-40B4-BE49-F238E27FC236}">
                <a16:creationId xmlns:a16="http://schemas.microsoft.com/office/drawing/2014/main" id="{8B926349-CE20-43FA-8669-4D8557A1B3E6}"/>
              </a:ext>
            </a:extLst>
          </p:cNvPr>
          <p:cNvSpPr>
            <a:spLocks noGrp="1"/>
          </p:cNvSpPr>
          <p:nvPr/>
        </p:nvSpPr>
        <p:spPr>
          <a:xfrm>
            <a:off x="723900" y="3352800"/>
            <a:ext cx="95250" cy="95250"/>
          </a:xfrm>
          <a:prstGeom prst="ellipse">
            <a:avLst/>
          </a:prstGeom>
          <a:solidFill>
            <a:srgbClr val="D94141"/>
          </a:solidFill>
          <a:ln w="0">
            <a:noFill/>
          </a:ln>
        </p:spPr>
        <p:txBody>
          <a:bodyPr/>
          <a:lstStyle/>
          <a:p>
            <a:endParaRPr lang="en-ID"/>
          </a:p>
        </p:txBody>
      </p:sp>
      <p:sp>
        <p:nvSpPr>
          <p:cNvPr id="9" name="Rectangle 8">
            <a:extLst>
              <a:ext uri="{FF2B5EF4-FFF2-40B4-BE49-F238E27FC236}">
                <a16:creationId xmlns:a16="http://schemas.microsoft.com/office/drawing/2014/main" id="{65AE29ED-8A03-4CD5-9711-BB36BCFA8B39}"/>
              </a:ext>
            </a:extLst>
          </p:cNvPr>
          <p:cNvSpPr>
            <a:spLocks noGrp="1"/>
          </p:cNvSpPr>
          <p:nvPr/>
        </p:nvSpPr>
        <p:spPr>
          <a:xfrm>
            <a:off x="933450" y="3276600"/>
            <a:ext cx="4419600" cy="876300"/>
          </a:xfrm>
          <a:prstGeom prst="rect">
            <a:avLst/>
          </a:prstGeom>
          <a:noFill/>
          <a:ln w="0">
            <a:noFill/>
          </a:ln>
        </p:spPr>
        <p:txBody>
          <a:bodyPr wrap="square" lIns="0" tIns="0" rIns="0" bIns="0" anchor="t">
            <a:normAutofit/>
          </a:bodyPr>
          <a:lstStyle/>
          <a:p>
            <a:pPr algn="l">
              <a:lnSpc>
                <a:spcPct val="105000"/>
              </a:lnSpc>
              <a:buNone/>
              <a:defRPr sz="1650" b="0">
                <a:solidFill>
                  <a:srgbClr val="142433"/>
                </a:solidFill>
                <a:latin typeface="Aptos"/>
                <a:ea typeface="Aptos"/>
                <a:cs typeface="Aptos"/>
              </a:defRPr>
            </a:pPr>
            <a:r>
              <a:rPr sz="1650" b="0">
                <a:solidFill>
                  <a:srgbClr val="142433"/>
                </a:solidFill>
                <a:latin typeface="Aptos"/>
                <a:ea typeface="Aptos"/>
                <a:cs typeface="Aptos"/>
              </a:rPr>
              <a:t>Teams have to reconcile separate records, and SAP has no complete view of ANSEI material and finished goods movements.</a:t>
            </a:r>
          </a:p>
        </p:txBody>
      </p:sp>
      <p:sp>
        <p:nvSpPr>
          <p:cNvPr id="10" name="Rectangle 9">
            <a:extLst>
              <a:ext uri="{FF2B5EF4-FFF2-40B4-BE49-F238E27FC236}">
                <a16:creationId xmlns:a16="http://schemas.microsoft.com/office/drawing/2014/main" id="{24181F5F-926A-4241-BDBD-87CB4BDF979D}"/>
              </a:ext>
            </a:extLst>
          </p:cNvPr>
          <p:cNvSpPr>
            <a:spLocks noGrp="1"/>
          </p:cNvSpPr>
          <p:nvPr/>
        </p:nvSpPr>
        <p:spPr>
          <a:xfrm>
            <a:off x="6457950" y="1581150"/>
            <a:ext cx="4572000" cy="400050"/>
          </a:xfrm>
          <a:prstGeom prst="rect">
            <a:avLst/>
          </a:prstGeom>
          <a:noFill/>
          <a:ln w="0">
            <a:noFill/>
          </a:ln>
        </p:spPr>
        <p:txBody>
          <a:bodyPr wrap="square" lIns="0" tIns="0" rIns="0" bIns="0" anchor="t">
            <a:normAutofit/>
          </a:bodyPr>
          <a:lstStyle/>
          <a:p>
            <a:pPr algn="l">
              <a:lnSpc>
                <a:spcPct val="100000"/>
              </a:lnSpc>
              <a:buNone/>
              <a:defRPr sz="2100" b="1">
                <a:solidFill>
                  <a:srgbClr val="23845B"/>
                </a:solidFill>
                <a:latin typeface="Aptos"/>
                <a:ea typeface="Aptos"/>
                <a:cs typeface="Aptos"/>
              </a:defRPr>
            </a:pPr>
            <a:r>
              <a:rPr sz="2100" b="1">
                <a:solidFill>
                  <a:srgbClr val="23845B"/>
                </a:solidFill>
                <a:latin typeface="Aptos"/>
                <a:ea typeface="Aptos"/>
                <a:cs typeface="Aptos"/>
              </a:rPr>
              <a:t>What changed</a:t>
            </a:r>
          </a:p>
        </p:txBody>
      </p:sp>
      <p:sp>
        <p:nvSpPr>
          <p:cNvPr id="11" name="Oval 10">
            <a:extLst>
              <a:ext uri="{FF2B5EF4-FFF2-40B4-BE49-F238E27FC236}">
                <a16:creationId xmlns:a16="http://schemas.microsoft.com/office/drawing/2014/main" id="{79513753-D658-49C1-9DA2-977D17FC8D99}"/>
              </a:ext>
            </a:extLst>
          </p:cNvPr>
          <p:cNvSpPr>
            <a:spLocks noGrp="1"/>
          </p:cNvSpPr>
          <p:nvPr/>
        </p:nvSpPr>
        <p:spPr>
          <a:xfrm>
            <a:off x="6457950" y="2286000"/>
            <a:ext cx="95250" cy="95250"/>
          </a:xfrm>
          <a:prstGeom prst="ellipse">
            <a:avLst/>
          </a:prstGeom>
          <a:solidFill>
            <a:srgbClr val="23845B"/>
          </a:solidFill>
          <a:ln w="0">
            <a:noFill/>
          </a:ln>
        </p:spPr>
        <p:txBody>
          <a:bodyPr/>
          <a:lstStyle/>
          <a:p>
            <a:endParaRPr lang="en-ID"/>
          </a:p>
        </p:txBody>
      </p:sp>
      <p:sp>
        <p:nvSpPr>
          <p:cNvPr id="12" name="Rectangle 11">
            <a:extLst>
              <a:ext uri="{FF2B5EF4-FFF2-40B4-BE49-F238E27FC236}">
                <a16:creationId xmlns:a16="http://schemas.microsoft.com/office/drawing/2014/main" id="{87494A69-F27C-4A98-ADF7-2DE68F47A602}"/>
              </a:ext>
            </a:extLst>
          </p:cNvPr>
          <p:cNvSpPr>
            <a:spLocks noGrp="1"/>
          </p:cNvSpPr>
          <p:nvPr/>
        </p:nvSpPr>
        <p:spPr>
          <a:xfrm>
            <a:off x="6667500" y="2209800"/>
            <a:ext cx="4552950" cy="876300"/>
          </a:xfrm>
          <a:prstGeom prst="rect">
            <a:avLst/>
          </a:prstGeom>
          <a:noFill/>
          <a:ln w="0">
            <a:noFill/>
          </a:ln>
        </p:spPr>
        <p:txBody>
          <a:bodyPr wrap="square" lIns="0" tIns="0" rIns="0" bIns="0" anchor="t">
            <a:normAutofit/>
          </a:bodyPr>
          <a:lstStyle/>
          <a:p>
            <a:pPr algn="l">
              <a:lnSpc>
                <a:spcPct val="105000"/>
              </a:lnSpc>
              <a:buNone/>
              <a:defRPr sz="1650" b="0">
                <a:solidFill>
                  <a:srgbClr val="142433"/>
                </a:solidFill>
                <a:latin typeface="Aptos"/>
                <a:ea typeface="Aptos"/>
                <a:cs typeface="Aptos"/>
              </a:defRPr>
            </a:pPr>
            <a:r>
              <a:rPr sz="1650" b="0">
                <a:solidFill>
                  <a:srgbClr val="142433"/>
                </a:solidFill>
                <a:latin typeface="Aptos"/>
                <a:ea typeface="Aptos"/>
                <a:cs typeface="Aptos"/>
              </a:rPr>
              <a:t>IT and Accounting tested the ANSEI scenario in SAP. SAP can handle it with the right ownership and valuation setup.</a:t>
            </a:r>
          </a:p>
        </p:txBody>
      </p:sp>
      <p:sp>
        <p:nvSpPr>
          <p:cNvPr id="13" name="Oval 12">
            <a:extLst>
              <a:ext uri="{FF2B5EF4-FFF2-40B4-BE49-F238E27FC236}">
                <a16:creationId xmlns:a16="http://schemas.microsoft.com/office/drawing/2014/main" id="{1BB694B0-14C5-4B83-89AB-FC094C08FD58}"/>
              </a:ext>
            </a:extLst>
          </p:cNvPr>
          <p:cNvSpPr>
            <a:spLocks noGrp="1"/>
          </p:cNvSpPr>
          <p:nvPr/>
        </p:nvSpPr>
        <p:spPr>
          <a:xfrm>
            <a:off x="6457950" y="3543300"/>
            <a:ext cx="95250" cy="95250"/>
          </a:xfrm>
          <a:prstGeom prst="ellipse">
            <a:avLst/>
          </a:prstGeom>
          <a:solidFill>
            <a:srgbClr val="23845B"/>
          </a:solidFill>
          <a:ln w="0">
            <a:noFill/>
          </a:ln>
        </p:spPr>
        <p:txBody>
          <a:bodyPr/>
          <a:lstStyle/>
          <a:p>
            <a:endParaRPr lang="en-ID"/>
          </a:p>
        </p:txBody>
      </p:sp>
      <p:sp>
        <p:nvSpPr>
          <p:cNvPr id="14" name="Rectangle 13">
            <a:extLst>
              <a:ext uri="{FF2B5EF4-FFF2-40B4-BE49-F238E27FC236}">
                <a16:creationId xmlns:a16="http://schemas.microsoft.com/office/drawing/2014/main" id="{0041288A-22ED-44CE-9E1C-BCB4A7D996F3}"/>
              </a:ext>
            </a:extLst>
          </p:cNvPr>
          <p:cNvSpPr>
            <a:spLocks noGrp="1"/>
          </p:cNvSpPr>
          <p:nvPr/>
        </p:nvSpPr>
        <p:spPr>
          <a:xfrm>
            <a:off x="6667500" y="3467100"/>
            <a:ext cx="4552950" cy="666750"/>
          </a:xfrm>
          <a:prstGeom prst="rect">
            <a:avLst/>
          </a:prstGeom>
          <a:noFill/>
          <a:ln w="0">
            <a:noFill/>
          </a:ln>
        </p:spPr>
        <p:txBody>
          <a:bodyPr wrap="square" lIns="0" tIns="0" rIns="0" bIns="0" anchor="t">
            <a:normAutofit/>
          </a:bodyPr>
          <a:lstStyle/>
          <a:p>
            <a:pPr algn="l">
              <a:lnSpc>
                <a:spcPct val="105000"/>
              </a:lnSpc>
              <a:buNone/>
              <a:defRPr sz="1650" b="0">
                <a:solidFill>
                  <a:srgbClr val="142433"/>
                </a:solidFill>
                <a:latin typeface="Aptos"/>
                <a:ea typeface="Aptos"/>
                <a:cs typeface="Aptos"/>
              </a:defRPr>
            </a:pPr>
            <a:r>
              <a:rPr sz="1650" b="0">
                <a:solidFill>
                  <a:srgbClr val="142433"/>
                </a:solidFill>
                <a:latin typeface="Aptos"/>
                <a:ea typeface="Aptos"/>
                <a:cs typeface="Aptos"/>
              </a:rPr>
              <a:t>NOVA can run the shopfloor process while SAP records the actual business transactions.</a:t>
            </a:r>
          </a:p>
        </p:txBody>
      </p:sp>
      <p:sp>
        <p:nvSpPr>
          <p:cNvPr id="15" name="Rectangle: Rounded Corners 14">
            <a:extLst>
              <a:ext uri="{FF2B5EF4-FFF2-40B4-BE49-F238E27FC236}">
                <a16:creationId xmlns:a16="http://schemas.microsoft.com/office/drawing/2014/main" id="{A87BCABC-5273-44C9-9BB4-85E0FF2AC70E}"/>
              </a:ext>
            </a:extLst>
          </p:cNvPr>
          <p:cNvSpPr>
            <a:spLocks noGrp="1"/>
          </p:cNvSpPr>
          <p:nvPr/>
        </p:nvSpPr>
        <p:spPr>
          <a:xfrm>
            <a:off x="1314450" y="5010150"/>
            <a:ext cx="9563100" cy="1009650"/>
          </a:xfrm>
          <a:prstGeom prst="roundRect">
            <a:avLst>
              <a:gd name="adj" fmla="val 7547"/>
            </a:avLst>
          </a:prstGeom>
          <a:solidFill>
            <a:srgbClr val="0E2C47"/>
          </a:solidFill>
          <a:ln w="0">
            <a:noFill/>
          </a:ln>
        </p:spPr>
        <p:txBody>
          <a:bodyPr/>
          <a:lstStyle/>
          <a:p>
            <a:endParaRPr lang="en-ID"/>
          </a:p>
        </p:txBody>
      </p:sp>
      <p:sp>
        <p:nvSpPr>
          <p:cNvPr id="16" name="Rectangle 15">
            <a:extLst>
              <a:ext uri="{FF2B5EF4-FFF2-40B4-BE49-F238E27FC236}">
                <a16:creationId xmlns:a16="http://schemas.microsoft.com/office/drawing/2014/main" id="{BA2DA205-94FD-45E5-B6A4-4D6DC738E340}"/>
              </a:ext>
            </a:extLst>
          </p:cNvPr>
          <p:cNvSpPr>
            <a:spLocks noGrp="1"/>
          </p:cNvSpPr>
          <p:nvPr/>
        </p:nvSpPr>
        <p:spPr>
          <a:xfrm>
            <a:off x="1657350" y="5200650"/>
            <a:ext cx="3619500" cy="304800"/>
          </a:xfrm>
          <a:prstGeom prst="rect">
            <a:avLst/>
          </a:prstGeom>
          <a:noFill/>
          <a:ln w="0">
            <a:noFill/>
          </a:ln>
        </p:spPr>
        <p:txBody>
          <a:bodyPr wrap="square" lIns="0" tIns="0" rIns="0" bIns="0" anchor="t">
            <a:normAutofit/>
          </a:bodyPr>
          <a:lstStyle/>
          <a:p>
            <a:pPr algn="l">
              <a:lnSpc>
                <a:spcPct val="100000"/>
              </a:lnSpc>
              <a:buNone/>
              <a:defRPr sz="1650" b="1">
                <a:solidFill>
                  <a:srgbClr val="12B7E6"/>
                </a:solidFill>
                <a:latin typeface="Aptos"/>
                <a:ea typeface="Aptos"/>
                <a:cs typeface="Aptos"/>
              </a:defRPr>
            </a:pPr>
            <a:r>
              <a:rPr sz="1650" b="1">
                <a:solidFill>
                  <a:srgbClr val="12B7E6"/>
                </a:solidFill>
                <a:latin typeface="Aptos"/>
                <a:ea typeface="Aptos"/>
                <a:cs typeface="Aptos"/>
              </a:rPr>
              <a:t>What we need from management</a:t>
            </a:r>
          </a:p>
        </p:txBody>
      </p:sp>
      <p:sp>
        <p:nvSpPr>
          <p:cNvPr id="17" name="Rectangle 16">
            <a:extLst>
              <a:ext uri="{FF2B5EF4-FFF2-40B4-BE49-F238E27FC236}">
                <a16:creationId xmlns:a16="http://schemas.microsoft.com/office/drawing/2014/main" id="{98EECD95-5C36-43DC-B4ED-D8929C90D75B}"/>
              </a:ext>
            </a:extLst>
          </p:cNvPr>
          <p:cNvSpPr>
            <a:spLocks noGrp="1"/>
          </p:cNvSpPr>
          <p:nvPr/>
        </p:nvSpPr>
        <p:spPr>
          <a:xfrm>
            <a:off x="1657350" y="5562600"/>
            <a:ext cx="8591550" cy="323850"/>
          </a:xfrm>
          <a:prstGeom prst="rect">
            <a:avLst/>
          </a:prstGeom>
          <a:noFill/>
          <a:ln w="0">
            <a:noFill/>
          </a:ln>
        </p:spPr>
        <p:txBody>
          <a:bodyPr wrap="square" lIns="0" tIns="0" rIns="0" bIns="0" anchor="ctr">
            <a:normAutofit/>
          </a:bodyPr>
          <a:lstStyle/>
          <a:p>
            <a:pPr algn="ctr">
              <a:lnSpc>
                <a:spcPct val="100000"/>
              </a:lnSpc>
              <a:buNone/>
              <a:defRPr sz="1800" b="1">
                <a:solidFill>
                  <a:srgbClr val="FFFFFF"/>
                </a:solidFill>
                <a:latin typeface="Aptos"/>
                <a:ea typeface="Aptos"/>
                <a:cs typeface="Aptos"/>
              </a:defRPr>
            </a:pPr>
            <a:r>
              <a:rPr sz="1800" b="1">
                <a:solidFill>
                  <a:srgbClr val="FFFFFF"/>
                </a:solidFill>
                <a:latin typeface="Aptos"/>
                <a:ea typeface="Aptos"/>
                <a:cs typeface="Aptos"/>
              </a:rPr>
              <a:t>Support Production's formal request to Accounting so the SAP design can move forward.</a:t>
            </a:r>
          </a:p>
        </p:txBody>
      </p:sp>
      <p:sp>
        <p:nvSpPr>
          <p:cNvPr id="18" name="Straight Connector 17">
            <a:extLst>
              <a:ext uri="{FF2B5EF4-FFF2-40B4-BE49-F238E27FC236}">
                <a16:creationId xmlns:a16="http://schemas.microsoft.com/office/drawing/2014/main" id="{5829020A-9077-4677-9406-35D181335E3E}"/>
              </a:ext>
            </a:extLst>
          </p:cNvPr>
          <p:cNvSpPr>
            <a:spLocks noGrp="1"/>
          </p:cNvSpPr>
          <p:nvPr/>
        </p:nvSpPr>
        <p:spPr>
          <a:xfrm>
            <a:off x="609600" y="6486525"/>
            <a:ext cx="10972800" cy="0"/>
          </a:xfrm>
          <a:prstGeom prst="line">
            <a:avLst/>
          </a:prstGeom>
          <a:noFill/>
          <a:ln w="9525">
            <a:solidFill>
              <a:srgbClr val="D5DEE6"/>
            </a:solidFill>
            <a:prstDash val="solid"/>
          </a:ln>
        </p:spPr>
        <p:txBody>
          <a:bodyPr/>
          <a:lstStyle/>
          <a:p>
            <a:endParaRPr lang="en-ID"/>
          </a:p>
        </p:txBody>
      </p:sp>
      <p:sp>
        <p:nvSpPr>
          <p:cNvPr id="19" name="Rectangle 18">
            <a:extLst>
              <a:ext uri="{FF2B5EF4-FFF2-40B4-BE49-F238E27FC236}">
                <a16:creationId xmlns:a16="http://schemas.microsoft.com/office/drawing/2014/main" id="{983A7A08-3CF2-4C9F-914A-832FAC0F1126}"/>
              </a:ext>
            </a:extLst>
          </p:cNvPr>
          <p:cNvSpPr>
            <a:spLocks noGrp="1"/>
          </p:cNvSpPr>
          <p:nvPr/>
        </p:nvSpPr>
        <p:spPr>
          <a:xfrm>
            <a:off x="609600" y="6553200"/>
            <a:ext cx="4953000" cy="190500"/>
          </a:xfrm>
          <a:prstGeom prst="rect">
            <a:avLst/>
          </a:prstGeom>
          <a:noFill/>
          <a:ln w="0">
            <a:noFill/>
          </a:ln>
        </p:spPr>
        <p:txBody>
          <a:bodyPr wrap="square" lIns="0" tIns="0" rIns="0" bIns="0" anchor="t">
            <a:normAutofit/>
          </a:bodyPr>
          <a:lstStyle/>
          <a:p>
            <a:pPr algn="l">
              <a:lnSpc>
                <a:spcPct val="100000"/>
              </a:lnSpc>
              <a:buNone/>
              <a:defRPr sz="975" b="0">
                <a:solidFill>
                  <a:srgbClr val="536575"/>
                </a:solidFill>
                <a:latin typeface="Aptos"/>
                <a:ea typeface="Aptos"/>
                <a:cs typeface="Aptos"/>
              </a:defRPr>
            </a:pPr>
            <a:r>
              <a:rPr sz="975" b="0">
                <a:solidFill>
                  <a:srgbClr val="536575"/>
                </a:solidFill>
                <a:latin typeface="Aptos"/>
                <a:ea typeface="Aptos"/>
                <a:cs typeface="Aptos"/>
              </a:rPr>
              <a:t>ANSEI / NOVA Shopfloor MES / SAP</a:t>
            </a:r>
          </a:p>
        </p:txBody>
      </p:sp>
      <p:sp>
        <p:nvSpPr>
          <p:cNvPr id="20" name="Rectangle 19">
            <a:extLst>
              <a:ext uri="{FF2B5EF4-FFF2-40B4-BE49-F238E27FC236}">
                <a16:creationId xmlns:a16="http://schemas.microsoft.com/office/drawing/2014/main" id="{0C2B5778-9783-493A-8AB6-19984F81C906}"/>
              </a:ext>
            </a:extLst>
          </p:cNvPr>
          <p:cNvSpPr>
            <a:spLocks noGrp="1"/>
          </p:cNvSpPr>
          <p:nvPr/>
        </p:nvSpPr>
        <p:spPr>
          <a:xfrm>
            <a:off x="11049000" y="6534150"/>
            <a:ext cx="533400" cy="209550"/>
          </a:xfrm>
          <a:prstGeom prst="rect">
            <a:avLst/>
          </a:prstGeom>
          <a:noFill/>
          <a:ln w="0">
            <a:noFill/>
          </a:ln>
        </p:spPr>
        <p:txBody>
          <a:bodyPr wrap="square" lIns="0" tIns="0" rIns="0" bIns="0" anchor="t">
            <a:normAutofit/>
          </a:bodyPr>
          <a:lstStyle/>
          <a:p>
            <a:pPr algn="r">
              <a:lnSpc>
                <a:spcPct val="100000"/>
              </a:lnSpc>
              <a:buNone/>
              <a:defRPr sz="1050" b="1">
                <a:solidFill>
                  <a:srgbClr val="0B5CAD"/>
                </a:solidFill>
                <a:latin typeface="Aptos"/>
                <a:ea typeface="Aptos"/>
                <a:cs typeface="Aptos"/>
              </a:defRPr>
            </a:pPr>
            <a:r>
              <a:rPr sz="1050" b="1">
                <a:solidFill>
                  <a:srgbClr val="0B5CAD"/>
                </a:solidFill>
                <a:latin typeface="Aptos"/>
                <a:ea typeface="Aptos"/>
                <a:cs typeface="Aptos"/>
              </a:rPr>
              <a:t>02</a:t>
            </a:r>
          </a:p>
        </p:txBody>
      </p:sp>
    </p:spTree>
    <p:extLst>
      <p:ext uri="{BB962C8B-B14F-4D97-AF65-F5344CB8AC3E}">
        <p14:creationId xmlns:p14="http://schemas.microsoft.com/office/powerpoint/2010/main" val="216710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ECC699D1-571E-43AB-A126-7E8B5B7DB536}"/>
              </a:ext>
            </a:extLst>
          </p:cNvPr>
          <p:cNvSpPr>
            <a:spLocks noGrp="1"/>
          </p:cNvSpPr>
          <p:nvPr/>
        </p:nvSpPr>
        <p:spPr>
          <a:xfrm>
            <a:off x="0" y="0"/>
            <a:ext cx="12192000" cy="95250"/>
          </a:xfrm>
          <a:prstGeom prst="rect">
            <a:avLst/>
          </a:prstGeom>
          <a:solidFill>
            <a:srgbClr val="12B7E6"/>
          </a:solidFill>
          <a:ln w="0">
            <a:noFill/>
          </a:ln>
        </p:spPr>
        <p:txBody>
          <a:bodyPr/>
          <a:lstStyle/>
          <a:p>
            <a:endParaRPr lang="en-ID"/>
          </a:p>
        </p:txBody>
      </p:sp>
      <p:sp>
        <p:nvSpPr>
          <p:cNvPr id="2" name="Rectangle 1">
            <a:extLst>
              <a:ext uri="{FF2B5EF4-FFF2-40B4-BE49-F238E27FC236}">
                <a16:creationId xmlns:a16="http://schemas.microsoft.com/office/drawing/2014/main" id="{DFA41509-7015-4887-B77E-9CF4A289BF21}"/>
              </a:ext>
            </a:extLst>
          </p:cNvPr>
          <p:cNvSpPr>
            <a:spLocks noGrp="1"/>
          </p:cNvSpPr>
          <p:nvPr/>
        </p:nvSpPr>
        <p:spPr>
          <a:xfrm>
            <a:off x="609600" y="361950"/>
            <a:ext cx="10668000" cy="514350"/>
          </a:xfrm>
          <a:prstGeom prst="rect">
            <a:avLst/>
          </a:prstGeom>
          <a:noFill/>
          <a:ln w="0">
            <a:noFill/>
          </a:ln>
        </p:spPr>
        <p:txBody>
          <a:bodyPr wrap="square" lIns="0" tIns="0" rIns="0" bIns="0" anchor="t">
            <a:normAutofit/>
          </a:bodyPr>
          <a:lstStyle/>
          <a:p>
            <a:pPr algn="l">
              <a:lnSpc>
                <a:spcPct val="100000"/>
              </a:lnSpc>
              <a:buNone/>
              <a:defRPr sz="3150" b="1">
                <a:solidFill>
                  <a:srgbClr val="071A2B"/>
                </a:solidFill>
                <a:latin typeface="Aptos"/>
                <a:ea typeface="Aptos"/>
                <a:cs typeface="Aptos"/>
              </a:defRPr>
            </a:pPr>
            <a:r>
              <a:rPr sz="3150" b="1">
                <a:solidFill>
                  <a:srgbClr val="071A2B"/>
                </a:solidFill>
                <a:latin typeface="Aptos"/>
                <a:ea typeface="Aptos"/>
                <a:cs typeface="Aptos"/>
              </a:rPr>
              <a:t>How ANSEI works today</a:t>
            </a:r>
          </a:p>
        </p:txBody>
      </p:sp>
      <p:sp>
        <p:nvSpPr>
          <p:cNvPr id="3" name="Rectangle 2">
            <a:extLst>
              <a:ext uri="{FF2B5EF4-FFF2-40B4-BE49-F238E27FC236}">
                <a16:creationId xmlns:a16="http://schemas.microsoft.com/office/drawing/2014/main" id="{D6FBA452-6D11-4D63-8536-C200DB7CFCC5}"/>
              </a:ext>
            </a:extLst>
          </p:cNvPr>
          <p:cNvSpPr>
            <a:spLocks noGrp="1"/>
          </p:cNvSpPr>
          <p:nvPr/>
        </p:nvSpPr>
        <p:spPr>
          <a:xfrm>
            <a:off x="628650" y="914400"/>
            <a:ext cx="10287000" cy="323850"/>
          </a:xfrm>
          <a:prstGeom prst="rect">
            <a:avLst/>
          </a:prstGeom>
          <a:noFill/>
          <a:ln w="0">
            <a:noFill/>
          </a:ln>
        </p:spPr>
        <p:txBody>
          <a:bodyPr wrap="square" lIns="0" tIns="0" rIns="0" bIns="0" anchor="t">
            <a:normAutofit/>
          </a:bodyPr>
          <a:lstStyle/>
          <a:p>
            <a:pPr algn="l">
              <a:lnSpc>
                <a:spcPct val="100000"/>
              </a:lnSpc>
              <a:buNone/>
              <a:defRPr sz="1500" b="0">
                <a:solidFill>
                  <a:srgbClr val="536575"/>
                </a:solidFill>
                <a:latin typeface="Aptos"/>
                <a:ea typeface="Aptos"/>
                <a:cs typeface="Aptos"/>
              </a:defRPr>
            </a:pPr>
            <a:r>
              <a:rPr sz="1500" b="0">
                <a:solidFill>
                  <a:srgbClr val="536575"/>
                </a:solidFill>
                <a:latin typeface="Aptos"/>
                <a:ea typeface="Aptos"/>
                <a:cs typeface="Aptos"/>
              </a:rPr>
              <a:t>The operational flow is complete in ANSEI, but the resulting transactions do not reach SAP</a:t>
            </a:r>
          </a:p>
        </p:txBody>
      </p:sp>
      <p:sp>
        <p:nvSpPr>
          <p:cNvPr id="4" name="Rectangle: Rounded Corners 3">
            <a:extLst>
              <a:ext uri="{FF2B5EF4-FFF2-40B4-BE49-F238E27FC236}">
                <a16:creationId xmlns:a16="http://schemas.microsoft.com/office/drawing/2014/main" id="{77531211-311A-44C4-88B3-99630B6898DC}"/>
              </a:ext>
            </a:extLst>
          </p:cNvPr>
          <p:cNvSpPr>
            <a:spLocks noGrp="1"/>
          </p:cNvSpPr>
          <p:nvPr/>
        </p:nvSpPr>
        <p:spPr>
          <a:xfrm>
            <a:off x="495300" y="1657350"/>
            <a:ext cx="1619250" cy="1143000"/>
          </a:xfrm>
          <a:prstGeom prst="roundRect">
            <a:avLst>
              <a:gd name="adj" fmla="val 6667"/>
            </a:avLst>
          </a:prstGeom>
          <a:solidFill>
            <a:srgbClr val="FFFFFF"/>
          </a:solidFill>
          <a:ln w="19050">
            <a:solidFill>
              <a:srgbClr val="0B5CAD"/>
            </a:solidFill>
            <a:prstDash val="solid"/>
          </a:ln>
        </p:spPr>
        <p:txBody>
          <a:bodyPr/>
          <a:lstStyle/>
          <a:p>
            <a:endParaRPr lang="en-ID"/>
          </a:p>
        </p:txBody>
      </p:sp>
      <p:sp>
        <p:nvSpPr>
          <p:cNvPr id="5" name="Rectangle 4">
            <a:extLst>
              <a:ext uri="{FF2B5EF4-FFF2-40B4-BE49-F238E27FC236}">
                <a16:creationId xmlns:a16="http://schemas.microsoft.com/office/drawing/2014/main" id="{8D4E4163-7641-4CC2-B235-7ADD48AA3C45}"/>
              </a:ext>
            </a:extLst>
          </p:cNvPr>
          <p:cNvSpPr>
            <a:spLocks noGrp="1"/>
          </p:cNvSpPr>
          <p:nvPr/>
        </p:nvSpPr>
        <p:spPr>
          <a:xfrm>
            <a:off x="628650" y="1771650"/>
            <a:ext cx="342900" cy="247650"/>
          </a:xfrm>
          <a:prstGeom prst="rect">
            <a:avLst/>
          </a:prstGeom>
          <a:noFill/>
          <a:ln w="0">
            <a:noFill/>
          </a:ln>
        </p:spPr>
        <p:txBody>
          <a:bodyPr wrap="square" lIns="0" tIns="0" rIns="0" bIns="0" anchor="t">
            <a:normAutofit/>
          </a:bodyPr>
          <a:lstStyle/>
          <a:p>
            <a:pPr algn="l">
              <a:lnSpc>
                <a:spcPct val="100000"/>
              </a:lnSpc>
              <a:buNone/>
              <a:defRPr sz="1275" b="1">
                <a:solidFill>
                  <a:srgbClr val="0B5CAD"/>
                </a:solidFill>
                <a:latin typeface="Aptos"/>
                <a:ea typeface="Aptos"/>
                <a:cs typeface="Aptos"/>
              </a:defRPr>
            </a:pPr>
            <a:r>
              <a:rPr sz="1275" b="1">
                <a:solidFill>
                  <a:srgbClr val="0B5CAD"/>
                </a:solidFill>
                <a:latin typeface="Aptos"/>
                <a:ea typeface="Aptos"/>
                <a:cs typeface="Aptos"/>
              </a:rPr>
              <a:t>01</a:t>
            </a:r>
          </a:p>
        </p:txBody>
      </p:sp>
      <p:sp>
        <p:nvSpPr>
          <p:cNvPr id="6" name="Rectangle 5">
            <a:extLst>
              <a:ext uri="{FF2B5EF4-FFF2-40B4-BE49-F238E27FC236}">
                <a16:creationId xmlns:a16="http://schemas.microsoft.com/office/drawing/2014/main" id="{96D926EF-4B73-41A9-9324-0B9654B314D7}"/>
              </a:ext>
            </a:extLst>
          </p:cNvPr>
          <p:cNvSpPr>
            <a:spLocks noGrp="1"/>
          </p:cNvSpPr>
          <p:nvPr/>
        </p:nvSpPr>
        <p:spPr>
          <a:xfrm>
            <a:off x="628650" y="2038350"/>
            <a:ext cx="1352550" cy="552450"/>
          </a:xfrm>
          <a:prstGeom prst="rect">
            <a:avLst/>
          </a:prstGeom>
          <a:noFill/>
          <a:ln w="0">
            <a:noFill/>
          </a:ln>
        </p:spPr>
        <p:txBody>
          <a:bodyPr wrap="square" lIns="0" tIns="0" rIns="0" bIns="0" anchor="ctr">
            <a:normAutofit/>
          </a:bodyPr>
          <a:lstStyle/>
          <a:p>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Incoming</a:t>
            </a:r>
          </a:p>
        </p:txBody>
      </p:sp>
      <p:sp>
        <p:nvSpPr>
          <p:cNvPr id="7" name="Rectangle: Rounded Corners 6">
            <a:extLst>
              <a:ext uri="{FF2B5EF4-FFF2-40B4-BE49-F238E27FC236}">
                <a16:creationId xmlns:a16="http://schemas.microsoft.com/office/drawing/2014/main" id="{12807B6C-215D-4880-B573-062CC386F881}"/>
              </a:ext>
            </a:extLst>
          </p:cNvPr>
          <p:cNvSpPr>
            <a:spLocks noGrp="1"/>
          </p:cNvSpPr>
          <p:nvPr/>
        </p:nvSpPr>
        <p:spPr>
          <a:xfrm>
            <a:off x="2400300" y="1657350"/>
            <a:ext cx="1619250" cy="1143000"/>
          </a:xfrm>
          <a:prstGeom prst="roundRect">
            <a:avLst>
              <a:gd name="adj" fmla="val 6667"/>
            </a:avLst>
          </a:prstGeom>
          <a:solidFill>
            <a:srgbClr val="FFFFFF"/>
          </a:solidFill>
          <a:ln w="19050">
            <a:solidFill>
              <a:srgbClr val="0B5CAD"/>
            </a:solidFill>
            <a:prstDash val="solid"/>
          </a:ln>
        </p:spPr>
        <p:txBody>
          <a:bodyPr/>
          <a:lstStyle/>
          <a:p>
            <a:endParaRPr lang="en-ID"/>
          </a:p>
        </p:txBody>
      </p:sp>
      <p:sp>
        <p:nvSpPr>
          <p:cNvPr id="8" name="Rectangle 7">
            <a:extLst>
              <a:ext uri="{FF2B5EF4-FFF2-40B4-BE49-F238E27FC236}">
                <a16:creationId xmlns:a16="http://schemas.microsoft.com/office/drawing/2014/main" id="{881B9D81-AFED-4A92-A9A2-3F68E7402C6F}"/>
              </a:ext>
            </a:extLst>
          </p:cNvPr>
          <p:cNvSpPr>
            <a:spLocks noGrp="1"/>
          </p:cNvSpPr>
          <p:nvPr/>
        </p:nvSpPr>
        <p:spPr>
          <a:xfrm>
            <a:off x="2533650" y="1771650"/>
            <a:ext cx="342900" cy="247650"/>
          </a:xfrm>
          <a:prstGeom prst="rect">
            <a:avLst/>
          </a:prstGeom>
          <a:noFill/>
          <a:ln w="0">
            <a:noFill/>
          </a:ln>
        </p:spPr>
        <p:txBody>
          <a:bodyPr wrap="square" lIns="0" tIns="0" rIns="0" bIns="0" anchor="t">
            <a:normAutofit/>
          </a:bodyPr>
          <a:lstStyle/>
          <a:p>
            <a:pPr algn="l">
              <a:lnSpc>
                <a:spcPct val="100000"/>
              </a:lnSpc>
              <a:buNone/>
              <a:defRPr sz="1275" b="1">
                <a:solidFill>
                  <a:srgbClr val="0B5CAD"/>
                </a:solidFill>
                <a:latin typeface="Aptos"/>
                <a:ea typeface="Aptos"/>
                <a:cs typeface="Aptos"/>
              </a:defRPr>
            </a:pPr>
            <a:r>
              <a:rPr sz="1275" b="1">
                <a:solidFill>
                  <a:srgbClr val="0B5CAD"/>
                </a:solidFill>
                <a:latin typeface="Aptos"/>
                <a:ea typeface="Aptos"/>
                <a:cs typeface="Aptos"/>
              </a:rPr>
              <a:t>02</a:t>
            </a:r>
          </a:p>
        </p:txBody>
      </p:sp>
      <p:sp>
        <p:nvSpPr>
          <p:cNvPr id="9" name="Rectangle 8">
            <a:extLst>
              <a:ext uri="{FF2B5EF4-FFF2-40B4-BE49-F238E27FC236}">
                <a16:creationId xmlns:a16="http://schemas.microsoft.com/office/drawing/2014/main" id="{A548261A-2207-4347-B7AB-3367AC183E29}"/>
              </a:ext>
            </a:extLst>
          </p:cNvPr>
          <p:cNvSpPr>
            <a:spLocks noGrp="1"/>
          </p:cNvSpPr>
          <p:nvPr/>
        </p:nvSpPr>
        <p:spPr>
          <a:xfrm>
            <a:off x="2533650" y="2038350"/>
            <a:ext cx="1352550" cy="552450"/>
          </a:xfrm>
          <a:prstGeom prst="rect">
            <a:avLst/>
          </a:prstGeom>
          <a:noFill/>
          <a:ln w="0">
            <a:noFill/>
          </a:ln>
        </p:spPr>
        <p:txBody>
          <a:bodyPr wrap="square" lIns="0" tIns="0" rIns="0" bIns="0" anchor="ctr">
            <a:normAutofit/>
          </a:bodyPr>
          <a:lstStyle/>
          <a:p>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Production</a:t>
            </a:r>
          </a:p>
          <a:p>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release</a:t>
            </a:r>
          </a:p>
        </p:txBody>
      </p:sp>
      <p:sp>
        <p:nvSpPr>
          <p:cNvPr id="10" name="Rectangle: Rounded Corners 9">
            <a:extLst>
              <a:ext uri="{FF2B5EF4-FFF2-40B4-BE49-F238E27FC236}">
                <a16:creationId xmlns:a16="http://schemas.microsoft.com/office/drawing/2014/main" id="{2E78F1CF-E75E-484E-8F6F-B230DBD1E44D}"/>
              </a:ext>
            </a:extLst>
          </p:cNvPr>
          <p:cNvSpPr>
            <a:spLocks noGrp="1"/>
          </p:cNvSpPr>
          <p:nvPr/>
        </p:nvSpPr>
        <p:spPr>
          <a:xfrm>
            <a:off x="4305300" y="1657350"/>
            <a:ext cx="1619250" cy="1143000"/>
          </a:xfrm>
          <a:prstGeom prst="roundRect">
            <a:avLst>
              <a:gd name="adj" fmla="val 6667"/>
            </a:avLst>
          </a:prstGeom>
          <a:solidFill>
            <a:srgbClr val="FFFFFF"/>
          </a:solidFill>
          <a:ln w="19050">
            <a:solidFill>
              <a:srgbClr val="D98A0B"/>
            </a:solidFill>
            <a:prstDash val="solid"/>
          </a:ln>
        </p:spPr>
        <p:txBody>
          <a:bodyPr/>
          <a:lstStyle/>
          <a:p>
            <a:endParaRPr lang="en-ID"/>
          </a:p>
        </p:txBody>
      </p:sp>
      <p:sp>
        <p:nvSpPr>
          <p:cNvPr id="11" name="Rectangle 10">
            <a:extLst>
              <a:ext uri="{FF2B5EF4-FFF2-40B4-BE49-F238E27FC236}">
                <a16:creationId xmlns:a16="http://schemas.microsoft.com/office/drawing/2014/main" id="{94A50827-8B28-440F-B5FE-DD88334CFBC6}"/>
              </a:ext>
            </a:extLst>
          </p:cNvPr>
          <p:cNvSpPr>
            <a:spLocks noGrp="1"/>
          </p:cNvSpPr>
          <p:nvPr/>
        </p:nvSpPr>
        <p:spPr>
          <a:xfrm>
            <a:off x="4438650" y="1771650"/>
            <a:ext cx="342900" cy="247650"/>
          </a:xfrm>
          <a:prstGeom prst="rect">
            <a:avLst/>
          </a:prstGeom>
          <a:noFill/>
          <a:ln w="0">
            <a:noFill/>
          </a:ln>
        </p:spPr>
        <p:txBody>
          <a:bodyPr wrap="square" lIns="0" tIns="0" rIns="0" bIns="0" anchor="t">
            <a:normAutofit/>
          </a:bodyPr>
          <a:lstStyle/>
          <a:p>
            <a:pPr algn="l">
              <a:lnSpc>
                <a:spcPct val="100000"/>
              </a:lnSpc>
              <a:buNone/>
              <a:defRPr sz="1275" b="1">
                <a:solidFill>
                  <a:srgbClr val="D98A0B"/>
                </a:solidFill>
                <a:latin typeface="Aptos"/>
                <a:ea typeface="Aptos"/>
                <a:cs typeface="Aptos"/>
              </a:defRPr>
            </a:pPr>
            <a:r>
              <a:rPr sz="1275" b="1">
                <a:solidFill>
                  <a:srgbClr val="D98A0B"/>
                </a:solidFill>
                <a:latin typeface="Aptos"/>
                <a:ea typeface="Aptos"/>
                <a:cs typeface="Aptos"/>
              </a:rPr>
              <a:t>03</a:t>
            </a:r>
          </a:p>
        </p:txBody>
      </p:sp>
      <p:sp>
        <p:nvSpPr>
          <p:cNvPr id="12" name="Rectangle 11">
            <a:extLst>
              <a:ext uri="{FF2B5EF4-FFF2-40B4-BE49-F238E27FC236}">
                <a16:creationId xmlns:a16="http://schemas.microsoft.com/office/drawing/2014/main" id="{A7A7B907-791D-46ED-AE68-D49D4E2ABEB4}"/>
              </a:ext>
            </a:extLst>
          </p:cNvPr>
          <p:cNvSpPr>
            <a:spLocks noGrp="1"/>
          </p:cNvSpPr>
          <p:nvPr/>
        </p:nvSpPr>
        <p:spPr>
          <a:xfrm>
            <a:off x="4438650" y="2038350"/>
            <a:ext cx="1352550" cy="552450"/>
          </a:xfrm>
          <a:prstGeom prst="rect">
            <a:avLst/>
          </a:prstGeom>
          <a:noFill/>
          <a:ln w="0">
            <a:noFill/>
          </a:ln>
        </p:spPr>
        <p:txBody>
          <a:bodyPr wrap="square" lIns="0" tIns="0" rIns="0" bIns="0" anchor="ctr">
            <a:normAutofit/>
          </a:bodyPr>
          <a:lstStyle/>
          <a:p>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Material</a:t>
            </a:r>
          </a:p>
          <a:p>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picking</a:t>
            </a:r>
          </a:p>
        </p:txBody>
      </p:sp>
      <p:sp>
        <p:nvSpPr>
          <p:cNvPr id="13" name="Rectangle: Rounded Corners 12">
            <a:extLst>
              <a:ext uri="{FF2B5EF4-FFF2-40B4-BE49-F238E27FC236}">
                <a16:creationId xmlns:a16="http://schemas.microsoft.com/office/drawing/2014/main" id="{A80C7553-2113-4D30-944B-42ECA428F7C6}"/>
              </a:ext>
            </a:extLst>
          </p:cNvPr>
          <p:cNvSpPr>
            <a:spLocks noGrp="1"/>
          </p:cNvSpPr>
          <p:nvPr/>
        </p:nvSpPr>
        <p:spPr>
          <a:xfrm>
            <a:off x="6210300" y="1657350"/>
            <a:ext cx="1619250" cy="1143000"/>
          </a:xfrm>
          <a:prstGeom prst="roundRect">
            <a:avLst>
              <a:gd name="adj" fmla="val 6667"/>
            </a:avLst>
          </a:prstGeom>
          <a:solidFill>
            <a:srgbClr val="FFFFFF"/>
          </a:solidFill>
          <a:ln w="19050">
            <a:solidFill>
              <a:srgbClr val="23845B"/>
            </a:solidFill>
            <a:prstDash val="solid"/>
          </a:ln>
        </p:spPr>
        <p:txBody>
          <a:bodyPr/>
          <a:lstStyle/>
          <a:p>
            <a:endParaRPr lang="en-ID"/>
          </a:p>
        </p:txBody>
      </p:sp>
      <p:sp>
        <p:nvSpPr>
          <p:cNvPr id="14" name="Rectangle 13">
            <a:extLst>
              <a:ext uri="{FF2B5EF4-FFF2-40B4-BE49-F238E27FC236}">
                <a16:creationId xmlns:a16="http://schemas.microsoft.com/office/drawing/2014/main" id="{0A5B2E48-E02A-43B4-8702-77120E6BF018}"/>
              </a:ext>
            </a:extLst>
          </p:cNvPr>
          <p:cNvSpPr>
            <a:spLocks noGrp="1"/>
          </p:cNvSpPr>
          <p:nvPr/>
        </p:nvSpPr>
        <p:spPr>
          <a:xfrm>
            <a:off x="6343650" y="1771650"/>
            <a:ext cx="342900" cy="247650"/>
          </a:xfrm>
          <a:prstGeom prst="rect">
            <a:avLst/>
          </a:prstGeom>
          <a:noFill/>
          <a:ln w="0">
            <a:noFill/>
          </a:ln>
        </p:spPr>
        <p:txBody>
          <a:bodyPr wrap="square" lIns="0" tIns="0" rIns="0" bIns="0" anchor="t">
            <a:normAutofit/>
          </a:bodyPr>
          <a:lstStyle/>
          <a:p>
            <a:pPr algn="l">
              <a:lnSpc>
                <a:spcPct val="100000"/>
              </a:lnSpc>
              <a:buNone/>
              <a:defRPr sz="1275" b="1">
                <a:solidFill>
                  <a:srgbClr val="23845B"/>
                </a:solidFill>
                <a:latin typeface="Aptos"/>
                <a:ea typeface="Aptos"/>
                <a:cs typeface="Aptos"/>
              </a:defRPr>
            </a:pPr>
            <a:r>
              <a:rPr sz="1275" b="1">
                <a:solidFill>
                  <a:srgbClr val="23845B"/>
                </a:solidFill>
                <a:latin typeface="Aptos"/>
                <a:ea typeface="Aptos"/>
                <a:cs typeface="Aptos"/>
              </a:rPr>
              <a:t>04</a:t>
            </a:r>
          </a:p>
        </p:txBody>
      </p:sp>
      <p:sp>
        <p:nvSpPr>
          <p:cNvPr id="15" name="Rectangle 14">
            <a:extLst>
              <a:ext uri="{FF2B5EF4-FFF2-40B4-BE49-F238E27FC236}">
                <a16:creationId xmlns:a16="http://schemas.microsoft.com/office/drawing/2014/main" id="{CA4CBBF1-A72B-45E2-AC3C-60BEAABA0CDC}"/>
              </a:ext>
            </a:extLst>
          </p:cNvPr>
          <p:cNvSpPr>
            <a:spLocks noGrp="1"/>
          </p:cNvSpPr>
          <p:nvPr/>
        </p:nvSpPr>
        <p:spPr>
          <a:xfrm>
            <a:off x="6343650" y="2038350"/>
            <a:ext cx="1352550" cy="552450"/>
          </a:xfrm>
          <a:prstGeom prst="rect">
            <a:avLst/>
          </a:prstGeom>
          <a:noFill/>
          <a:ln w="0">
            <a:noFill/>
          </a:ln>
        </p:spPr>
        <p:txBody>
          <a:bodyPr wrap="square" lIns="0" tIns="0" rIns="0" bIns="0" anchor="ctr">
            <a:normAutofit/>
          </a:bodyPr>
          <a:lstStyle/>
          <a:p>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Production</a:t>
            </a:r>
          </a:p>
          <a:p>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result</a:t>
            </a:r>
          </a:p>
        </p:txBody>
      </p:sp>
      <p:sp>
        <p:nvSpPr>
          <p:cNvPr id="16" name="Rectangle: Rounded Corners 15">
            <a:extLst>
              <a:ext uri="{FF2B5EF4-FFF2-40B4-BE49-F238E27FC236}">
                <a16:creationId xmlns:a16="http://schemas.microsoft.com/office/drawing/2014/main" id="{78891B25-7256-4993-843D-B06882FA1508}"/>
              </a:ext>
            </a:extLst>
          </p:cNvPr>
          <p:cNvSpPr>
            <a:spLocks noGrp="1"/>
          </p:cNvSpPr>
          <p:nvPr/>
        </p:nvSpPr>
        <p:spPr>
          <a:xfrm>
            <a:off x="8115300" y="1657350"/>
            <a:ext cx="1619250" cy="1143000"/>
          </a:xfrm>
          <a:prstGeom prst="roundRect">
            <a:avLst>
              <a:gd name="adj" fmla="val 6667"/>
            </a:avLst>
          </a:prstGeom>
          <a:solidFill>
            <a:srgbClr val="FFFFFF"/>
          </a:solidFill>
          <a:ln w="19050">
            <a:solidFill>
              <a:srgbClr val="12B7E6"/>
            </a:solidFill>
            <a:prstDash val="solid"/>
          </a:ln>
        </p:spPr>
        <p:txBody>
          <a:bodyPr/>
          <a:lstStyle/>
          <a:p>
            <a:endParaRPr lang="en-ID"/>
          </a:p>
        </p:txBody>
      </p:sp>
      <p:sp>
        <p:nvSpPr>
          <p:cNvPr id="17" name="Rectangle 16">
            <a:extLst>
              <a:ext uri="{FF2B5EF4-FFF2-40B4-BE49-F238E27FC236}">
                <a16:creationId xmlns:a16="http://schemas.microsoft.com/office/drawing/2014/main" id="{5EDFDA81-BAA0-4856-8672-E9BF2548100F}"/>
              </a:ext>
            </a:extLst>
          </p:cNvPr>
          <p:cNvSpPr>
            <a:spLocks noGrp="1"/>
          </p:cNvSpPr>
          <p:nvPr/>
        </p:nvSpPr>
        <p:spPr>
          <a:xfrm>
            <a:off x="8248650" y="1771650"/>
            <a:ext cx="342900" cy="247650"/>
          </a:xfrm>
          <a:prstGeom prst="rect">
            <a:avLst/>
          </a:prstGeom>
          <a:noFill/>
          <a:ln w="0">
            <a:noFill/>
          </a:ln>
        </p:spPr>
        <p:txBody>
          <a:bodyPr wrap="square" lIns="0" tIns="0" rIns="0" bIns="0" anchor="t">
            <a:normAutofit/>
          </a:bodyPr>
          <a:lstStyle/>
          <a:p>
            <a:pPr algn="l">
              <a:lnSpc>
                <a:spcPct val="100000"/>
              </a:lnSpc>
              <a:buNone/>
              <a:defRPr sz="1275" b="1">
                <a:solidFill>
                  <a:srgbClr val="12B7E6"/>
                </a:solidFill>
                <a:latin typeface="Aptos"/>
                <a:ea typeface="Aptos"/>
                <a:cs typeface="Aptos"/>
              </a:defRPr>
            </a:pPr>
            <a:r>
              <a:rPr sz="1275" b="1">
                <a:solidFill>
                  <a:srgbClr val="12B7E6"/>
                </a:solidFill>
                <a:latin typeface="Aptos"/>
                <a:ea typeface="Aptos"/>
                <a:cs typeface="Aptos"/>
              </a:rPr>
              <a:t>05</a:t>
            </a:r>
          </a:p>
        </p:txBody>
      </p:sp>
      <p:sp>
        <p:nvSpPr>
          <p:cNvPr id="18" name="Rectangle 17">
            <a:extLst>
              <a:ext uri="{FF2B5EF4-FFF2-40B4-BE49-F238E27FC236}">
                <a16:creationId xmlns:a16="http://schemas.microsoft.com/office/drawing/2014/main" id="{3722330F-E4D0-4909-A55A-2FEA193F9F8A}"/>
              </a:ext>
            </a:extLst>
          </p:cNvPr>
          <p:cNvSpPr>
            <a:spLocks noGrp="1"/>
          </p:cNvSpPr>
          <p:nvPr/>
        </p:nvSpPr>
        <p:spPr>
          <a:xfrm>
            <a:off x="8248650" y="2038350"/>
            <a:ext cx="1352550" cy="552450"/>
          </a:xfrm>
          <a:prstGeom prst="rect">
            <a:avLst/>
          </a:prstGeom>
          <a:noFill/>
          <a:ln w="0">
            <a:noFill/>
          </a:ln>
        </p:spPr>
        <p:txBody>
          <a:bodyPr wrap="square" lIns="0" tIns="0" rIns="0" bIns="0" anchor="ctr">
            <a:normAutofit/>
          </a:bodyPr>
          <a:lstStyle/>
          <a:p>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Poka-Yoke</a:t>
            </a:r>
          </a:p>
        </p:txBody>
      </p:sp>
      <p:sp>
        <p:nvSpPr>
          <p:cNvPr id="19" name="Rectangle: Rounded Corners 18">
            <a:extLst>
              <a:ext uri="{FF2B5EF4-FFF2-40B4-BE49-F238E27FC236}">
                <a16:creationId xmlns:a16="http://schemas.microsoft.com/office/drawing/2014/main" id="{16AA5D58-7667-4C5C-A6AB-87D6F04E0F42}"/>
              </a:ext>
            </a:extLst>
          </p:cNvPr>
          <p:cNvSpPr>
            <a:spLocks noGrp="1"/>
          </p:cNvSpPr>
          <p:nvPr/>
        </p:nvSpPr>
        <p:spPr>
          <a:xfrm>
            <a:off x="10020300" y="1657350"/>
            <a:ext cx="1619250" cy="1143000"/>
          </a:xfrm>
          <a:prstGeom prst="roundRect">
            <a:avLst>
              <a:gd name="adj" fmla="val 6667"/>
            </a:avLst>
          </a:prstGeom>
          <a:solidFill>
            <a:srgbClr val="FFFFFF"/>
          </a:solidFill>
          <a:ln w="19050">
            <a:solidFill>
              <a:srgbClr val="D94141"/>
            </a:solidFill>
            <a:prstDash val="solid"/>
          </a:ln>
        </p:spPr>
        <p:txBody>
          <a:bodyPr/>
          <a:lstStyle/>
          <a:p>
            <a:endParaRPr lang="en-ID"/>
          </a:p>
        </p:txBody>
      </p:sp>
      <p:sp>
        <p:nvSpPr>
          <p:cNvPr id="20" name="Rectangle 19">
            <a:extLst>
              <a:ext uri="{FF2B5EF4-FFF2-40B4-BE49-F238E27FC236}">
                <a16:creationId xmlns:a16="http://schemas.microsoft.com/office/drawing/2014/main" id="{EB3685CF-6657-4A68-81DC-EBCA0131A568}"/>
              </a:ext>
            </a:extLst>
          </p:cNvPr>
          <p:cNvSpPr>
            <a:spLocks noGrp="1"/>
          </p:cNvSpPr>
          <p:nvPr/>
        </p:nvSpPr>
        <p:spPr>
          <a:xfrm>
            <a:off x="10153650" y="1771650"/>
            <a:ext cx="342900" cy="247650"/>
          </a:xfrm>
          <a:prstGeom prst="rect">
            <a:avLst/>
          </a:prstGeom>
          <a:noFill/>
          <a:ln w="0">
            <a:noFill/>
          </a:ln>
        </p:spPr>
        <p:txBody>
          <a:bodyPr wrap="square" lIns="0" tIns="0" rIns="0" bIns="0" anchor="t">
            <a:normAutofit/>
          </a:bodyPr>
          <a:lstStyle/>
          <a:p>
            <a:pPr algn="l">
              <a:lnSpc>
                <a:spcPct val="100000"/>
              </a:lnSpc>
              <a:buNone/>
              <a:defRPr sz="1275" b="1">
                <a:solidFill>
                  <a:srgbClr val="D94141"/>
                </a:solidFill>
                <a:latin typeface="Aptos"/>
                <a:ea typeface="Aptos"/>
                <a:cs typeface="Aptos"/>
              </a:defRPr>
            </a:pPr>
            <a:r>
              <a:rPr sz="1275" b="1">
                <a:solidFill>
                  <a:srgbClr val="D94141"/>
                </a:solidFill>
                <a:latin typeface="Aptos"/>
                <a:ea typeface="Aptos"/>
                <a:cs typeface="Aptos"/>
              </a:rPr>
              <a:t>06</a:t>
            </a:r>
          </a:p>
        </p:txBody>
      </p:sp>
      <p:sp>
        <p:nvSpPr>
          <p:cNvPr id="21" name="Rectangle 20">
            <a:extLst>
              <a:ext uri="{FF2B5EF4-FFF2-40B4-BE49-F238E27FC236}">
                <a16:creationId xmlns:a16="http://schemas.microsoft.com/office/drawing/2014/main" id="{3DA176AD-9A93-4204-AF13-5AABF044AAA6}"/>
              </a:ext>
            </a:extLst>
          </p:cNvPr>
          <p:cNvSpPr>
            <a:spLocks noGrp="1"/>
          </p:cNvSpPr>
          <p:nvPr/>
        </p:nvSpPr>
        <p:spPr>
          <a:xfrm>
            <a:off x="10153650" y="2038350"/>
            <a:ext cx="1352550" cy="552450"/>
          </a:xfrm>
          <a:prstGeom prst="rect">
            <a:avLst/>
          </a:prstGeom>
          <a:noFill/>
          <a:ln w="0">
            <a:noFill/>
          </a:ln>
        </p:spPr>
        <p:txBody>
          <a:bodyPr wrap="square" lIns="0" tIns="0" rIns="0" bIns="0" anchor="ctr">
            <a:normAutofit/>
          </a:bodyPr>
          <a:lstStyle/>
          <a:p>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Delivery</a:t>
            </a:r>
          </a:p>
          <a:p>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and close</a:t>
            </a:r>
          </a:p>
        </p:txBody>
      </p:sp>
      <p:cxnSp>
        <p:nvCxnSpPr>
          <p:cNvPr id="60" name="Straight Arrow Connector 59"/>
          <p:cNvCxnSpPr>
            <a:stCxn id="4" idx="3"/>
            <a:endCxn id="7" idx="1"/>
          </p:cNvCxnSpPr>
          <p:nvPr/>
        </p:nvCxnSpPr>
        <p:spPr>
          <a:xfrm>
            <a:off x="2114550" y="2228850"/>
            <a:ext cx="285750" cy="0"/>
          </a:xfrm>
          <a:prstGeom prst="straightConnector1">
            <a:avLst/>
          </a:prstGeom>
          <a:ln w="19050">
            <a:solidFill>
              <a:srgbClr val="536575"/>
            </a:solidFill>
            <a:prstDash val="solid"/>
            <a:tailEnd type="triangle" w="sm" len="sm"/>
          </a:ln>
        </p:spPr>
      </p:cxnSp>
      <p:cxnSp>
        <p:nvCxnSpPr>
          <p:cNvPr id="61" name="Straight Arrow Connector 60"/>
          <p:cNvCxnSpPr>
            <a:stCxn id="7" idx="3"/>
            <a:endCxn id="10" idx="1"/>
          </p:cNvCxnSpPr>
          <p:nvPr/>
        </p:nvCxnSpPr>
        <p:spPr>
          <a:xfrm>
            <a:off x="4019550" y="2228850"/>
            <a:ext cx="285750" cy="0"/>
          </a:xfrm>
          <a:prstGeom prst="straightConnector1">
            <a:avLst/>
          </a:prstGeom>
          <a:ln w="19050">
            <a:solidFill>
              <a:srgbClr val="536575"/>
            </a:solidFill>
            <a:prstDash val="solid"/>
            <a:tailEnd type="triangle" w="sm" len="sm"/>
          </a:ln>
        </p:spPr>
      </p:cxnSp>
      <p:cxnSp>
        <p:nvCxnSpPr>
          <p:cNvPr id="62" name="Straight Arrow Connector 61"/>
          <p:cNvCxnSpPr>
            <a:stCxn id="10" idx="3"/>
            <a:endCxn id="13" idx="1"/>
          </p:cNvCxnSpPr>
          <p:nvPr/>
        </p:nvCxnSpPr>
        <p:spPr>
          <a:xfrm>
            <a:off x="5924550" y="2228850"/>
            <a:ext cx="285750" cy="0"/>
          </a:xfrm>
          <a:prstGeom prst="straightConnector1">
            <a:avLst/>
          </a:prstGeom>
          <a:ln w="19050">
            <a:solidFill>
              <a:srgbClr val="536575"/>
            </a:solidFill>
            <a:prstDash val="solid"/>
            <a:tailEnd type="triangle" w="sm" len="sm"/>
          </a:ln>
        </p:spPr>
      </p:cxnSp>
      <p:cxnSp>
        <p:nvCxnSpPr>
          <p:cNvPr id="63" name="Straight Arrow Connector 62"/>
          <p:cNvCxnSpPr>
            <a:stCxn id="13" idx="3"/>
            <a:endCxn id="16" idx="1"/>
          </p:cNvCxnSpPr>
          <p:nvPr/>
        </p:nvCxnSpPr>
        <p:spPr>
          <a:xfrm>
            <a:off x="7829550" y="2228850"/>
            <a:ext cx="285750" cy="0"/>
          </a:xfrm>
          <a:prstGeom prst="straightConnector1">
            <a:avLst/>
          </a:prstGeom>
          <a:ln w="19050">
            <a:solidFill>
              <a:srgbClr val="536575"/>
            </a:solidFill>
            <a:prstDash val="solid"/>
            <a:tailEnd type="triangle" w="sm" len="sm"/>
          </a:ln>
        </p:spPr>
      </p:cxnSp>
      <p:cxnSp>
        <p:nvCxnSpPr>
          <p:cNvPr id="64" name="Straight Arrow Connector 63"/>
          <p:cNvCxnSpPr>
            <a:stCxn id="16" idx="3"/>
            <a:endCxn id="19" idx="1"/>
          </p:cNvCxnSpPr>
          <p:nvPr/>
        </p:nvCxnSpPr>
        <p:spPr>
          <a:xfrm>
            <a:off x="9734550" y="2228850"/>
            <a:ext cx="285750" cy="0"/>
          </a:xfrm>
          <a:prstGeom prst="straightConnector1">
            <a:avLst/>
          </a:prstGeom>
          <a:ln w="19050">
            <a:solidFill>
              <a:srgbClr val="536575"/>
            </a:solidFill>
            <a:prstDash val="solid"/>
            <a:tailEnd type="triangle" w="sm" len="sm"/>
          </a:ln>
        </p:spPr>
      </p:cxnSp>
      <p:sp>
        <p:nvSpPr>
          <p:cNvPr id="27" name="Rectangle 26">
            <a:extLst>
              <a:ext uri="{FF2B5EF4-FFF2-40B4-BE49-F238E27FC236}">
                <a16:creationId xmlns:a16="http://schemas.microsoft.com/office/drawing/2014/main" id="{7F2A0D2C-12FB-4E04-8AE1-18F11AAA28F1}"/>
              </a:ext>
            </a:extLst>
          </p:cNvPr>
          <p:cNvSpPr>
            <a:spLocks noGrp="1"/>
          </p:cNvSpPr>
          <p:nvPr/>
        </p:nvSpPr>
        <p:spPr>
          <a:xfrm>
            <a:off x="495300" y="2971800"/>
            <a:ext cx="1619250" cy="952500"/>
          </a:xfrm>
          <a:prstGeom prst="rect">
            <a:avLst/>
          </a:prstGeom>
          <a:noFill/>
          <a:ln w="0">
            <a:noFill/>
          </a:ln>
        </p:spPr>
        <p:txBody>
          <a:bodyPr wrap="square" lIns="0" tIns="0" rIns="0" bIns="0" anchor="t">
            <a:normAutofit/>
          </a:bodyPr>
          <a:lstStyle/>
          <a:p>
            <a:pPr algn="ctr">
              <a:lnSpc>
                <a:spcPct val="105000"/>
              </a:lnSpc>
              <a:buNone/>
              <a:defRPr sz="1238" b="0">
                <a:solidFill>
                  <a:srgbClr val="536575"/>
                </a:solidFill>
                <a:latin typeface="Aptos"/>
                <a:ea typeface="Aptos"/>
                <a:cs typeface="Aptos"/>
              </a:defRPr>
            </a:pPr>
            <a:r>
              <a:rPr sz="1238" b="0">
                <a:solidFill>
                  <a:srgbClr val="536575"/>
                </a:solidFill>
                <a:latin typeface="Aptos"/>
                <a:ea typeface="Aptos"/>
                <a:cs typeface="Aptos"/>
              </a:rPr>
              <a:t>Supplier delivery is received and material stock increases.</a:t>
            </a:r>
          </a:p>
        </p:txBody>
      </p:sp>
      <p:sp>
        <p:nvSpPr>
          <p:cNvPr id="28" name="Rectangle 27">
            <a:extLst>
              <a:ext uri="{FF2B5EF4-FFF2-40B4-BE49-F238E27FC236}">
                <a16:creationId xmlns:a16="http://schemas.microsoft.com/office/drawing/2014/main" id="{5FCE9FA2-2FEE-4B81-8850-26E2F657A32E}"/>
              </a:ext>
            </a:extLst>
          </p:cNvPr>
          <p:cNvSpPr>
            <a:spLocks noGrp="1"/>
          </p:cNvSpPr>
          <p:nvPr/>
        </p:nvSpPr>
        <p:spPr>
          <a:xfrm>
            <a:off x="2400300" y="2971800"/>
            <a:ext cx="1619250" cy="952500"/>
          </a:xfrm>
          <a:prstGeom prst="rect">
            <a:avLst/>
          </a:prstGeom>
          <a:noFill/>
          <a:ln w="0">
            <a:noFill/>
          </a:ln>
        </p:spPr>
        <p:txBody>
          <a:bodyPr wrap="square" lIns="0" tIns="0" rIns="0" bIns="0" anchor="t">
            <a:normAutofit/>
          </a:bodyPr>
          <a:lstStyle/>
          <a:p>
            <a:pPr algn="ctr">
              <a:lnSpc>
                <a:spcPct val="105000"/>
              </a:lnSpc>
              <a:buNone/>
              <a:defRPr sz="1238" b="0">
                <a:solidFill>
                  <a:srgbClr val="536575"/>
                </a:solidFill>
                <a:latin typeface="Aptos"/>
                <a:ea typeface="Aptos"/>
                <a:cs typeface="Aptos"/>
              </a:defRPr>
            </a:pPr>
            <a:r>
              <a:rPr sz="1238" b="0">
                <a:solidFill>
                  <a:srgbClr val="536575"/>
                </a:solidFill>
                <a:latin typeface="Aptos"/>
                <a:ea typeface="Aptos"/>
                <a:cs typeface="Aptos"/>
              </a:rPr>
              <a:t>The PO or forecast is scheduled and labels are created.</a:t>
            </a:r>
          </a:p>
        </p:txBody>
      </p:sp>
      <p:sp>
        <p:nvSpPr>
          <p:cNvPr id="29" name="Rectangle 28">
            <a:extLst>
              <a:ext uri="{FF2B5EF4-FFF2-40B4-BE49-F238E27FC236}">
                <a16:creationId xmlns:a16="http://schemas.microsoft.com/office/drawing/2014/main" id="{B98AC8CC-53F0-408F-834A-BB47F3C8C0DF}"/>
              </a:ext>
            </a:extLst>
          </p:cNvPr>
          <p:cNvSpPr>
            <a:spLocks noGrp="1"/>
          </p:cNvSpPr>
          <p:nvPr/>
        </p:nvSpPr>
        <p:spPr>
          <a:xfrm>
            <a:off x="4305300" y="2971800"/>
            <a:ext cx="1619250" cy="952500"/>
          </a:xfrm>
          <a:prstGeom prst="rect">
            <a:avLst/>
          </a:prstGeom>
          <a:noFill/>
          <a:ln w="0">
            <a:noFill/>
          </a:ln>
        </p:spPr>
        <p:txBody>
          <a:bodyPr wrap="square" lIns="0" tIns="0" rIns="0" bIns="0" anchor="t">
            <a:normAutofit/>
          </a:bodyPr>
          <a:lstStyle/>
          <a:p>
            <a:pPr algn="ctr">
              <a:lnSpc>
                <a:spcPct val="105000"/>
              </a:lnSpc>
              <a:buNone/>
              <a:defRPr sz="1238" b="0">
                <a:solidFill>
                  <a:srgbClr val="536575"/>
                </a:solidFill>
                <a:latin typeface="Aptos"/>
                <a:ea typeface="Aptos"/>
                <a:cs typeface="Aptos"/>
              </a:defRPr>
            </a:pPr>
            <a:r>
              <a:rPr sz="1238" b="0">
                <a:solidFill>
                  <a:srgbClr val="536575"/>
                </a:solidFill>
                <a:latin typeface="Aptos"/>
                <a:ea typeface="Aptos"/>
                <a:cs typeface="Aptos"/>
              </a:rPr>
              <a:t>BOM material is issued and material stock decreases.</a:t>
            </a:r>
          </a:p>
        </p:txBody>
      </p:sp>
      <p:sp>
        <p:nvSpPr>
          <p:cNvPr id="30" name="Rectangle 29">
            <a:extLst>
              <a:ext uri="{FF2B5EF4-FFF2-40B4-BE49-F238E27FC236}">
                <a16:creationId xmlns:a16="http://schemas.microsoft.com/office/drawing/2014/main" id="{8742AFF5-C390-4E1F-9596-46B44773E0AD}"/>
              </a:ext>
            </a:extLst>
          </p:cNvPr>
          <p:cNvSpPr>
            <a:spLocks noGrp="1"/>
          </p:cNvSpPr>
          <p:nvPr/>
        </p:nvSpPr>
        <p:spPr>
          <a:xfrm>
            <a:off x="6210300" y="2971800"/>
            <a:ext cx="1619250" cy="952500"/>
          </a:xfrm>
          <a:prstGeom prst="rect">
            <a:avLst/>
          </a:prstGeom>
          <a:noFill/>
          <a:ln w="0">
            <a:noFill/>
          </a:ln>
        </p:spPr>
        <p:txBody>
          <a:bodyPr wrap="square" lIns="0" tIns="0" rIns="0" bIns="0" anchor="t">
            <a:normAutofit/>
          </a:bodyPr>
          <a:lstStyle/>
          <a:p>
            <a:pPr algn="ctr">
              <a:lnSpc>
                <a:spcPct val="105000"/>
              </a:lnSpc>
              <a:buNone/>
              <a:defRPr sz="1238" b="0">
                <a:solidFill>
                  <a:srgbClr val="536575"/>
                </a:solidFill>
                <a:latin typeface="Aptos"/>
                <a:ea typeface="Aptos"/>
                <a:cs typeface="Aptos"/>
              </a:defRPr>
            </a:pPr>
            <a:r>
              <a:rPr sz="1238" b="0">
                <a:solidFill>
                  <a:srgbClr val="536575"/>
                </a:solidFill>
                <a:latin typeface="Aptos"/>
                <a:ea typeface="Aptos"/>
                <a:cs typeface="Aptos"/>
              </a:rPr>
              <a:t>Finished goods are recorded after shopping or box assembly.</a:t>
            </a:r>
          </a:p>
        </p:txBody>
      </p:sp>
      <p:sp>
        <p:nvSpPr>
          <p:cNvPr id="31" name="Rectangle 30">
            <a:extLst>
              <a:ext uri="{FF2B5EF4-FFF2-40B4-BE49-F238E27FC236}">
                <a16:creationId xmlns:a16="http://schemas.microsoft.com/office/drawing/2014/main" id="{0749A515-8ECC-4C15-AF2D-E5A308949EF0}"/>
              </a:ext>
            </a:extLst>
          </p:cNvPr>
          <p:cNvSpPr>
            <a:spLocks noGrp="1"/>
          </p:cNvSpPr>
          <p:nvPr/>
        </p:nvSpPr>
        <p:spPr>
          <a:xfrm>
            <a:off x="8115300" y="2971800"/>
            <a:ext cx="1619250" cy="952500"/>
          </a:xfrm>
          <a:prstGeom prst="rect">
            <a:avLst/>
          </a:prstGeom>
          <a:noFill/>
          <a:ln w="0">
            <a:noFill/>
          </a:ln>
        </p:spPr>
        <p:txBody>
          <a:bodyPr wrap="square" lIns="0" tIns="0" rIns="0" bIns="0" anchor="t">
            <a:normAutofit/>
          </a:bodyPr>
          <a:lstStyle/>
          <a:p>
            <a:pPr algn="ctr">
              <a:lnSpc>
                <a:spcPct val="105000"/>
              </a:lnSpc>
              <a:buNone/>
              <a:defRPr sz="1238" b="0">
                <a:solidFill>
                  <a:srgbClr val="536575"/>
                </a:solidFill>
                <a:latin typeface="Aptos"/>
                <a:ea typeface="Aptos"/>
                <a:cs typeface="Aptos"/>
              </a:defRPr>
            </a:pPr>
            <a:r>
              <a:rPr sz="1238" b="0">
                <a:solidFill>
                  <a:srgbClr val="536575"/>
                </a:solidFill>
                <a:latin typeface="Aptos"/>
                <a:ea typeface="Aptos"/>
                <a:cs typeface="Aptos"/>
              </a:rPr>
              <a:t>Each label is checked before delivery.</a:t>
            </a:r>
          </a:p>
        </p:txBody>
      </p:sp>
      <p:sp>
        <p:nvSpPr>
          <p:cNvPr id="32" name="Rectangle 31">
            <a:extLst>
              <a:ext uri="{FF2B5EF4-FFF2-40B4-BE49-F238E27FC236}">
                <a16:creationId xmlns:a16="http://schemas.microsoft.com/office/drawing/2014/main" id="{783C0359-EA3E-436C-AB6F-ED5E13A8F2D2}"/>
              </a:ext>
            </a:extLst>
          </p:cNvPr>
          <p:cNvSpPr>
            <a:spLocks noGrp="1"/>
          </p:cNvSpPr>
          <p:nvPr/>
        </p:nvSpPr>
        <p:spPr>
          <a:xfrm>
            <a:off x="10020300" y="2971800"/>
            <a:ext cx="1619250" cy="952500"/>
          </a:xfrm>
          <a:prstGeom prst="rect">
            <a:avLst/>
          </a:prstGeom>
          <a:noFill/>
          <a:ln w="0">
            <a:noFill/>
          </a:ln>
        </p:spPr>
        <p:txBody>
          <a:bodyPr wrap="square" lIns="0" tIns="0" rIns="0" bIns="0" anchor="t">
            <a:normAutofit/>
          </a:bodyPr>
          <a:lstStyle/>
          <a:p>
            <a:pPr algn="ctr">
              <a:lnSpc>
                <a:spcPct val="105000"/>
              </a:lnSpc>
              <a:buNone/>
              <a:defRPr sz="1238" b="0">
                <a:solidFill>
                  <a:srgbClr val="536575"/>
                </a:solidFill>
                <a:latin typeface="Aptos"/>
                <a:ea typeface="Aptos"/>
                <a:cs typeface="Aptos"/>
              </a:defRPr>
            </a:pPr>
            <a:r>
              <a:rPr sz="1238" b="0">
                <a:solidFill>
                  <a:srgbClr val="536575"/>
                </a:solidFill>
                <a:latin typeface="Aptos"/>
                <a:ea typeface="Aptos"/>
                <a:cs typeface="Aptos"/>
              </a:rPr>
              <a:t>FG stock decreases. The release closes after every PO is delivered.</a:t>
            </a:r>
          </a:p>
        </p:txBody>
      </p:sp>
      <p:sp>
        <p:nvSpPr>
          <p:cNvPr id="33" name="Rectangle: Rounded Corners 32">
            <a:extLst>
              <a:ext uri="{FF2B5EF4-FFF2-40B4-BE49-F238E27FC236}">
                <a16:creationId xmlns:a16="http://schemas.microsoft.com/office/drawing/2014/main" id="{95014B03-A835-42DE-BE10-B2AB2B50A9AD}"/>
              </a:ext>
            </a:extLst>
          </p:cNvPr>
          <p:cNvSpPr>
            <a:spLocks noGrp="1"/>
          </p:cNvSpPr>
          <p:nvPr/>
        </p:nvSpPr>
        <p:spPr>
          <a:xfrm>
            <a:off x="876300" y="4686300"/>
            <a:ext cx="10439400" cy="1123950"/>
          </a:xfrm>
          <a:prstGeom prst="roundRect">
            <a:avLst>
              <a:gd name="adj" fmla="val 6780"/>
            </a:avLst>
          </a:prstGeom>
          <a:solidFill>
            <a:srgbClr val="FFFFFF"/>
          </a:solidFill>
          <a:ln w="9525">
            <a:solidFill>
              <a:srgbClr val="D5DEE6"/>
            </a:solidFill>
            <a:prstDash val="solid"/>
          </a:ln>
        </p:spPr>
        <p:txBody>
          <a:bodyPr/>
          <a:lstStyle/>
          <a:p>
            <a:endParaRPr lang="en-ID"/>
          </a:p>
        </p:txBody>
      </p:sp>
      <p:sp>
        <p:nvSpPr>
          <p:cNvPr id="34" name="Rectangle 33">
            <a:extLst>
              <a:ext uri="{FF2B5EF4-FFF2-40B4-BE49-F238E27FC236}">
                <a16:creationId xmlns:a16="http://schemas.microsoft.com/office/drawing/2014/main" id="{14522505-BEEF-489A-8BF9-756273F63746}"/>
              </a:ext>
            </a:extLst>
          </p:cNvPr>
          <p:cNvSpPr>
            <a:spLocks noGrp="1"/>
          </p:cNvSpPr>
          <p:nvPr/>
        </p:nvSpPr>
        <p:spPr>
          <a:xfrm>
            <a:off x="1143000" y="4895850"/>
            <a:ext cx="3143250" cy="323850"/>
          </a:xfrm>
          <a:prstGeom prst="rect">
            <a:avLst/>
          </a:prstGeom>
          <a:noFill/>
          <a:ln w="0">
            <a:noFill/>
          </a:ln>
        </p:spPr>
        <p:txBody>
          <a:bodyPr wrap="square" lIns="0" tIns="0" rIns="0" bIns="0" anchor="t">
            <a:normAutofit/>
          </a:bodyPr>
          <a:lstStyle/>
          <a:p>
            <a:pPr algn="l">
              <a:lnSpc>
                <a:spcPct val="100000"/>
              </a:lnSpc>
              <a:buNone/>
              <a:defRPr sz="1800" b="1">
                <a:solidFill>
                  <a:srgbClr val="071A2B"/>
                </a:solidFill>
                <a:latin typeface="Aptos"/>
                <a:ea typeface="Aptos"/>
                <a:cs typeface="Aptos"/>
              </a:defRPr>
            </a:pPr>
            <a:r>
              <a:rPr sz="1800" b="1" dirty="0">
                <a:solidFill>
                  <a:srgbClr val="071A2B"/>
                </a:solidFill>
                <a:latin typeface="Aptos"/>
                <a:ea typeface="Aptos"/>
                <a:cs typeface="Aptos"/>
              </a:rPr>
              <a:t>Where the data lives today</a:t>
            </a:r>
          </a:p>
        </p:txBody>
      </p:sp>
      <p:sp>
        <p:nvSpPr>
          <p:cNvPr id="35" name="Rectangle 34">
            <a:extLst>
              <a:ext uri="{FF2B5EF4-FFF2-40B4-BE49-F238E27FC236}">
                <a16:creationId xmlns:a16="http://schemas.microsoft.com/office/drawing/2014/main" id="{4E5AF0F7-7B50-49CD-ACD7-5D165DA8331E}"/>
              </a:ext>
            </a:extLst>
          </p:cNvPr>
          <p:cNvSpPr>
            <a:spLocks noGrp="1"/>
          </p:cNvSpPr>
          <p:nvPr/>
        </p:nvSpPr>
        <p:spPr>
          <a:xfrm>
            <a:off x="1143000" y="5200650"/>
            <a:ext cx="9620250" cy="457200"/>
          </a:xfrm>
          <a:prstGeom prst="rect">
            <a:avLst/>
          </a:prstGeom>
          <a:noFill/>
          <a:ln w="0">
            <a:noFill/>
          </a:ln>
        </p:spPr>
        <p:txBody>
          <a:bodyPr wrap="square" lIns="0" tIns="0" rIns="0" bIns="0" anchor="ctr">
            <a:normAutofit fontScale="96931"/>
          </a:bodyPr>
          <a:lstStyle/>
          <a:p>
            <a:pPr>
              <a:lnSpc>
                <a:spcPct val="100000"/>
              </a:lnSpc>
              <a:buNone/>
              <a:defRPr sz="1575" b="0">
                <a:solidFill>
                  <a:srgbClr val="536575"/>
                </a:solidFill>
                <a:latin typeface="Aptos"/>
                <a:ea typeface="Aptos"/>
                <a:cs typeface="Aptos"/>
              </a:defRPr>
            </a:pPr>
            <a:r>
              <a:rPr sz="1400" b="0" dirty="0">
                <a:solidFill>
                  <a:srgbClr val="536575"/>
                </a:solidFill>
                <a:latin typeface="Aptos"/>
                <a:ea typeface="Aptos"/>
                <a:cs typeface="Aptos"/>
              </a:rPr>
              <a:t>ANSEI holds the operational stock trail in </a:t>
            </a:r>
            <a:r>
              <a:rPr sz="1400" b="0" dirty="0" err="1">
                <a:solidFill>
                  <a:srgbClr val="536575"/>
                </a:solidFill>
                <a:latin typeface="Aptos"/>
                <a:ea typeface="Aptos"/>
                <a:cs typeface="Aptos"/>
              </a:rPr>
              <a:t>InventoryLedger</a:t>
            </a:r>
            <a:r>
              <a:rPr sz="1400" b="0" dirty="0">
                <a:solidFill>
                  <a:srgbClr val="536575"/>
                </a:solidFill>
                <a:latin typeface="Aptos"/>
                <a:ea typeface="Aptos"/>
                <a:cs typeface="Aptos"/>
              </a:rPr>
              <a:t>. Excel remains part of the reporting handoff because SAP has no matching transactions.</a:t>
            </a:r>
          </a:p>
        </p:txBody>
      </p:sp>
      <p:sp>
        <p:nvSpPr>
          <p:cNvPr id="36" name="Straight Connector 35">
            <a:extLst>
              <a:ext uri="{FF2B5EF4-FFF2-40B4-BE49-F238E27FC236}">
                <a16:creationId xmlns:a16="http://schemas.microsoft.com/office/drawing/2014/main" id="{8D54E574-E7E0-4E0A-AD97-7F93B435F957}"/>
              </a:ext>
            </a:extLst>
          </p:cNvPr>
          <p:cNvSpPr>
            <a:spLocks noGrp="1"/>
          </p:cNvSpPr>
          <p:nvPr/>
        </p:nvSpPr>
        <p:spPr>
          <a:xfrm>
            <a:off x="609600" y="6486525"/>
            <a:ext cx="10972800" cy="0"/>
          </a:xfrm>
          <a:prstGeom prst="line">
            <a:avLst/>
          </a:prstGeom>
          <a:noFill/>
          <a:ln w="9525">
            <a:solidFill>
              <a:srgbClr val="D5DEE6"/>
            </a:solidFill>
            <a:prstDash val="solid"/>
          </a:ln>
        </p:spPr>
        <p:txBody>
          <a:bodyPr/>
          <a:lstStyle/>
          <a:p>
            <a:endParaRPr lang="en-ID"/>
          </a:p>
        </p:txBody>
      </p:sp>
      <p:sp>
        <p:nvSpPr>
          <p:cNvPr id="37" name="Rectangle 36">
            <a:extLst>
              <a:ext uri="{FF2B5EF4-FFF2-40B4-BE49-F238E27FC236}">
                <a16:creationId xmlns:a16="http://schemas.microsoft.com/office/drawing/2014/main" id="{8AE6C6C3-6630-46E1-8127-45E011AAC6CA}"/>
              </a:ext>
            </a:extLst>
          </p:cNvPr>
          <p:cNvSpPr>
            <a:spLocks noGrp="1"/>
          </p:cNvSpPr>
          <p:nvPr/>
        </p:nvSpPr>
        <p:spPr>
          <a:xfrm>
            <a:off x="609600" y="6553200"/>
            <a:ext cx="4953000" cy="190500"/>
          </a:xfrm>
          <a:prstGeom prst="rect">
            <a:avLst/>
          </a:prstGeom>
          <a:noFill/>
          <a:ln w="0">
            <a:noFill/>
          </a:ln>
        </p:spPr>
        <p:txBody>
          <a:bodyPr wrap="square" lIns="0" tIns="0" rIns="0" bIns="0" anchor="t">
            <a:normAutofit/>
          </a:bodyPr>
          <a:lstStyle/>
          <a:p>
            <a:pPr algn="l">
              <a:lnSpc>
                <a:spcPct val="100000"/>
              </a:lnSpc>
              <a:buNone/>
              <a:defRPr sz="975" b="0">
                <a:solidFill>
                  <a:srgbClr val="536575"/>
                </a:solidFill>
                <a:latin typeface="Aptos"/>
                <a:ea typeface="Aptos"/>
                <a:cs typeface="Aptos"/>
              </a:defRPr>
            </a:pPr>
            <a:r>
              <a:rPr sz="975" b="0">
                <a:solidFill>
                  <a:srgbClr val="536575"/>
                </a:solidFill>
                <a:latin typeface="Aptos"/>
                <a:ea typeface="Aptos"/>
                <a:cs typeface="Aptos"/>
              </a:rPr>
              <a:t>ANSEI / NOVA Shopfloor MES / SAP</a:t>
            </a:r>
          </a:p>
        </p:txBody>
      </p:sp>
      <p:sp>
        <p:nvSpPr>
          <p:cNvPr id="38" name="Rectangle 37">
            <a:extLst>
              <a:ext uri="{FF2B5EF4-FFF2-40B4-BE49-F238E27FC236}">
                <a16:creationId xmlns:a16="http://schemas.microsoft.com/office/drawing/2014/main" id="{E8674916-2898-41F5-9C65-20F1A3396111}"/>
              </a:ext>
            </a:extLst>
          </p:cNvPr>
          <p:cNvSpPr>
            <a:spLocks noGrp="1"/>
          </p:cNvSpPr>
          <p:nvPr/>
        </p:nvSpPr>
        <p:spPr>
          <a:xfrm>
            <a:off x="11049000" y="6534150"/>
            <a:ext cx="533400" cy="209550"/>
          </a:xfrm>
          <a:prstGeom prst="rect">
            <a:avLst/>
          </a:prstGeom>
          <a:noFill/>
          <a:ln w="0">
            <a:noFill/>
          </a:ln>
        </p:spPr>
        <p:txBody>
          <a:bodyPr wrap="square" lIns="0" tIns="0" rIns="0" bIns="0" anchor="t">
            <a:normAutofit/>
          </a:bodyPr>
          <a:lstStyle/>
          <a:p>
            <a:pPr algn="r">
              <a:lnSpc>
                <a:spcPct val="100000"/>
              </a:lnSpc>
              <a:buNone/>
              <a:defRPr sz="1050" b="1">
                <a:solidFill>
                  <a:srgbClr val="0B5CAD"/>
                </a:solidFill>
                <a:latin typeface="Aptos"/>
                <a:ea typeface="Aptos"/>
                <a:cs typeface="Aptos"/>
              </a:defRPr>
            </a:pPr>
            <a:r>
              <a:rPr sz="1050" b="1">
                <a:solidFill>
                  <a:srgbClr val="0B5CAD"/>
                </a:solidFill>
                <a:latin typeface="Aptos"/>
                <a:ea typeface="Aptos"/>
                <a:cs typeface="Aptos"/>
              </a:rPr>
              <a:t>03</a:t>
            </a:r>
          </a:p>
        </p:txBody>
      </p:sp>
    </p:spTree>
    <p:extLst>
      <p:ext uri="{BB962C8B-B14F-4D97-AF65-F5344CB8AC3E}">
        <p14:creationId xmlns:p14="http://schemas.microsoft.com/office/powerpoint/2010/main" val="224783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7FF1363C-2C67-4359-A7E2-37DAA90627F8}"/>
              </a:ext>
            </a:extLst>
          </p:cNvPr>
          <p:cNvSpPr>
            <a:spLocks noGrp="1"/>
          </p:cNvSpPr>
          <p:nvPr/>
        </p:nvSpPr>
        <p:spPr>
          <a:xfrm>
            <a:off x="0" y="0"/>
            <a:ext cx="12192000" cy="95250"/>
          </a:xfrm>
          <a:prstGeom prst="rect">
            <a:avLst/>
          </a:prstGeom>
          <a:solidFill>
            <a:srgbClr val="12B7E6"/>
          </a:solidFill>
          <a:ln w="0">
            <a:noFill/>
          </a:ln>
        </p:spPr>
        <p:txBody>
          <a:bodyPr/>
          <a:lstStyle/>
          <a:p>
            <a:endParaRPr lang="en-ID"/>
          </a:p>
        </p:txBody>
      </p:sp>
      <p:sp>
        <p:nvSpPr>
          <p:cNvPr id="2" name="Rectangle 1">
            <a:extLst>
              <a:ext uri="{FF2B5EF4-FFF2-40B4-BE49-F238E27FC236}">
                <a16:creationId xmlns:a16="http://schemas.microsoft.com/office/drawing/2014/main" id="{4DF8426B-3C3F-4148-8CB0-5CD19E0CB170}"/>
              </a:ext>
            </a:extLst>
          </p:cNvPr>
          <p:cNvSpPr>
            <a:spLocks noGrp="1"/>
          </p:cNvSpPr>
          <p:nvPr/>
        </p:nvSpPr>
        <p:spPr>
          <a:xfrm>
            <a:off x="609600" y="361950"/>
            <a:ext cx="10668000" cy="514350"/>
          </a:xfrm>
          <a:prstGeom prst="rect">
            <a:avLst/>
          </a:prstGeom>
          <a:noFill/>
          <a:ln w="0">
            <a:noFill/>
          </a:ln>
        </p:spPr>
        <p:txBody>
          <a:bodyPr wrap="square" lIns="0" tIns="0" rIns="0" bIns="0" anchor="t">
            <a:normAutofit/>
          </a:bodyPr>
          <a:lstStyle/>
          <a:p>
            <a:pPr algn="l">
              <a:lnSpc>
                <a:spcPct val="100000"/>
              </a:lnSpc>
              <a:buNone/>
              <a:defRPr sz="3150" b="1">
                <a:solidFill>
                  <a:srgbClr val="071A2B"/>
                </a:solidFill>
                <a:latin typeface="Aptos"/>
                <a:ea typeface="Aptos"/>
                <a:cs typeface="Aptos"/>
              </a:defRPr>
            </a:pPr>
            <a:r>
              <a:rPr sz="3150" b="1">
                <a:solidFill>
                  <a:srgbClr val="071A2B"/>
                </a:solidFill>
                <a:latin typeface="Aptos"/>
                <a:ea typeface="Aptos"/>
                <a:cs typeface="Aptos"/>
              </a:rPr>
              <a:t>Integrated production flow</a:t>
            </a:r>
          </a:p>
        </p:txBody>
      </p:sp>
      <p:sp>
        <p:nvSpPr>
          <p:cNvPr id="3" name="Rectangle 2">
            <a:extLst>
              <a:ext uri="{FF2B5EF4-FFF2-40B4-BE49-F238E27FC236}">
                <a16:creationId xmlns:a16="http://schemas.microsoft.com/office/drawing/2014/main" id="{7B981474-6C11-46C0-9654-FD1C39B04751}"/>
              </a:ext>
            </a:extLst>
          </p:cNvPr>
          <p:cNvSpPr>
            <a:spLocks noGrp="1"/>
          </p:cNvSpPr>
          <p:nvPr/>
        </p:nvSpPr>
        <p:spPr>
          <a:xfrm>
            <a:off x="628650" y="914400"/>
            <a:ext cx="10287000" cy="323850"/>
          </a:xfrm>
          <a:prstGeom prst="rect">
            <a:avLst/>
          </a:prstGeom>
          <a:noFill/>
          <a:ln w="0">
            <a:noFill/>
          </a:ln>
        </p:spPr>
        <p:txBody>
          <a:bodyPr wrap="square" lIns="0" tIns="0" rIns="0" bIns="0" anchor="t">
            <a:normAutofit/>
          </a:bodyPr>
          <a:lstStyle/>
          <a:p>
            <a:pPr algn="l">
              <a:lnSpc>
                <a:spcPct val="100000"/>
              </a:lnSpc>
              <a:buNone/>
              <a:defRPr sz="1500" b="0">
                <a:solidFill>
                  <a:srgbClr val="536575"/>
                </a:solidFill>
                <a:latin typeface="Aptos"/>
                <a:ea typeface="Aptos"/>
                <a:cs typeface="Aptos"/>
              </a:defRPr>
            </a:pPr>
            <a:r>
              <a:rPr sz="1500" b="0">
                <a:solidFill>
                  <a:srgbClr val="536575"/>
                </a:solidFill>
                <a:latin typeface="Aptos"/>
                <a:ea typeface="Aptos"/>
                <a:cs typeface="Aptos"/>
              </a:rPr>
              <a:t>NOVA runs the shopfloor steps and sends each completed business event to SAP</a:t>
            </a:r>
          </a:p>
        </p:txBody>
      </p:sp>
      <p:sp>
        <p:nvSpPr>
          <p:cNvPr id="4" name="Rectangle 3">
            <a:extLst>
              <a:ext uri="{FF2B5EF4-FFF2-40B4-BE49-F238E27FC236}">
                <a16:creationId xmlns:a16="http://schemas.microsoft.com/office/drawing/2014/main" id="{7F629C34-E058-4A80-AC9B-4C63335734BE}"/>
              </a:ext>
            </a:extLst>
          </p:cNvPr>
          <p:cNvSpPr>
            <a:spLocks noGrp="1"/>
          </p:cNvSpPr>
          <p:nvPr/>
        </p:nvSpPr>
        <p:spPr>
          <a:xfrm>
            <a:off x="1200150" y="1390650"/>
            <a:ext cx="9791700" cy="304800"/>
          </a:xfrm>
          <a:prstGeom prst="rect">
            <a:avLst/>
          </a:prstGeom>
          <a:noFill/>
          <a:ln w="0">
            <a:noFill/>
          </a:ln>
        </p:spPr>
        <p:txBody>
          <a:bodyPr wrap="square" lIns="0" tIns="0" rIns="0" bIns="0" anchor="t">
            <a:normAutofit/>
          </a:bodyPr>
          <a:lstStyle/>
          <a:p>
            <a:pPr algn="ctr">
              <a:lnSpc>
                <a:spcPct val="100000"/>
              </a:lnSpc>
              <a:buNone/>
              <a:defRPr sz="1500" b="1">
                <a:solidFill>
                  <a:srgbClr val="0B5CAD"/>
                </a:solidFill>
                <a:latin typeface="Aptos"/>
                <a:ea typeface="Aptos"/>
                <a:cs typeface="Aptos"/>
              </a:defRPr>
            </a:pPr>
            <a:r>
              <a:rPr sz="1500" b="1">
                <a:solidFill>
                  <a:srgbClr val="0B5CAD"/>
                </a:solidFill>
                <a:latin typeface="Aptos"/>
                <a:ea typeface="Aptos"/>
                <a:cs typeface="Aptos"/>
              </a:rPr>
              <a:t>SAP provides the production order, material master, BOM, and current document status</a:t>
            </a:r>
          </a:p>
        </p:txBody>
      </p:sp>
      <p:sp>
        <p:nvSpPr>
          <p:cNvPr id="5" name="Straight Connector 4">
            <a:extLst>
              <a:ext uri="{FF2B5EF4-FFF2-40B4-BE49-F238E27FC236}">
                <a16:creationId xmlns:a16="http://schemas.microsoft.com/office/drawing/2014/main" id="{FC9E3789-809D-4DB9-8FB1-4D324CEAEEA9}"/>
              </a:ext>
            </a:extLst>
          </p:cNvPr>
          <p:cNvSpPr>
            <a:spLocks noGrp="1"/>
          </p:cNvSpPr>
          <p:nvPr/>
        </p:nvSpPr>
        <p:spPr>
          <a:xfrm>
            <a:off x="1352550" y="1847850"/>
            <a:ext cx="9486900" cy="0"/>
          </a:xfrm>
          <a:prstGeom prst="line">
            <a:avLst/>
          </a:prstGeom>
          <a:noFill/>
          <a:ln w="28575">
            <a:solidFill>
              <a:srgbClr val="0B5CAD"/>
            </a:solidFill>
            <a:prstDash val="solid"/>
          </a:ln>
        </p:spPr>
        <p:txBody>
          <a:bodyPr/>
          <a:lstStyle/>
          <a:p>
            <a:endParaRPr lang="en-ID"/>
          </a:p>
        </p:txBody>
      </p:sp>
      <p:sp>
        <p:nvSpPr>
          <p:cNvPr id="6" name="Rectangle: Rounded Corners 5">
            <a:extLst>
              <a:ext uri="{FF2B5EF4-FFF2-40B4-BE49-F238E27FC236}">
                <a16:creationId xmlns:a16="http://schemas.microsoft.com/office/drawing/2014/main" id="{C0D450F3-97F4-4CD4-B69B-054E225C71C2}"/>
              </a:ext>
            </a:extLst>
          </p:cNvPr>
          <p:cNvSpPr>
            <a:spLocks noGrp="1"/>
          </p:cNvSpPr>
          <p:nvPr/>
        </p:nvSpPr>
        <p:spPr>
          <a:xfrm>
            <a:off x="514350" y="2152650"/>
            <a:ext cx="1905000" cy="3200398"/>
          </a:xfrm>
          <a:prstGeom prst="roundRect">
            <a:avLst>
              <a:gd name="adj" fmla="val 4000"/>
            </a:avLst>
          </a:prstGeom>
          <a:solidFill>
            <a:srgbClr val="FFFFFF"/>
          </a:solidFill>
          <a:ln w="19050">
            <a:solidFill>
              <a:srgbClr val="0B5CAD"/>
            </a:solidFill>
            <a:prstDash val="solid"/>
          </a:ln>
        </p:spPr>
        <p:txBody>
          <a:bodyPr/>
          <a:lstStyle/>
          <a:p>
            <a:endParaRPr lang="en-ID"/>
          </a:p>
        </p:txBody>
      </p:sp>
      <p:sp>
        <p:nvSpPr>
          <p:cNvPr id="7" name="Rectangle 6">
            <a:extLst>
              <a:ext uri="{FF2B5EF4-FFF2-40B4-BE49-F238E27FC236}">
                <a16:creationId xmlns:a16="http://schemas.microsoft.com/office/drawing/2014/main" id="{7D5EB6DF-B74A-4737-B36A-00E6E21E1D55}"/>
              </a:ext>
            </a:extLst>
          </p:cNvPr>
          <p:cNvSpPr>
            <a:spLocks noGrp="1"/>
          </p:cNvSpPr>
          <p:nvPr/>
        </p:nvSpPr>
        <p:spPr>
          <a:xfrm>
            <a:off x="666750" y="2286000"/>
            <a:ext cx="400050" cy="247650"/>
          </a:xfrm>
          <a:prstGeom prst="rect">
            <a:avLst/>
          </a:prstGeom>
          <a:noFill/>
          <a:ln w="0">
            <a:noFill/>
          </a:ln>
        </p:spPr>
        <p:txBody>
          <a:bodyPr wrap="square" lIns="0" tIns="0" rIns="0" bIns="0" anchor="t">
            <a:normAutofit/>
          </a:bodyPr>
          <a:lstStyle/>
          <a:p>
            <a:pPr algn="l">
              <a:lnSpc>
                <a:spcPct val="100000"/>
              </a:lnSpc>
              <a:buNone/>
              <a:defRPr sz="1275" b="1">
                <a:solidFill>
                  <a:srgbClr val="0B5CAD"/>
                </a:solidFill>
                <a:latin typeface="Aptos"/>
                <a:ea typeface="Aptos"/>
                <a:cs typeface="Aptos"/>
              </a:defRPr>
            </a:pPr>
            <a:r>
              <a:rPr sz="1275" b="1">
                <a:solidFill>
                  <a:srgbClr val="0B5CAD"/>
                </a:solidFill>
                <a:latin typeface="Aptos"/>
                <a:ea typeface="Aptos"/>
                <a:cs typeface="Aptos"/>
              </a:rPr>
              <a:t>01</a:t>
            </a:r>
          </a:p>
        </p:txBody>
      </p:sp>
      <p:sp>
        <p:nvSpPr>
          <p:cNvPr id="8" name="Rectangle 7">
            <a:extLst>
              <a:ext uri="{FF2B5EF4-FFF2-40B4-BE49-F238E27FC236}">
                <a16:creationId xmlns:a16="http://schemas.microsoft.com/office/drawing/2014/main" id="{53A08087-3167-443C-9B97-712CD5F8A466}"/>
              </a:ext>
            </a:extLst>
          </p:cNvPr>
          <p:cNvSpPr>
            <a:spLocks noGrp="1"/>
          </p:cNvSpPr>
          <p:nvPr/>
        </p:nvSpPr>
        <p:spPr>
          <a:xfrm>
            <a:off x="666750" y="2647950"/>
            <a:ext cx="1600200" cy="514350"/>
          </a:xfrm>
          <a:prstGeom prst="rect">
            <a:avLst/>
          </a:prstGeom>
          <a:noFill/>
          <a:ln w="0">
            <a:noFill/>
          </a:ln>
        </p:spPr>
        <p:txBody>
          <a:bodyPr wrap="square" lIns="0" tIns="0" rIns="0" bIns="0" anchor="ctr">
            <a:normAutofit/>
          </a:bodyPr>
          <a:lstStyle/>
          <a:p>
            <a:pPr algn="l">
              <a:lnSpc>
                <a:spcPct val="100000"/>
              </a:lnSpc>
              <a:buNone/>
              <a:defRPr sz="1575" b="1">
                <a:solidFill>
                  <a:srgbClr val="071A2B"/>
                </a:solidFill>
                <a:latin typeface="Aptos"/>
                <a:ea typeface="Aptos"/>
                <a:cs typeface="Aptos"/>
              </a:defRPr>
            </a:pPr>
            <a:r>
              <a:rPr sz="1575" b="1">
                <a:solidFill>
                  <a:srgbClr val="071A2B"/>
                </a:solidFill>
                <a:latin typeface="Aptos"/>
                <a:ea typeface="Aptos"/>
                <a:cs typeface="Aptos"/>
              </a:rPr>
              <a:t>Material receipt</a:t>
            </a:r>
          </a:p>
        </p:txBody>
      </p:sp>
      <p:sp>
        <p:nvSpPr>
          <p:cNvPr id="9" name="Rectangle 8">
            <a:extLst>
              <a:ext uri="{FF2B5EF4-FFF2-40B4-BE49-F238E27FC236}">
                <a16:creationId xmlns:a16="http://schemas.microsoft.com/office/drawing/2014/main" id="{FDCEED1C-6C8B-40FB-81E9-971EA29285C2}"/>
              </a:ext>
            </a:extLst>
          </p:cNvPr>
          <p:cNvSpPr>
            <a:spLocks noGrp="1"/>
          </p:cNvSpPr>
          <p:nvPr/>
        </p:nvSpPr>
        <p:spPr>
          <a:xfrm>
            <a:off x="666750" y="3257550"/>
            <a:ext cx="666750" cy="228600"/>
          </a:xfrm>
          <a:prstGeom prst="rect">
            <a:avLst/>
          </a:prstGeom>
          <a:noFill/>
          <a:ln w="0">
            <a:noFill/>
          </a:ln>
        </p:spPr>
        <p:txBody>
          <a:bodyPr wrap="square" lIns="0" tIns="0" rIns="0" bIns="0" anchor="t">
            <a:normAutofit/>
          </a:bodyPr>
          <a:lstStyle/>
          <a:p>
            <a:pPr algn="l">
              <a:lnSpc>
                <a:spcPct val="100000"/>
              </a:lnSpc>
              <a:buNone/>
              <a:defRPr sz="1125" b="1">
                <a:solidFill>
                  <a:srgbClr val="536575"/>
                </a:solidFill>
                <a:latin typeface="Aptos"/>
                <a:ea typeface="Aptos"/>
                <a:cs typeface="Aptos"/>
              </a:defRPr>
            </a:pPr>
            <a:r>
              <a:rPr sz="1125" b="1">
                <a:solidFill>
                  <a:srgbClr val="536575"/>
                </a:solidFill>
                <a:latin typeface="Aptos"/>
                <a:ea typeface="Aptos"/>
                <a:cs typeface="Aptos"/>
              </a:rPr>
              <a:t>NOVA</a:t>
            </a:r>
          </a:p>
        </p:txBody>
      </p:sp>
      <p:sp>
        <p:nvSpPr>
          <p:cNvPr id="10" name="Rectangle 9">
            <a:extLst>
              <a:ext uri="{FF2B5EF4-FFF2-40B4-BE49-F238E27FC236}">
                <a16:creationId xmlns:a16="http://schemas.microsoft.com/office/drawing/2014/main" id="{41CF6BA7-5F0A-48CF-9F03-0D2BD027771E}"/>
              </a:ext>
            </a:extLst>
          </p:cNvPr>
          <p:cNvSpPr>
            <a:spLocks noGrp="1"/>
          </p:cNvSpPr>
          <p:nvPr/>
        </p:nvSpPr>
        <p:spPr>
          <a:xfrm>
            <a:off x="666750" y="3524250"/>
            <a:ext cx="1600200" cy="628650"/>
          </a:xfrm>
          <a:prstGeom prst="rect">
            <a:avLst/>
          </a:prstGeom>
          <a:noFill/>
          <a:ln w="0">
            <a:noFill/>
          </a:ln>
        </p:spPr>
        <p:txBody>
          <a:bodyPr wrap="square" lIns="0" tIns="0" rIns="0" bIns="0" anchor="t">
            <a:normAutofit/>
          </a:bodyPr>
          <a:lstStyle/>
          <a:p>
            <a:pPr algn="l">
              <a:lnSpc>
                <a:spcPct val="104000"/>
              </a:lnSpc>
              <a:buNone/>
              <a:defRPr sz="1200" b="0">
                <a:solidFill>
                  <a:srgbClr val="142433"/>
                </a:solidFill>
                <a:latin typeface="Aptos"/>
                <a:ea typeface="Aptos"/>
                <a:cs typeface="Aptos"/>
              </a:defRPr>
            </a:pPr>
            <a:r>
              <a:rPr sz="1200" b="0" dirty="0">
                <a:solidFill>
                  <a:srgbClr val="142433"/>
                </a:solidFill>
                <a:latin typeface="Aptos"/>
                <a:ea typeface="Aptos"/>
                <a:cs typeface="Aptos"/>
              </a:rPr>
              <a:t>NOVA checks and approves the incoming delivery.</a:t>
            </a:r>
          </a:p>
        </p:txBody>
      </p:sp>
      <p:sp>
        <p:nvSpPr>
          <p:cNvPr id="11" name="Straight Connector 10">
            <a:extLst>
              <a:ext uri="{FF2B5EF4-FFF2-40B4-BE49-F238E27FC236}">
                <a16:creationId xmlns:a16="http://schemas.microsoft.com/office/drawing/2014/main" id="{E0D0C457-EF62-4212-B1C4-B1CA01F81F47}"/>
              </a:ext>
            </a:extLst>
          </p:cNvPr>
          <p:cNvSpPr>
            <a:spLocks noGrp="1"/>
          </p:cNvSpPr>
          <p:nvPr/>
        </p:nvSpPr>
        <p:spPr>
          <a:xfrm>
            <a:off x="666750" y="4248150"/>
            <a:ext cx="1600200" cy="0"/>
          </a:xfrm>
          <a:prstGeom prst="line">
            <a:avLst/>
          </a:prstGeom>
          <a:noFill/>
          <a:ln w="9525">
            <a:solidFill>
              <a:srgbClr val="D5DEE6"/>
            </a:solidFill>
            <a:prstDash val="solid"/>
          </a:ln>
        </p:spPr>
        <p:txBody>
          <a:bodyPr/>
          <a:lstStyle/>
          <a:p>
            <a:endParaRPr lang="en-ID"/>
          </a:p>
        </p:txBody>
      </p:sp>
      <p:sp>
        <p:nvSpPr>
          <p:cNvPr id="12" name="Rectangle 11">
            <a:extLst>
              <a:ext uri="{FF2B5EF4-FFF2-40B4-BE49-F238E27FC236}">
                <a16:creationId xmlns:a16="http://schemas.microsoft.com/office/drawing/2014/main" id="{A0406868-E1D2-42FD-87F4-487F27AB7709}"/>
              </a:ext>
            </a:extLst>
          </p:cNvPr>
          <p:cNvSpPr>
            <a:spLocks noGrp="1"/>
          </p:cNvSpPr>
          <p:nvPr/>
        </p:nvSpPr>
        <p:spPr>
          <a:xfrm>
            <a:off x="666750" y="4362450"/>
            <a:ext cx="666750" cy="228600"/>
          </a:xfrm>
          <a:prstGeom prst="rect">
            <a:avLst/>
          </a:prstGeom>
          <a:noFill/>
          <a:ln w="0">
            <a:noFill/>
          </a:ln>
        </p:spPr>
        <p:txBody>
          <a:bodyPr wrap="square" lIns="0" tIns="0" rIns="0" bIns="0" anchor="t">
            <a:normAutofit/>
          </a:bodyPr>
          <a:lstStyle/>
          <a:p>
            <a:pPr algn="l">
              <a:lnSpc>
                <a:spcPct val="100000"/>
              </a:lnSpc>
              <a:buNone/>
              <a:defRPr sz="1125" b="1">
                <a:solidFill>
                  <a:srgbClr val="0B5CAD"/>
                </a:solidFill>
                <a:latin typeface="Aptos"/>
                <a:ea typeface="Aptos"/>
                <a:cs typeface="Aptos"/>
              </a:defRPr>
            </a:pPr>
            <a:r>
              <a:rPr sz="1125" b="1">
                <a:solidFill>
                  <a:srgbClr val="0B5CAD"/>
                </a:solidFill>
                <a:latin typeface="Aptos"/>
                <a:ea typeface="Aptos"/>
                <a:cs typeface="Aptos"/>
              </a:rPr>
              <a:t>SAP</a:t>
            </a:r>
          </a:p>
        </p:txBody>
      </p:sp>
      <p:sp>
        <p:nvSpPr>
          <p:cNvPr id="13" name="Rectangle 12">
            <a:extLst>
              <a:ext uri="{FF2B5EF4-FFF2-40B4-BE49-F238E27FC236}">
                <a16:creationId xmlns:a16="http://schemas.microsoft.com/office/drawing/2014/main" id="{4D991FD9-49B5-44D1-94FD-81903E5D98F3}"/>
              </a:ext>
            </a:extLst>
          </p:cNvPr>
          <p:cNvSpPr>
            <a:spLocks noGrp="1"/>
          </p:cNvSpPr>
          <p:nvPr/>
        </p:nvSpPr>
        <p:spPr>
          <a:xfrm>
            <a:off x="666750" y="4629150"/>
            <a:ext cx="1600200" cy="685800"/>
          </a:xfrm>
          <a:prstGeom prst="rect">
            <a:avLst/>
          </a:prstGeom>
          <a:noFill/>
          <a:ln w="0">
            <a:noFill/>
          </a:ln>
        </p:spPr>
        <p:txBody>
          <a:bodyPr wrap="square" lIns="0" tIns="0" rIns="0" bIns="0" anchor="t">
            <a:normAutofit/>
          </a:bodyPr>
          <a:lstStyle/>
          <a:p>
            <a:pPr algn="l">
              <a:lnSpc>
                <a:spcPct val="104000"/>
              </a:lnSpc>
              <a:buNone/>
              <a:defRPr sz="1200" b="0">
                <a:solidFill>
                  <a:srgbClr val="142433"/>
                </a:solidFill>
                <a:latin typeface="Aptos"/>
                <a:ea typeface="Aptos"/>
                <a:cs typeface="Aptos"/>
              </a:defRPr>
            </a:pPr>
            <a:r>
              <a:rPr sz="1200" b="0" dirty="0">
                <a:solidFill>
                  <a:srgbClr val="142433"/>
                </a:solidFill>
                <a:latin typeface="Aptos"/>
                <a:ea typeface="Aptos"/>
                <a:cs typeface="Aptos"/>
              </a:rPr>
              <a:t>SAP posts the material </a:t>
            </a:r>
            <a:r>
              <a:rPr lang="en-US" sz="1200" b="0" dirty="0">
                <a:solidFill>
                  <a:srgbClr val="142433"/>
                </a:solidFill>
                <a:latin typeface="Aptos"/>
                <a:ea typeface="Aptos"/>
                <a:cs typeface="Aptos"/>
              </a:rPr>
              <a:t>G</a:t>
            </a:r>
            <a:r>
              <a:rPr sz="1200" b="0" dirty="0">
                <a:solidFill>
                  <a:srgbClr val="142433"/>
                </a:solidFill>
                <a:latin typeface="Aptos"/>
                <a:ea typeface="Aptos"/>
                <a:cs typeface="Aptos"/>
              </a:rPr>
              <a:t>oods </a:t>
            </a:r>
            <a:r>
              <a:rPr lang="en-US" sz="1200" dirty="0">
                <a:solidFill>
                  <a:srgbClr val="142433"/>
                </a:solidFill>
                <a:latin typeface="Aptos"/>
                <a:ea typeface="Aptos"/>
                <a:cs typeface="Aptos"/>
              </a:rPr>
              <a:t>R</a:t>
            </a:r>
            <a:r>
              <a:rPr sz="1200" b="0" dirty="0">
                <a:solidFill>
                  <a:srgbClr val="142433"/>
                </a:solidFill>
                <a:latin typeface="Aptos"/>
                <a:ea typeface="Aptos"/>
                <a:cs typeface="Aptos"/>
              </a:rPr>
              <a:t>eceipt.</a:t>
            </a:r>
          </a:p>
        </p:txBody>
      </p:sp>
      <p:sp>
        <p:nvSpPr>
          <p:cNvPr id="14" name="Rectangle: Rounded Corners 13">
            <a:extLst>
              <a:ext uri="{FF2B5EF4-FFF2-40B4-BE49-F238E27FC236}">
                <a16:creationId xmlns:a16="http://schemas.microsoft.com/office/drawing/2014/main" id="{04093227-A73F-48A2-ADC4-540C3AF2D06D}"/>
              </a:ext>
            </a:extLst>
          </p:cNvPr>
          <p:cNvSpPr>
            <a:spLocks noGrp="1"/>
          </p:cNvSpPr>
          <p:nvPr/>
        </p:nvSpPr>
        <p:spPr>
          <a:xfrm>
            <a:off x="2838450" y="2152649"/>
            <a:ext cx="1905000" cy="3200399"/>
          </a:xfrm>
          <a:prstGeom prst="roundRect">
            <a:avLst>
              <a:gd name="adj" fmla="val 4000"/>
            </a:avLst>
          </a:prstGeom>
          <a:solidFill>
            <a:srgbClr val="FFFFFF"/>
          </a:solidFill>
          <a:ln w="19050">
            <a:solidFill>
              <a:srgbClr val="D98A0B"/>
            </a:solidFill>
            <a:prstDash val="solid"/>
          </a:ln>
        </p:spPr>
        <p:txBody>
          <a:bodyPr/>
          <a:lstStyle/>
          <a:p>
            <a:endParaRPr lang="en-ID"/>
          </a:p>
        </p:txBody>
      </p:sp>
      <p:sp>
        <p:nvSpPr>
          <p:cNvPr id="15" name="Rectangle 14">
            <a:extLst>
              <a:ext uri="{FF2B5EF4-FFF2-40B4-BE49-F238E27FC236}">
                <a16:creationId xmlns:a16="http://schemas.microsoft.com/office/drawing/2014/main" id="{5490EE2E-4D01-4DC0-A896-D1E5432EF5CF}"/>
              </a:ext>
            </a:extLst>
          </p:cNvPr>
          <p:cNvSpPr>
            <a:spLocks noGrp="1"/>
          </p:cNvSpPr>
          <p:nvPr/>
        </p:nvSpPr>
        <p:spPr>
          <a:xfrm>
            <a:off x="2990850" y="2286000"/>
            <a:ext cx="400050" cy="247650"/>
          </a:xfrm>
          <a:prstGeom prst="rect">
            <a:avLst/>
          </a:prstGeom>
          <a:noFill/>
          <a:ln w="0">
            <a:noFill/>
          </a:ln>
        </p:spPr>
        <p:txBody>
          <a:bodyPr wrap="square" lIns="0" tIns="0" rIns="0" bIns="0" anchor="t">
            <a:normAutofit/>
          </a:bodyPr>
          <a:lstStyle/>
          <a:p>
            <a:pPr algn="l">
              <a:lnSpc>
                <a:spcPct val="100000"/>
              </a:lnSpc>
              <a:buNone/>
              <a:defRPr sz="1275" b="1">
                <a:solidFill>
                  <a:srgbClr val="D98A0B"/>
                </a:solidFill>
                <a:latin typeface="Aptos"/>
                <a:ea typeface="Aptos"/>
                <a:cs typeface="Aptos"/>
              </a:defRPr>
            </a:pPr>
            <a:r>
              <a:rPr sz="1275" b="1">
                <a:solidFill>
                  <a:srgbClr val="D98A0B"/>
                </a:solidFill>
                <a:latin typeface="Aptos"/>
                <a:ea typeface="Aptos"/>
                <a:cs typeface="Aptos"/>
              </a:rPr>
              <a:t>02</a:t>
            </a:r>
          </a:p>
        </p:txBody>
      </p:sp>
      <p:sp>
        <p:nvSpPr>
          <p:cNvPr id="16" name="Rectangle 15">
            <a:extLst>
              <a:ext uri="{FF2B5EF4-FFF2-40B4-BE49-F238E27FC236}">
                <a16:creationId xmlns:a16="http://schemas.microsoft.com/office/drawing/2014/main" id="{2D3DF381-6BC4-47D9-841F-F622F3BEE396}"/>
              </a:ext>
            </a:extLst>
          </p:cNvPr>
          <p:cNvSpPr>
            <a:spLocks noGrp="1"/>
          </p:cNvSpPr>
          <p:nvPr/>
        </p:nvSpPr>
        <p:spPr>
          <a:xfrm>
            <a:off x="2990850" y="2647950"/>
            <a:ext cx="1600200" cy="514350"/>
          </a:xfrm>
          <a:prstGeom prst="rect">
            <a:avLst/>
          </a:prstGeom>
          <a:noFill/>
          <a:ln w="0">
            <a:noFill/>
          </a:ln>
        </p:spPr>
        <p:txBody>
          <a:bodyPr wrap="square" lIns="0" tIns="0" rIns="0" bIns="0" anchor="ctr">
            <a:normAutofit/>
          </a:bodyPr>
          <a:lstStyle/>
          <a:p>
            <a:pPr algn="l">
              <a:lnSpc>
                <a:spcPct val="100000"/>
              </a:lnSpc>
              <a:buNone/>
              <a:defRPr sz="1575" b="1">
                <a:solidFill>
                  <a:srgbClr val="071A2B"/>
                </a:solidFill>
                <a:latin typeface="Aptos"/>
                <a:ea typeface="Aptos"/>
                <a:cs typeface="Aptos"/>
              </a:defRPr>
            </a:pPr>
            <a:r>
              <a:rPr sz="1575" b="1">
                <a:solidFill>
                  <a:srgbClr val="071A2B"/>
                </a:solidFill>
                <a:latin typeface="Aptos"/>
                <a:ea typeface="Aptos"/>
                <a:cs typeface="Aptos"/>
              </a:rPr>
              <a:t>Release and picking</a:t>
            </a:r>
          </a:p>
        </p:txBody>
      </p:sp>
      <p:sp>
        <p:nvSpPr>
          <p:cNvPr id="17" name="Rectangle 16">
            <a:extLst>
              <a:ext uri="{FF2B5EF4-FFF2-40B4-BE49-F238E27FC236}">
                <a16:creationId xmlns:a16="http://schemas.microsoft.com/office/drawing/2014/main" id="{F75FE13E-87A4-4C95-B98E-E2AB54765B78}"/>
              </a:ext>
            </a:extLst>
          </p:cNvPr>
          <p:cNvSpPr>
            <a:spLocks noGrp="1"/>
          </p:cNvSpPr>
          <p:nvPr/>
        </p:nvSpPr>
        <p:spPr>
          <a:xfrm>
            <a:off x="2990850" y="3257550"/>
            <a:ext cx="666750" cy="228600"/>
          </a:xfrm>
          <a:prstGeom prst="rect">
            <a:avLst/>
          </a:prstGeom>
          <a:noFill/>
          <a:ln w="0">
            <a:noFill/>
          </a:ln>
        </p:spPr>
        <p:txBody>
          <a:bodyPr wrap="square" lIns="0" tIns="0" rIns="0" bIns="0" anchor="t">
            <a:normAutofit/>
          </a:bodyPr>
          <a:lstStyle/>
          <a:p>
            <a:pPr algn="l">
              <a:lnSpc>
                <a:spcPct val="100000"/>
              </a:lnSpc>
              <a:buNone/>
              <a:defRPr sz="1125" b="1">
                <a:solidFill>
                  <a:srgbClr val="536575"/>
                </a:solidFill>
                <a:latin typeface="Aptos"/>
                <a:ea typeface="Aptos"/>
                <a:cs typeface="Aptos"/>
              </a:defRPr>
            </a:pPr>
            <a:r>
              <a:rPr sz="1125" b="1">
                <a:solidFill>
                  <a:srgbClr val="536575"/>
                </a:solidFill>
                <a:latin typeface="Aptos"/>
                <a:ea typeface="Aptos"/>
                <a:cs typeface="Aptos"/>
              </a:rPr>
              <a:t>NOVA</a:t>
            </a:r>
          </a:p>
        </p:txBody>
      </p:sp>
      <p:sp>
        <p:nvSpPr>
          <p:cNvPr id="18" name="Rectangle 17">
            <a:extLst>
              <a:ext uri="{FF2B5EF4-FFF2-40B4-BE49-F238E27FC236}">
                <a16:creationId xmlns:a16="http://schemas.microsoft.com/office/drawing/2014/main" id="{8770098D-D226-4089-8166-9E5102EA0760}"/>
              </a:ext>
            </a:extLst>
          </p:cNvPr>
          <p:cNvSpPr>
            <a:spLocks noGrp="1"/>
          </p:cNvSpPr>
          <p:nvPr/>
        </p:nvSpPr>
        <p:spPr>
          <a:xfrm>
            <a:off x="2990850" y="3524250"/>
            <a:ext cx="1600200" cy="628650"/>
          </a:xfrm>
          <a:prstGeom prst="rect">
            <a:avLst/>
          </a:prstGeom>
          <a:noFill/>
          <a:ln w="0">
            <a:noFill/>
          </a:ln>
        </p:spPr>
        <p:txBody>
          <a:bodyPr wrap="square" lIns="0" tIns="0" rIns="0" bIns="0" anchor="t">
            <a:normAutofit/>
          </a:bodyPr>
          <a:lstStyle/>
          <a:p>
            <a:pPr algn="l">
              <a:lnSpc>
                <a:spcPct val="104000"/>
              </a:lnSpc>
              <a:buNone/>
              <a:defRPr sz="1200" b="0">
                <a:solidFill>
                  <a:srgbClr val="142433"/>
                </a:solidFill>
                <a:latin typeface="Aptos"/>
                <a:ea typeface="Aptos"/>
                <a:cs typeface="Aptos"/>
              </a:defRPr>
            </a:pPr>
            <a:r>
              <a:rPr sz="1200" b="0" dirty="0">
                <a:solidFill>
                  <a:srgbClr val="142433"/>
                </a:solidFill>
                <a:latin typeface="Aptos"/>
                <a:ea typeface="Aptos"/>
                <a:cs typeface="Aptos"/>
              </a:rPr>
              <a:t>NOVA releases the PO and confirms BOM picking.</a:t>
            </a:r>
          </a:p>
        </p:txBody>
      </p:sp>
      <p:sp>
        <p:nvSpPr>
          <p:cNvPr id="19" name="Straight Connector 18">
            <a:extLst>
              <a:ext uri="{FF2B5EF4-FFF2-40B4-BE49-F238E27FC236}">
                <a16:creationId xmlns:a16="http://schemas.microsoft.com/office/drawing/2014/main" id="{55A39EA7-A5B7-4B40-AFCF-735C73A221C0}"/>
              </a:ext>
            </a:extLst>
          </p:cNvPr>
          <p:cNvSpPr>
            <a:spLocks noGrp="1"/>
          </p:cNvSpPr>
          <p:nvPr/>
        </p:nvSpPr>
        <p:spPr>
          <a:xfrm>
            <a:off x="2990850" y="4248150"/>
            <a:ext cx="1600200" cy="0"/>
          </a:xfrm>
          <a:prstGeom prst="line">
            <a:avLst/>
          </a:prstGeom>
          <a:noFill/>
          <a:ln w="9525">
            <a:solidFill>
              <a:srgbClr val="D5DEE6"/>
            </a:solidFill>
            <a:prstDash val="solid"/>
          </a:ln>
        </p:spPr>
        <p:txBody>
          <a:bodyPr/>
          <a:lstStyle/>
          <a:p>
            <a:endParaRPr lang="en-ID"/>
          </a:p>
        </p:txBody>
      </p:sp>
      <p:sp>
        <p:nvSpPr>
          <p:cNvPr id="20" name="Rectangle 19">
            <a:extLst>
              <a:ext uri="{FF2B5EF4-FFF2-40B4-BE49-F238E27FC236}">
                <a16:creationId xmlns:a16="http://schemas.microsoft.com/office/drawing/2014/main" id="{47E2A9B6-C9FE-4D2C-A4BE-A85BE40118D4}"/>
              </a:ext>
            </a:extLst>
          </p:cNvPr>
          <p:cNvSpPr>
            <a:spLocks noGrp="1"/>
          </p:cNvSpPr>
          <p:nvPr/>
        </p:nvSpPr>
        <p:spPr>
          <a:xfrm>
            <a:off x="2990850" y="4362450"/>
            <a:ext cx="666750" cy="228600"/>
          </a:xfrm>
          <a:prstGeom prst="rect">
            <a:avLst/>
          </a:prstGeom>
          <a:noFill/>
          <a:ln w="0">
            <a:noFill/>
          </a:ln>
        </p:spPr>
        <p:txBody>
          <a:bodyPr wrap="square" lIns="0" tIns="0" rIns="0" bIns="0" anchor="t">
            <a:normAutofit/>
          </a:bodyPr>
          <a:lstStyle/>
          <a:p>
            <a:pPr algn="l">
              <a:lnSpc>
                <a:spcPct val="100000"/>
              </a:lnSpc>
              <a:buNone/>
              <a:defRPr sz="1125" b="1">
                <a:solidFill>
                  <a:srgbClr val="D98A0B"/>
                </a:solidFill>
                <a:latin typeface="Aptos"/>
                <a:ea typeface="Aptos"/>
                <a:cs typeface="Aptos"/>
              </a:defRPr>
            </a:pPr>
            <a:r>
              <a:rPr sz="1125" b="1">
                <a:solidFill>
                  <a:srgbClr val="D98A0B"/>
                </a:solidFill>
                <a:latin typeface="Aptos"/>
                <a:ea typeface="Aptos"/>
                <a:cs typeface="Aptos"/>
              </a:rPr>
              <a:t>SAP</a:t>
            </a:r>
          </a:p>
        </p:txBody>
      </p:sp>
      <p:sp>
        <p:nvSpPr>
          <p:cNvPr id="21" name="Rectangle 20">
            <a:extLst>
              <a:ext uri="{FF2B5EF4-FFF2-40B4-BE49-F238E27FC236}">
                <a16:creationId xmlns:a16="http://schemas.microsoft.com/office/drawing/2014/main" id="{C56A5B51-6C07-45CB-9C3B-864C19D3ADF8}"/>
              </a:ext>
            </a:extLst>
          </p:cNvPr>
          <p:cNvSpPr>
            <a:spLocks noGrp="1"/>
          </p:cNvSpPr>
          <p:nvPr/>
        </p:nvSpPr>
        <p:spPr>
          <a:xfrm>
            <a:off x="2990850" y="4629150"/>
            <a:ext cx="1600200" cy="685800"/>
          </a:xfrm>
          <a:prstGeom prst="rect">
            <a:avLst/>
          </a:prstGeom>
          <a:noFill/>
          <a:ln w="0">
            <a:noFill/>
          </a:ln>
        </p:spPr>
        <p:txBody>
          <a:bodyPr wrap="square" lIns="0" tIns="0" rIns="0" bIns="0" anchor="t">
            <a:normAutofit/>
          </a:bodyPr>
          <a:lstStyle/>
          <a:p>
            <a:pPr algn="l">
              <a:lnSpc>
                <a:spcPct val="104000"/>
              </a:lnSpc>
              <a:buNone/>
              <a:defRPr sz="1200" b="0">
                <a:solidFill>
                  <a:srgbClr val="142433"/>
                </a:solidFill>
                <a:latin typeface="Aptos"/>
                <a:ea typeface="Aptos"/>
                <a:cs typeface="Aptos"/>
              </a:defRPr>
            </a:pPr>
            <a:r>
              <a:rPr sz="1200" b="0" dirty="0">
                <a:solidFill>
                  <a:srgbClr val="142433"/>
                </a:solidFill>
                <a:latin typeface="Aptos"/>
                <a:ea typeface="Aptos"/>
                <a:cs typeface="Aptos"/>
              </a:rPr>
              <a:t>SAP posts material consumption to the production order.</a:t>
            </a:r>
          </a:p>
        </p:txBody>
      </p:sp>
      <p:sp>
        <p:nvSpPr>
          <p:cNvPr id="22" name="Rectangle: Rounded Corners 21">
            <a:extLst>
              <a:ext uri="{FF2B5EF4-FFF2-40B4-BE49-F238E27FC236}">
                <a16:creationId xmlns:a16="http://schemas.microsoft.com/office/drawing/2014/main" id="{70C7A009-448F-4FFE-8705-8E1DDD14C534}"/>
              </a:ext>
            </a:extLst>
          </p:cNvPr>
          <p:cNvSpPr>
            <a:spLocks noGrp="1"/>
          </p:cNvSpPr>
          <p:nvPr/>
        </p:nvSpPr>
        <p:spPr>
          <a:xfrm>
            <a:off x="5162550" y="2152649"/>
            <a:ext cx="1905000" cy="3200395"/>
          </a:xfrm>
          <a:prstGeom prst="roundRect">
            <a:avLst>
              <a:gd name="adj" fmla="val 4000"/>
            </a:avLst>
          </a:prstGeom>
          <a:solidFill>
            <a:srgbClr val="FFFFFF"/>
          </a:solidFill>
          <a:ln w="19050">
            <a:solidFill>
              <a:srgbClr val="23845B"/>
            </a:solidFill>
            <a:prstDash val="solid"/>
          </a:ln>
        </p:spPr>
        <p:txBody>
          <a:bodyPr/>
          <a:lstStyle/>
          <a:p>
            <a:endParaRPr lang="en-ID"/>
          </a:p>
        </p:txBody>
      </p:sp>
      <p:sp>
        <p:nvSpPr>
          <p:cNvPr id="23" name="Rectangle 22">
            <a:extLst>
              <a:ext uri="{FF2B5EF4-FFF2-40B4-BE49-F238E27FC236}">
                <a16:creationId xmlns:a16="http://schemas.microsoft.com/office/drawing/2014/main" id="{2BDE32E0-B4F2-4858-A6DF-0F1E704785F7}"/>
              </a:ext>
            </a:extLst>
          </p:cNvPr>
          <p:cNvSpPr>
            <a:spLocks noGrp="1"/>
          </p:cNvSpPr>
          <p:nvPr/>
        </p:nvSpPr>
        <p:spPr>
          <a:xfrm>
            <a:off x="5314950" y="2286000"/>
            <a:ext cx="400050" cy="247650"/>
          </a:xfrm>
          <a:prstGeom prst="rect">
            <a:avLst/>
          </a:prstGeom>
          <a:noFill/>
          <a:ln w="0">
            <a:noFill/>
          </a:ln>
        </p:spPr>
        <p:txBody>
          <a:bodyPr wrap="square" lIns="0" tIns="0" rIns="0" bIns="0" anchor="t">
            <a:normAutofit/>
          </a:bodyPr>
          <a:lstStyle/>
          <a:p>
            <a:pPr algn="l">
              <a:lnSpc>
                <a:spcPct val="100000"/>
              </a:lnSpc>
              <a:buNone/>
              <a:defRPr sz="1275" b="1">
                <a:solidFill>
                  <a:srgbClr val="23845B"/>
                </a:solidFill>
                <a:latin typeface="Aptos"/>
                <a:ea typeface="Aptos"/>
                <a:cs typeface="Aptos"/>
              </a:defRPr>
            </a:pPr>
            <a:r>
              <a:rPr sz="1275" b="1">
                <a:solidFill>
                  <a:srgbClr val="23845B"/>
                </a:solidFill>
                <a:latin typeface="Aptos"/>
                <a:ea typeface="Aptos"/>
                <a:cs typeface="Aptos"/>
              </a:rPr>
              <a:t>03</a:t>
            </a:r>
          </a:p>
        </p:txBody>
      </p:sp>
      <p:sp>
        <p:nvSpPr>
          <p:cNvPr id="24" name="Rectangle 23">
            <a:extLst>
              <a:ext uri="{FF2B5EF4-FFF2-40B4-BE49-F238E27FC236}">
                <a16:creationId xmlns:a16="http://schemas.microsoft.com/office/drawing/2014/main" id="{E8A6DC2A-DE19-4BBA-8CFE-4DF7EBCFE2B2}"/>
              </a:ext>
            </a:extLst>
          </p:cNvPr>
          <p:cNvSpPr>
            <a:spLocks noGrp="1"/>
          </p:cNvSpPr>
          <p:nvPr/>
        </p:nvSpPr>
        <p:spPr>
          <a:xfrm>
            <a:off x="5314950" y="2647950"/>
            <a:ext cx="1600200" cy="514350"/>
          </a:xfrm>
          <a:prstGeom prst="rect">
            <a:avLst/>
          </a:prstGeom>
          <a:noFill/>
          <a:ln w="0">
            <a:noFill/>
          </a:ln>
        </p:spPr>
        <p:txBody>
          <a:bodyPr wrap="square" lIns="0" tIns="0" rIns="0" bIns="0" anchor="ctr">
            <a:normAutofit/>
          </a:bodyPr>
          <a:lstStyle/>
          <a:p>
            <a:pPr algn="l">
              <a:lnSpc>
                <a:spcPct val="100000"/>
              </a:lnSpc>
              <a:buNone/>
              <a:defRPr sz="1575" b="1">
                <a:solidFill>
                  <a:srgbClr val="071A2B"/>
                </a:solidFill>
                <a:latin typeface="Aptos"/>
                <a:ea typeface="Aptos"/>
                <a:cs typeface="Aptos"/>
              </a:defRPr>
            </a:pPr>
            <a:r>
              <a:rPr sz="1575" b="1">
                <a:solidFill>
                  <a:srgbClr val="071A2B"/>
                </a:solidFill>
                <a:latin typeface="Aptos"/>
                <a:ea typeface="Aptos"/>
                <a:cs typeface="Aptos"/>
              </a:rPr>
              <a:t>Production output</a:t>
            </a:r>
          </a:p>
        </p:txBody>
      </p:sp>
      <p:sp>
        <p:nvSpPr>
          <p:cNvPr id="25" name="Rectangle 24">
            <a:extLst>
              <a:ext uri="{FF2B5EF4-FFF2-40B4-BE49-F238E27FC236}">
                <a16:creationId xmlns:a16="http://schemas.microsoft.com/office/drawing/2014/main" id="{DC41A251-A74B-4EB2-B63A-B55348E8C71F}"/>
              </a:ext>
            </a:extLst>
          </p:cNvPr>
          <p:cNvSpPr>
            <a:spLocks noGrp="1"/>
          </p:cNvSpPr>
          <p:nvPr/>
        </p:nvSpPr>
        <p:spPr>
          <a:xfrm>
            <a:off x="5314950" y="3257550"/>
            <a:ext cx="666750" cy="228600"/>
          </a:xfrm>
          <a:prstGeom prst="rect">
            <a:avLst/>
          </a:prstGeom>
          <a:noFill/>
          <a:ln w="0">
            <a:noFill/>
          </a:ln>
        </p:spPr>
        <p:txBody>
          <a:bodyPr wrap="square" lIns="0" tIns="0" rIns="0" bIns="0" anchor="t">
            <a:normAutofit/>
          </a:bodyPr>
          <a:lstStyle/>
          <a:p>
            <a:pPr algn="l">
              <a:lnSpc>
                <a:spcPct val="100000"/>
              </a:lnSpc>
              <a:buNone/>
              <a:defRPr sz="1125" b="1">
                <a:solidFill>
                  <a:srgbClr val="536575"/>
                </a:solidFill>
                <a:latin typeface="Aptos"/>
                <a:ea typeface="Aptos"/>
                <a:cs typeface="Aptos"/>
              </a:defRPr>
            </a:pPr>
            <a:r>
              <a:rPr sz="1125" b="1">
                <a:solidFill>
                  <a:srgbClr val="536575"/>
                </a:solidFill>
                <a:latin typeface="Aptos"/>
                <a:ea typeface="Aptos"/>
                <a:cs typeface="Aptos"/>
              </a:rPr>
              <a:t>NOVA</a:t>
            </a:r>
          </a:p>
        </p:txBody>
      </p:sp>
      <p:sp>
        <p:nvSpPr>
          <p:cNvPr id="26" name="Rectangle 25">
            <a:extLst>
              <a:ext uri="{FF2B5EF4-FFF2-40B4-BE49-F238E27FC236}">
                <a16:creationId xmlns:a16="http://schemas.microsoft.com/office/drawing/2014/main" id="{53ABD46D-F8BA-400E-9640-8E1A9B2FB7AE}"/>
              </a:ext>
            </a:extLst>
          </p:cNvPr>
          <p:cNvSpPr>
            <a:spLocks noGrp="1"/>
          </p:cNvSpPr>
          <p:nvPr/>
        </p:nvSpPr>
        <p:spPr>
          <a:xfrm>
            <a:off x="5314950" y="3524250"/>
            <a:ext cx="1600200" cy="628650"/>
          </a:xfrm>
          <a:prstGeom prst="rect">
            <a:avLst/>
          </a:prstGeom>
          <a:noFill/>
          <a:ln w="0">
            <a:noFill/>
          </a:ln>
        </p:spPr>
        <p:txBody>
          <a:bodyPr wrap="square" lIns="0" tIns="0" rIns="0" bIns="0" anchor="t">
            <a:normAutofit fontScale="96216"/>
          </a:bodyPr>
          <a:lstStyle/>
          <a:p>
            <a:pPr algn="l">
              <a:lnSpc>
                <a:spcPct val="104000"/>
              </a:lnSpc>
              <a:buNone/>
              <a:defRPr sz="1200" b="0">
                <a:solidFill>
                  <a:srgbClr val="142433"/>
                </a:solidFill>
                <a:latin typeface="Aptos"/>
                <a:ea typeface="Aptos"/>
                <a:cs typeface="Aptos"/>
              </a:defRPr>
            </a:pPr>
            <a:r>
              <a:rPr sz="1200" b="0">
                <a:solidFill>
                  <a:srgbClr val="142433"/>
                </a:solidFill>
                <a:latin typeface="Aptos"/>
                <a:ea typeface="Aptos"/>
                <a:cs typeface="Aptos"/>
              </a:rPr>
              <a:t>NOVA records passthrough completion or each finished assembly box.</a:t>
            </a:r>
          </a:p>
        </p:txBody>
      </p:sp>
      <p:sp>
        <p:nvSpPr>
          <p:cNvPr id="27" name="Straight Connector 26">
            <a:extLst>
              <a:ext uri="{FF2B5EF4-FFF2-40B4-BE49-F238E27FC236}">
                <a16:creationId xmlns:a16="http://schemas.microsoft.com/office/drawing/2014/main" id="{58B97996-52DE-4694-82AD-909E64BF8D78}"/>
              </a:ext>
            </a:extLst>
          </p:cNvPr>
          <p:cNvSpPr>
            <a:spLocks noGrp="1"/>
          </p:cNvSpPr>
          <p:nvPr/>
        </p:nvSpPr>
        <p:spPr>
          <a:xfrm>
            <a:off x="5314950" y="4248150"/>
            <a:ext cx="1600200" cy="0"/>
          </a:xfrm>
          <a:prstGeom prst="line">
            <a:avLst/>
          </a:prstGeom>
          <a:noFill/>
          <a:ln w="9525">
            <a:solidFill>
              <a:srgbClr val="D5DEE6"/>
            </a:solidFill>
            <a:prstDash val="solid"/>
          </a:ln>
        </p:spPr>
        <p:txBody>
          <a:bodyPr/>
          <a:lstStyle/>
          <a:p>
            <a:endParaRPr lang="en-ID"/>
          </a:p>
        </p:txBody>
      </p:sp>
      <p:sp>
        <p:nvSpPr>
          <p:cNvPr id="28" name="Rectangle 27">
            <a:extLst>
              <a:ext uri="{FF2B5EF4-FFF2-40B4-BE49-F238E27FC236}">
                <a16:creationId xmlns:a16="http://schemas.microsoft.com/office/drawing/2014/main" id="{627EEA74-9440-4459-8D97-5F0CD5457583}"/>
              </a:ext>
            </a:extLst>
          </p:cNvPr>
          <p:cNvSpPr>
            <a:spLocks noGrp="1"/>
          </p:cNvSpPr>
          <p:nvPr/>
        </p:nvSpPr>
        <p:spPr>
          <a:xfrm>
            <a:off x="5314950" y="4362450"/>
            <a:ext cx="666750" cy="228600"/>
          </a:xfrm>
          <a:prstGeom prst="rect">
            <a:avLst/>
          </a:prstGeom>
          <a:noFill/>
          <a:ln w="0">
            <a:noFill/>
          </a:ln>
        </p:spPr>
        <p:txBody>
          <a:bodyPr wrap="square" lIns="0" tIns="0" rIns="0" bIns="0" anchor="t">
            <a:normAutofit/>
          </a:bodyPr>
          <a:lstStyle/>
          <a:p>
            <a:pPr algn="l">
              <a:lnSpc>
                <a:spcPct val="100000"/>
              </a:lnSpc>
              <a:buNone/>
              <a:defRPr sz="1125" b="1">
                <a:solidFill>
                  <a:srgbClr val="23845B"/>
                </a:solidFill>
                <a:latin typeface="Aptos"/>
                <a:ea typeface="Aptos"/>
                <a:cs typeface="Aptos"/>
              </a:defRPr>
            </a:pPr>
            <a:r>
              <a:rPr sz="1125" b="1">
                <a:solidFill>
                  <a:srgbClr val="23845B"/>
                </a:solidFill>
                <a:latin typeface="Aptos"/>
                <a:ea typeface="Aptos"/>
                <a:cs typeface="Aptos"/>
              </a:rPr>
              <a:t>SAP</a:t>
            </a:r>
          </a:p>
        </p:txBody>
      </p:sp>
      <p:sp>
        <p:nvSpPr>
          <p:cNvPr id="29" name="Rectangle 28">
            <a:extLst>
              <a:ext uri="{FF2B5EF4-FFF2-40B4-BE49-F238E27FC236}">
                <a16:creationId xmlns:a16="http://schemas.microsoft.com/office/drawing/2014/main" id="{F8992B95-3FAC-4BDA-9F75-E661C9D4E27B}"/>
              </a:ext>
            </a:extLst>
          </p:cNvPr>
          <p:cNvSpPr>
            <a:spLocks noGrp="1"/>
          </p:cNvSpPr>
          <p:nvPr/>
        </p:nvSpPr>
        <p:spPr>
          <a:xfrm>
            <a:off x="5314950" y="4629150"/>
            <a:ext cx="1600200" cy="685800"/>
          </a:xfrm>
          <a:prstGeom prst="rect">
            <a:avLst/>
          </a:prstGeom>
          <a:noFill/>
          <a:ln w="0">
            <a:noFill/>
          </a:ln>
        </p:spPr>
        <p:txBody>
          <a:bodyPr wrap="square" lIns="0" tIns="0" rIns="0" bIns="0" anchor="t">
            <a:normAutofit/>
          </a:bodyPr>
          <a:lstStyle/>
          <a:p>
            <a:pPr algn="l">
              <a:lnSpc>
                <a:spcPct val="104000"/>
              </a:lnSpc>
              <a:buNone/>
              <a:defRPr sz="1200" b="0">
                <a:solidFill>
                  <a:srgbClr val="142433"/>
                </a:solidFill>
                <a:latin typeface="Aptos"/>
                <a:ea typeface="Aptos"/>
                <a:cs typeface="Aptos"/>
              </a:defRPr>
            </a:pPr>
            <a:r>
              <a:rPr sz="1200" b="0" dirty="0">
                <a:solidFill>
                  <a:srgbClr val="142433"/>
                </a:solidFill>
                <a:latin typeface="Aptos"/>
                <a:ea typeface="Aptos"/>
                <a:cs typeface="Aptos"/>
              </a:rPr>
              <a:t>SAP posts production confirmation and the FG receipt.</a:t>
            </a:r>
          </a:p>
        </p:txBody>
      </p:sp>
      <p:sp>
        <p:nvSpPr>
          <p:cNvPr id="30" name="Rectangle: Rounded Corners 29">
            <a:extLst>
              <a:ext uri="{FF2B5EF4-FFF2-40B4-BE49-F238E27FC236}">
                <a16:creationId xmlns:a16="http://schemas.microsoft.com/office/drawing/2014/main" id="{DECA2352-7D88-4B62-9AEC-80F0A70AA314}"/>
              </a:ext>
            </a:extLst>
          </p:cNvPr>
          <p:cNvSpPr>
            <a:spLocks noGrp="1"/>
          </p:cNvSpPr>
          <p:nvPr/>
        </p:nvSpPr>
        <p:spPr>
          <a:xfrm>
            <a:off x="7486650" y="2152649"/>
            <a:ext cx="1905000" cy="3200391"/>
          </a:xfrm>
          <a:prstGeom prst="roundRect">
            <a:avLst>
              <a:gd name="adj" fmla="val 4000"/>
            </a:avLst>
          </a:prstGeom>
          <a:solidFill>
            <a:srgbClr val="FFFFFF"/>
          </a:solidFill>
          <a:ln w="19050">
            <a:solidFill>
              <a:srgbClr val="12B7E6"/>
            </a:solidFill>
            <a:prstDash val="solid"/>
          </a:ln>
        </p:spPr>
        <p:txBody>
          <a:bodyPr/>
          <a:lstStyle/>
          <a:p>
            <a:endParaRPr lang="en-ID"/>
          </a:p>
        </p:txBody>
      </p:sp>
      <p:sp>
        <p:nvSpPr>
          <p:cNvPr id="31" name="Rectangle 30">
            <a:extLst>
              <a:ext uri="{FF2B5EF4-FFF2-40B4-BE49-F238E27FC236}">
                <a16:creationId xmlns:a16="http://schemas.microsoft.com/office/drawing/2014/main" id="{950B9DFA-39C6-46C0-B1EB-7D75BA5C6340}"/>
              </a:ext>
            </a:extLst>
          </p:cNvPr>
          <p:cNvSpPr>
            <a:spLocks noGrp="1"/>
          </p:cNvSpPr>
          <p:nvPr/>
        </p:nvSpPr>
        <p:spPr>
          <a:xfrm>
            <a:off x="7639050" y="2286000"/>
            <a:ext cx="400050" cy="247650"/>
          </a:xfrm>
          <a:prstGeom prst="rect">
            <a:avLst/>
          </a:prstGeom>
          <a:noFill/>
          <a:ln w="0">
            <a:noFill/>
          </a:ln>
        </p:spPr>
        <p:txBody>
          <a:bodyPr wrap="square" lIns="0" tIns="0" rIns="0" bIns="0" anchor="t">
            <a:normAutofit/>
          </a:bodyPr>
          <a:lstStyle/>
          <a:p>
            <a:pPr algn="l">
              <a:lnSpc>
                <a:spcPct val="100000"/>
              </a:lnSpc>
              <a:buNone/>
              <a:defRPr sz="1275" b="1">
                <a:solidFill>
                  <a:srgbClr val="12B7E6"/>
                </a:solidFill>
                <a:latin typeface="Aptos"/>
                <a:ea typeface="Aptos"/>
                <a:cs typeface="Aptos"/>
              </a:defRPr>
            </a:pPr>
            <a:r>
              <a:rPr sz="1275" b="1">
                <a:solidFill>
                  <a:srgbClr val="12B7E6"/>
                </a:solidFill>
                <a:latin typeface="Aptos"/>
                <a:ea typeface="Aptos"/>
                <a:cs typeface="Aptos"/>
              </a:rPr>
              <a:t>04</a:t>
            </a:r>
          </a:p>
        </p:txBody>
      </p:sp>
      <p:sp>
        <p:nvSpPr>
          <p:cNvPr id="32" name="Rectangle 31">
            <a:extLst>
              <a:ext uri="{FF2B5EF4-FFF2-40B4-BE49-F238E27FC236}">
                <a16:creationId xmlns:a16="http://schemas.microsoft.com/office/drawing/2014/main" id="{79606C24-8A87-4E47-A91F-84D25F6F7929}"/>
              </a:ext>
            </a:extLst>
          </p:cNvPr>
          <p:cNvSpPr>
            <a:spLocks noGrp="1"/>
          </p:cNvSpPr>
          <p:nvPr/>
        </p:nvSpPr>
        <p:spPr>
          <a:xfrm>
            <a:off x="7639050" y="2647950"/>
            <a:ext cx="1600200" cy="514350"/>
          </a:xfrm>
          <a:prstGeom prst="rect">
            <a:avLst/>
          </a:prstGeom>
          <a:noFill/>
          <a:ln w="0">
            <a:noFill/>
          </a:ln>
        </p:spPr>
        <p:txBody>
          <a:bodyPr wrap="square" lIns="0" tIns="0" rIns="0" bIns="0" anchor="ctr">
            <a:normAutofit/>
          </a:bodyPr>
          <a:lstStyle/>
          <a:p>
            <a:pPr algn="l">
              <a:lnSpc>
                <a:spcPct val="100000"/>
              </a:lnSpc>
              <a:buNone/>
              <a:defRPr sz="1575" b="1">
                <a:solidFill>
                  <a:srgbClr val="071A2B"/>
                </a:solidFill>
                <a:latin typeface="Aptos"/>
                <a:ea typeface="Aptos"/>
                <a:cs typeface="Aptos"/>
              </a:defRPr>
            </a:pPr>
            <a:r>
              <a:rPr sz="1575" b="1">
                <a:solidFill>
                  <a:srgbClr val="071A2B"/>
                </a:solidFill>
                <a:latin typeface="Aptos"/>
                <a:ea typeface="Aptos"/>
                <a:cs typeface="Aptos"/>
              </a:rPr>
              <a:t>Poka-Yoke and delivery</a:t>
            </a:r>
          </a:p>
        </p:txBody>
      </p:sp>
      <p:sp>
        <p:nvSpPr>
          <p:cNvPr id="33" name="Rectangle 32">
            <a:extLst>
              <a:ext uri="{FF2B5EF4-FFF2-40B4-BE49-F238E27FC236}">
                <a16:creationId xmlns:a16="http://schemas.microsoft.com/office/drawing/2014/main" id="{6A42BB33-FD62-473E-AA42-EBA3F5AFEF84}"/>
              </a:ext>
            </a:extLst>
          </p:cNvPr>
          <p:cNvSpPr>
            <a:spLocks noGrp="1"/>
          </p:cNvSpPr>
          <p:nvPr/>
        </p:nvSpPr>
        <p:spPr>
          <a:xfrm>
            <a:off x="7639050" y="3257550"/>
            <a:ext cx="666750" cy="228600"/>
          </a:xfrm>
          <a:prstGeom prst="rect">
            <a:avLst/>
          </a:prstGeom>
          <a:noFill/>
          <a:ln w="0">
            <a:noFill/>
          </a:ln>
        </p:spPr>
        <p:txBody>
          <a:bodyPr wrap="square" lIns="0" tIns="0" rIns="0" bIns="0" anchor="t">
            <a:normAutofit/>
          </a:bodyPr>
          <a:lstStyle/>
          <a:p>
            <a:pPr algn="l">
              <a:lnSpc>
                <a:spcPct val="100000"/>
              </a:lnSpc>
              <a:buNone/>
              <a:defRPr sz="1125" b="1">
                <a:solidFill>
                  <a:srgbClr val="536575"/>
                </a:solidFill>
                <a:latin typeface="Aptos"/>
                <a:ea typeface="Aptos"/>
                <a:cs typeface="Aptos"/>
              </a:defRPr>
            </a:pPr>
            <a:r>
              <a:rPr sz="1125" b="1">
                <a:solidFill>
                  <a:srgbClr val="536575"/>
                </a:solidFill>
                <a:latin typeface="Aptos"/>
                <a:ea typeface="Aptos"/>
                <a:cs typeface="Aptos"/>
              </a:rPr>
              <a:t>NOVA</a:t>
            </a:r>
          </a:p>
        </p:txBody>
      </p:sp>
      <p:sp>
        <p:nvSpPr>
          <p:cNvPr id="34" name="Rectangle 33">
            <a:extLst>
              <a:ext uri="{FF2B5EF4-FFF2-40B4-BE49-F238E27FC236}">
                <a16:creationId xmlns:a16="http://schemas.microsoft.com/office/drawing/2014/main" id="{13CB97AD-218E-43A2-A266-C8DD7E444A9F}"/>
              </a:ext>
            </a:extLst>
          </p:cNvPr>
          <p:cNvSpPr>
            <a:spLocks noGrp="1"/>
          </p:cNvSpPr>
          <p:nvPr/>
        </p:nvSpPr>
        <p:spPr>
          <a:xfrm>
            <a:off x="7639050" y="3524250"/>
            <a:ext cx="1600200" cy="628650"/>
          </a:xfrm>
          <a:prstGeom prst="rect">
            <a:avLst/>
          </a:prstGeom>
          <a:noFill/>
          <a:ln w="0">
            <a:noFill/>
          </a:ln>
        </p:spPr>
        <p:txBody>
          <a:bodyPr wrap="square" lIns="0" tIns="0" rIns="0" bIns="0" anchor="t">
            <a:normAutofit/>
          </a:bodyPr>
          <a:lstStyle/>
          <a:p>
            <a:pPr algn="l">
              <a:lnSpc>
                <a:spcPct val="104000"/>
              </a:lnSpc>
              <a:buNone/>
              <a:defRPr sz="1200" b="0">
                <a:solidFill>
                  <a:srgbClr val="142433"/>
                </a:solidFill>
                <a:latin typeface="Aptos"/>
                <a:ea typeface="Aptos"/>
                <a:cs typeface="Aptos"/>
              </a:defRPr>
            </a:pPr>
            <a:r>
              <a:rPr sz="1200" b="0">
                <a:solidFill>
                  <a:srgbClr val="142433"/>
                </a:solidFill>
                <a:latin typeface="Aptos"/>
                <a:ea typeface="Aptos"/>
                <a:cs typeface="Aptos"/>
              </a:rPr>
              <a:t>Poka-Yoke must pass before NOVA accepts the delivery scan.</a:t>
            </a:r>
          </a:p>
        </p:txBody>
      </p:sp>
      <p:sp>
        <p:nvSpPr>
          <p:cNvPr id="35" name="Straight Connector 34">
            <a:extLst>
              <a:ext uri="{FF2B5EF4-FFF2-40B4-BE49-F238E27FC236}">
                <a16:creationId xmlns:a16="http://schemas.microsoft.com/office/drawing/2014/main" id="{83F5CF29-3DA1-4050-A76C-674429DFECB1}"/>
              </a:ext>
            </a:extLst>
          </p:cNvPr>
          <p:cNvSpPr>
            <a:spLocks noGrp="1"/>
          </p:cNvSpPr>
          <p:nvPr/>
        </p:nvSpPr>
        <p:spPr>
          <a:xfrm>
            <a:off x="7639050" y="4248150"/>
            <a:ext cx="1600200" cy="0"/>
          </a:xfrm>
          <a:prstGeom prst="line">
            <a:avLst/>
          </a:prstGeom>
          <a:noFill/>
          <a:ln w="9525">
            <a:solidFill>
              <a:srgbClr val="D5DEE6"/>
            </a:solidFill>
            <a:prstDash val="solid"/>
          </a:ln>
        </p:spPr>
        <p:txBody>
          <a:bodyPr/>
          <a:lstStyle/>
          <a:p>
            <a:endParaRPr lang="en-ID"/>
          </a:p>
        </p:txBody>
      </p:sp>
      <p:sp>
        <p:nvSpPr>
          <p:cNvPr id="36" name="Rectangle 35">
            <a:extLst>
              <a:ext uri="{FF2B5EF4-FFF2-40B4-BE49-F238E27FC236}">
                <a16:creationId xmlns:a16="http://schemas.microsoft.com/office/drawing/2014/main" id="{62C60140-C475-4F4F-9640-9315238DEFB9}"/>
              </a:ext>
            </a:extLst>
          </p:cNvPr>
          <p:cNvSpPr>
            <a:spLocks noGrp="1"/>
          </p:cNvSpPr>
          <p:nvPr/>
        </p:nvSpPr>
        <p:spPr>
          <a:xfrm>
            <a:off x="7639050" y="4362450"/>
            <a:ext cx="666750" cy="228600"/>
          </a:xfrm>
          <a:prstGeom prst="rect">
            <a:avLst/>
          </a:prstGeom>
          <a:noFill/>
          <a:ln w="0">
            <a:noFill/>
          </a:ln>
        </p:spPr>
        <p:txBody>
          <a:bodyPr wrap="square" lIns="0" tIns="0" rIns="0" bIns="0" anchor="t">
            <a:normAutofit/>
          </a:bodyPr>
          <a:lstStyle/>
          <a:p>
            <a:pPr algn="l">
              <a:lnSpc>
                <a:spcPct val="100000"/>
              </a:lnSpc>
              <a:buNone/>
              <a:defRPr sz="1125" b="1">
                <a:solidFill>
                  <a:srgbClr val="12B7E6"/>
                </a:solidFill>
                <a:latin typeface="Aptos"/>
                <a:ea typeface="Aptos"/>
                <a:cs typeface="Aptos"/>
              </a:defRPr>
            </a:pPr>
            <a:r>
              <a:rPr sz="1125" b="1">
                <a:solidFill>
                  <a:srgbClr val="12B7E6"/>
                </a:solidFill>
                <a:latin typeface="Aptos"/>
                <a:ea typeface="Aptos"/>
                <a:cs typeface="Aptos"/>
              </a:rPr>
              <a:t>SAP</a:t>
            </a:r>
          </a:p>
        </p:txBody>
      </p:sp>
      <p:sp>
        <p:nvSpPr>
          <p:cNvPr id="37" name="Rectangle 36">
            <a:extLst>
              <a:ext uri="{FF2B5EF4-FFF2-40B4-BE49-F238E27FC236}">
                <a16:creationId xmlns:a16="http://schemas.microsoft.com/office/drawing/2014/main" id="{2E3A9CAA-42E0-44C7-979E-0B45E7FB4D59}"/>
              </a:ext>
            </a:extLst>
          </p:cNvPr>
          <p:cNvSpPr>
            <a:spLocks noGrp="1"/>
          </p:cNvSpPr>
          <p:nvPr/>
        </p:nvSpPr>
        <p:spPr>
          <a:xfrm>
            <a:off x="7639050" y="4629150"/>
            <a:ext cx="1600200" cy="685800"/>
          </a:xfrm>
          <a:prstGeom prst="rect">
            <a:avLst/>
          </a:prstGeom>
          <a:noFill/>
          <a:ln w="0">
            <a:noFill/>
          </a:ln>
        </p:spPr>
        <p:txBody>
          <a:bodyPr wrap="square" lIns="0" tIns="0" rIns="0" bIns="0" anchor="t">
            <a:normAutofit/>
          </a:bodyPr>
          <a:lstStyle/>
          <a:p>
            <a:pPr algn="l">
              <a:lnSpc>
                <a:spcPct val="104000"/>
              </a:lnSpc>
              <a:buNone/>
              <a:defRPr sz="1200" b="0">
                <a:solidFill>
                  <a:srgbClr val="142433"/>
                </a:solidFill>
                <a:latin typeface="Aptos"/>
                <a:ea typeface="Aptos"/>
                <a:cs typeface="Aptos"/>
              </a:defRPr>
            </a:pPr>
            <a:r>
              <a:rPr sz="1200" b="0" dirty="0">
                <a:solidFill>
                  <a:srgbClr val="142433"/>
                </a:solidFill>
                <a:latin typeface="Aptos"/>
                <a:ea typeface="Aptos"/>
                <a:cs typeface="Aptos"/>
              </a:rPr>
              <a:t>SAP posts the FG goods issue or delivery transaction.</a:t>
            </a:r>
          </a:p>
        </p:txBody>
      </p:sp>
      <p:sp>
        <p:nvSpPr>
          <p:cNvPr id="38" name="Rectangle: Rounded Corners 37">
            <a:extLst>
              <a:ext uri="{FF2B5EF4-FFF2-40B4-BE49-F238E27FC236}">
                <a16:creationId xmlns:a16="http://schemas.microsoft.com/office/drawing/2014/main" id="{4E5241C0-80CF-40AE-A15E-298F1E19009D}"/>
              </a:ext>
            </a:extLst>
          </p:cNvPr>
          <p:cNvSpPr>
            <a:spLocks noGrp="1"/>
          </p:cNvSpPr>
          <p:nvPr/>
        </p:nvSpPr>
        <p:spPr>
          <a:xfrm>
            <a:off x="9810750" y="2152650"/>
            <a:ext cx="1905000" cy="3200390"/>
          </a:xfrm>
          <a:prstGeom prst="roundRect">
            <a:avLst>
              <a:gd name="adj" fmla="val 4000"/>
            </a:avLst>
          </a:prstGeom>
          <a:solidFill>
            <a:srgbClr val="FFFFFF"/>
          </a:solidFill>
          <a:ln w="19050">
            <a:solidFill>
              <a:srgbClr val="D94141"/>
            </a:solidFill>
            <a:prstDash val="solid"/>
          </a:ln>
        </p:spPr>
        <p:txBody>
          <a:bodyPr/>
          <a:lstStyle/>
          <a:p>
            <a:endParaRPr lang="en-ID"/>
          </a:p>
        </p:txBody>
      </p:sp>
      <p:sp>
        <p:nvSpPr>
          <p:cNvPr id="39" name="Rectangle 38">
            <a:extLst>
              <a:ext uri="{FF2B5EF4-FFF2-40B4-BE49-F238E27FC236}">
                <a16:creationId xmlns:a16="http://schemas.microsoft.com/office/drawing/2014/main" id="{5FF3066E-5068-4577-A714-A2CB4E97DFD5}"/>
              </a:ext>
            </a:extLst>
          </p:cNvPr>
          <p:cNvSpPr>
            <a:spLocks noGrp="1"/>
          </p:cNvSpPr>
          <p:nvPr/>
        </p:nvSpPr>
        <p:spPr>
          <a:xfrm>
            <a:off x="9963150" y="2286000"/>
            <a:ext cx="400050" cy="247650"/>
          </a:xfrm>
          <a:prstGeom prst="rect">
            <a:avLst/>
          </a:prstGeom>
          <a:noFill/>
          <a:ln w="0">
            <a:noFill/>
          </a:ln>
        </p:spPr>
        <p:txBody>
          <a:bodyPr wrap="square" lIns="0" tIns="0" rIns="0" bIns="0" anchor="t">
            <a:normAutofit/>
          </a:bodyPr>
          <a:lstStyle/>
          <a:p>
            <a:pPr algn="l">
              <a:lnSpc>
                <a:spcPct val="100000"/>
              </a:lnSpc>
              <a:buNone/>
              <a:defRPr sz="1275" b="1">
                <a:solidFill>
                  <a:srgbClr val="D94141"/>
                </a:solidFill>
                <a:latin typeface="Aptos"/>
                <a:ea typeface="Aptos"/>
                <a:cs typeface="Aptos"/>
              </a:defRPr>
            </a:pPr>
            <a:r>
              <a:rPr sz="1275" b="1">
                <a:solidFill>
                  <a:srgbClr val="D94141"/>
                </a:solidFill>
                <a:latin typeface="Aptos"/>
                <a:ea typeface="Aptos"/>
                <a:cs typeface="Aptos"/>
              </a:rPr>
              <a:t>05</a:t>
            </a:r>
          </a:p>
        </p:txBody>
      </p:sp>
      <p:sp>
        <p:nvSpPr>
          <p:cNvPr id="40" name="Rectangle 39">
            <a:extLst>
              <a:ext uri="{FF2B5EF4-FFF2-40B4-BE49-F238E27FC236}">
                <a16:creationId xmlns:a16="http://schemas.microsoft.com/office/drawing/2014/main" id="{43F5DF60-8C83-41EA-A15F-157487A8AB2E}"/>
              </a:ext>
            </a:extLst>
          </p:cNvPr>
          <p:cNvSpPr>
            <a:spLocks noGrp="1"/>
          </p:cNvSpPr>
          <p:nvPr/>
        </p:nvSpPr>
        <p:spPr>
          <a:xfrm>
            <a:off x="9963150" y="2647950"/>
            <a:ext cx="1600200" cy="514350"/>
          </a:xfrm>
          <a:prstGeom prst="rect">
            <a:avLst/>
          </a:prstGeom>
          <a:noFill/>
          <a:ln w="0">
            <a:noFill/>
          </a:ln>
        </p:spPr>
        <p:txBody>
          <a:bodyPr wrap="square" lIns="0" tIns="0" rIns="0" bIns="0" anchor="ctr">
            <a:normAutofit/>
          </a:bodyPr>
          <a:lstStyle/>
          <a:p>
            <a:pPr algn="l">
              <a:lnSpc>
                <a:spcPct val="100000"/>
              </a:lnSpc>
              <a:buNone/>
              <a:defRPr sz="1575" b="1">
                <a:solidFill>
                  <a:srgbClr val="071A2B"/>
                </a:solidFill>
                <a:latin typeface="Aptos"/>
                <a:ea typeface="Aptos"/>
                <a:cs typeface="Aptos"/>
              </a:defRPr>
            </a:pPr>
            <a:r>
              <a:rPr sz="1575" b="1">
                <a:solidFill>
                  <a:srgbClr val="071A2B"/>
                </a:solidFill>
                <a:latin typeface="Aptos"/>
                <a:ea typeface="Aptos"/>
                <a:cs typeface="Aptos"/>
              </a:rPr>
              <a:t>Order close</a:t>
            </a:r>
          </a:p>
        </p:txBody>
      </p:sp>
      <p:sp>
        <p:nvSpPr>
          <p:cNvPr id="41" name="Rectangle 40">
            <a:extLst>
              <a:ext uri="{FF2B5EF4-FFF2-40B4-BE49-F238E27FC236}">
                <a16:creationId xmlns:a16="http://schemas.microsoft.com/office/drawing/2014/main" id="{737F70B1-3729-4F90-B986-AE52D7A36A7D}"/>
              </a:ext>
            </a:extLst>
          </p:cNvPr>
          <p:cNvSpPr>
            <a:spLocks noGrp="1"/>
          </p:cNvSpPr>
          <p:nvPr/>
        </p:nvSpPr>
        <p:spPr>
          <a:xfrm>
            <a:off x="9963150" y="3257550"/>
            <a:ext cx="666750" cy="228600"/>
          </a:xfrm>
          <a:prstGeom prst="rect">
            <a:avLst/>
          </a:prstGeom>
          <a:noFill/>
          <a:ln w="0">
            <a:noFill/>
          </a:ln>
        </p:spPr>
        <p:txBody>
          <a:bodyPr wrap="square" lIns="0" tIns="0" rIns="0" bIns="0" anchor="t">
            <a:normAutofit/>
          </a:bodyPr>
          <a:lstStyle/>
          <a:p>
            <a:pPr algn="l">
              <a:lnSpc>
                <a:spcPct val="100000"/>
              </a:lnSpc>
              <a:buNone/>
              <a:defRPr sz="1125" b="1">
                <a:solidFill>
                  <a:srgbClr val="536575"/>
                </a:solidFill>
                <a:latin typeface="Aptos"/>
                <a:ea typeface="Aptos"/>
                <a:cs typeface="Aptos"/>
              </a:defRPr>
            </a:pPr>
            <a:r>
              <a:rPr sz="1125" b="1">
                <a:solidFill>
                  <a:srgbClr val="536575"/>
                </a:solidFill>
                <a:latin typeface="Aptos"/>
                <a:ea typeface="Aptos"/>
                <a:cs typeface="Aptos"/>
              </a:rPr>
              <a:t>NOVA</a:t>
            </a:r>
          </a:p>
        </p:txBody>
      </p:sp>
      <p:sp>
        <p:nvSpPr>
          <p:cNvPr id="42" name="Rectangle 41">
            <a:extLst>
              <a:ext uri="{FF2B5EF4-FFF2-40B4-BE49-F238E27FC236}">
                <a16:creationId xmlns:a16="http://schemas.microsoft.com/office/drawing/2014/main" id="{93430972-F0F3-413F-A1D2-7C7E7ADA1418}"/>
              </a:ext>
            </a:extLst>
          </p:cNvPr>
          <p:cNvSpPr>
            <a:spLocks noGrp="1"/>
          </p:cNvSpPr>
          <p:nvPr/>
        </p:nvSpPr>
        <p:spPr>
          <a:xfrm>
            <a:off x="9963150" y="3524250"/>
            <a:ext cx="1600200" cy="628650"/>
          </a:xfrm>
          <a:prstGeom prst="rect">
            <a:avLst/>
          </a:prstGeom>
          <a:noFill/>
          <a:ln w="0">
            <a:noFill/>
          </a:ln>
        </p:spPr>
        <p:txBody>
          <a:bodyPr wrap="square" lIns="0" tIns="0" rIns="0" bIns="0" anchor="t">
            <a:normAutofit/>
          </a:bodyPr>
          <a:lstStyle/>
          <a:p>
            <a:pPr algn="l">
              <a:lnSpc>
                <a:spcPct val="104000"/>
              </a:lnSpc>
              <a:buNone/>
              <a:defRPr sz="1200" b="0">
                <a:solidFill>
                  <a:srgbClr val="142433"/>
                </a:solidFill>
                <a:latin typeface="Aptos"/>
                <a:ea typeface="Aptos"/>
                <a:cs typeface="Aptos"/>
              </a:defRPr>
            </a:pPr>
            <a:r>
              <a:rPr sz="1200" b="0">
                <a:solidFill>
                  <a:srgbClr val="142433"/>
                </a:solidFill>
                <a:latin typeface="Aptos"/>
                <a:ea typeface="Aptos"/>
                <a:cs typeface="Aptos"/>
              </a:rPr>
              <a:t>NOVA confirms that every label and PO has been delivered.</a:t>
            </a:r>
          </a:p>
        </p:txBody>
      </p:sp>
      <p:sp>
        <p:nvSpPr>
          <p:cNvPr id="43" name="Straight Connector 42">
            <a:extLst>
              <a:ext uri="{FF2B5EF4-FFF2-40B4-BE49-F238E27FC236}">
                <a16:creationId xmlns:a16="http://schemas.microsoft.com/office/drawing/2014/main" id="{0010197A-AAF9-48C9-B2D8-13004DBEB1F4}"/>
              </a:ext>
            </a:extLst>
          </p:cNvPr>
          <p:cNvSpPr>
            <a:spLocks noGrp="1"/>
          </p:cNvSpPr>
          <p:nvPr/>
        </p:nvSpPr>
        <p:spPr>
          <a:xfrm>
            <a:off x="9963150" y="4248150"/>
            <a:ext cx="1600200" cy="0"/>
          </a:xfrm>
          <a:prstGeom prst="line">
            <a:avLst/>
          </a:prstGeom>
          <a:noFill/>
          <a:ln w="9525">
            <a:solidFill>
              <a:srgbClr val="D5DEE6"/>
            </a:solidFill>
            <a:prstDash val="solid"/>
          </a:ln>
        </p:spPr>
        <p:txBody>
          <a:bodyPr/>
          <a:lstStyle/>
          <a:p>
            <a:endParaRPr lang="en-ID"/>
          </a:p>
        </p:txBody>
      </p:sp>
      <p:sp>
        <p:nvSpPr>
          <p:cNvPr id="44" name="Rectangle 43">
            <a:extLst>
              <a:ext uri="{FF2B5EF4-FFF2-40B4-BE49-F238E27FC236}">
                <a16:creationId xmlns:a16="http://schemas.microsoft.com/office/drawing/2014/main" id="{84241DCB-AEFE-4E46-84A2-F2CFBE4D4CC7}"/>
              </a:ext>
            </a:extLst>
          </p:cNvPr>
          <p:cNvSpPr>
            <a:spLocks noGrp="1"/>
          </p:cNvSpPr>
          <p:nvPr/>
        </p:nvSpPr>
        <p:spPr>
          <a:xfrm>
            <a:off x="9963150" y="4362450"/>
            <a:ext cx="666750" cy="228600"/>
          </a:xfrm>
          <a:prstGeom prst="rect">
            <a:avLst/>
          </a:prstGeom>
          <a:noFill/>
          <a:ln w="0">
            <a:noFill/>
          </a:ln>
        </p:spPr>
        <p:txBody>
          <a:bodyPr wrap="square" lIns="0" tIns="0" rIns="0" bIns="0" anchor="t">
            <a:normAutofit/>
          </a:bodyPr>
          <a:lstStyle/>
          <a:p>
            <a:pPr algn="l">
              <a:lnSpc>
                <a:spcPct val="100000"/>
              </a:lnSpc>
              <a:buNone/>
              <a:defRPr sz="1125" b="1">
                <a:solidFill>
                  <a:srgbClr val="D94141"/>
                </a:solidFill>
                <a:latin typeface="Aptos"/>
                <a:ea typeface="Aptos"/>
                <a:cs typeface="Aptos"/>
              </a:defRPr>
            </a:pPr>
            <a:r>
              <a:rPr sz="1125" b="1">
                <a:solidFill>
                  <a:srgbClr val="D94141"/>
                </a:solidFill>
                <a:latin typeface="Aptos"/>
                <a:ea typeface="Aptos"/>
                <a:cs typeface="Aptos"/>
              </a:rPr>
              <a:t>SAP</a:t>
            </a:r>
          </a:p>
        </p:txBody>
      </p:sp>
      <p:sp>
        <p:nvSpPr>
          <p:cNvPr id="45" name="Rectangle 44">
            <a:extLst>
              <a:ext uri="{FF2B5EF4-FFF2-40B4-BE49-F238E27FC236}">
                <a16:creationId xmlns:a16="http://schemas.microsoft.com/office/drawing/2014/main" id="{D4EA9564-2BD8-4387-81B5-096AF9C570DF}"/>
              </a:ext>
            </a:extLst>
          </p:cNvPr>
          <p:cNvSpPr>
            <a:spLocks noGrp="1"/>
          </p:cNvSpPr>
          <p:nvPr/>
        </p:nvSpPr>
        <p:spPr>
          <a:xfrm>
            <a:off x="9963150" y="4629150"/>
            <a:ext cx="1600200" cy="685800"/>
          </a:xfrm>
          <a:prstGeom prst="rect">
            <a:avLst/>
          </a:prstGeom>
          <a:noFill/>
          <a:ln w="0">
            <a:noFill/>
          </a:ln>
        </p:spPr>
        <p:txBody>
          <a:bodyPr wrap="square" lIns="0" tIns="0" rIns="0" bIns="0" anchor="t">
            <a:normAutofit/>
          </a:bodyPr>
          <a:lstStyle/>
          <a:p>
            <a:pPr algn="l">
              <a:lnSpc>
                <a:spcPct val="104000"/>
              </a:lnSpc>
              <a:buNone/>
              <a:defRPr sz="1200" b="0">
                <a:solidFill>
                  <a:srgbClr val="142433"/>
                </a:solidFill>
                <a:latin typeface="Aptos"/>
                <a:ea typeface="Aptos"/>
                <a:cs typeface="Aptos"/>
              </a:defRPr>
            </a:pPr>
            <a:r>
              <a:rPr sz="1200" b="0" dirty="0">
                <a:solidFill>
                  <a:srgbClr val="142433"/>
                </a:solidFill>
                <a:latin typeface="Aptos"/>
                <a:ea typeface="Aptos"/>
                <a:cs typeface="Aptos"/>
              </a:rPr>
              <a:t>SAP finalizes the order after every posting is complete.</a:t>
            </a:r>
            <a:r>
              <a:rPr lang="en-US" sz="1200" b="0" dirty="0">
                <a:solidFill>
                  <a:srgbClr val="142433"/>
                </a:solidFill>
                <a:latin typeface="Aptos"/>
                <a:ea typeface="Aptos"/>
                <a:cs typeface="Aptos"/>
              </a:rPr>
              <a:t> (Sales Data)</a:t>
            </a:r>
            <a:endParaRPr sz="1200" b="0" dirty="0">
              <a:solidFill>
                <a:srgbClr val="142433"/>
              </a:solidFill>
              <a:latin typeface="Aptos"/>
              <a:ea typeface="Aptos"/>
              <a:cs typeface="Aptos"/>
            </a:endParaRPr>
          </a:p>
        </p:txBody>
      </p:sp>
      <p:cxnSp>
        <p:nvCxnSpPr>
          <p:cNvPr id="100" name="Straight Arrow Connector 99"/>
          <p:cNvCxnSpPr>
            <a:cxnSpLocks/>
            <a:stCxn id="6" idx="3"/>
            <a:endCxn id="14" idx="1"/>
          </p:cNvCxnSpPr>
          <p:nvPr/>
        </p:nvCxnSpPr>
        <p:spPr>
          <a:xfrm>
            <a:off x="2419350" y="3752849"/>
            <a:ext cx="419100" cy="0"/>
          </a:xfrm>
          <a:prstGeom prst="straightConnector1">
            <a:avLst/>
          </a:prstGeom>
          <a:ln w="19050">
            <a:solidFill>
              <a:srgbClr val="536575"/>
            </a:solidFill>
            <a:prstDash val="solid"/>
            <a:tailEnd type="triangle" w="sm" len="sm"/>
          </a:ln>
        </p:spPr>
      </p:cxnSp>
      <p:cxnSp>
        <p:nvCxnSpPr>
          <p:cNvPr id="101" name="Straight Arrow Connector 100"/>
          <p:cNvCxnSpPr>
            <a:cxnSpLocks/>
            <a:stCxn id="14" idx="3"/>
            <a:endCxn id="22" idx="1"/>
          </p:cNvCxnSpPr>
          <p:nvPr/>
        </p:nvCxnSpPr>
        <p:spPr>
          <a:xfrm flipV="1">
            <a:off x="4743450" y="3752847"/>
            <a:ext cx="419100" cy="2"/>
          </a:xfrm>
          <a:prstGeom prst="straightConnector1">
            <a:avLst/>
          </a:prstGeom>
          <a:ln w="19050">
            <a:solidFill>
              <a:srgbClr val="536575"/>
            </a:solidFill>
            <a:prstDash val="solid"/>
            <a:tailEnd type="triangle" w="sm" len="sm"/>
          </a:ln>
        </p:spPr>
      </p:cxnSp>
      <p:cxnSp>
        <p:nvCxnSpPr>
          <p:cNvPr id="102" name="Straight Arrow Connector 101"/>
          <p:cNvCxnSpPr>
            <a:cxnSpLocks/>
            <a:stCxn id="22" idx="3"/>
            <a:endCxn id="30" idx="1"/>
          </p:cNvCxnSpPr>
          <p:nvPr/>
        </p:nvCxnSpPr>
        <p:spPr>
          <a:xfrm flipV="1">
            <a:off x="7067550" y="3752845"/>
            <a:ext cx="419100" cy="2"/>
          </a:xfrm>
          <a:prstGeom prst="straightConnector1">
            <a:avLst/>
          </a:prstGeom>
          <a:ln w="19050">
            <a:solidFill>
              <a:srgbClr val="536575"/>
            </a:solidFill>
            <a:prstDash val="solid"/>
            <a:tailEnd type="triangle" w="sm" len="sm"/>
          </a:ln>
        </p:spPr>
      </p:cxnSp>
      <p:cxnSp>
        <p:nvCxnSpPr>
          <p:cNvPr id="103" name="Straight Arrow Connector 102"/>
          <p:cNvCxnSpPr>
            <a:cxnSpLocks/>
            <a:stCxn id="30" idx="3"/>
            <a:endCxn id="38" idx="1"/>
          </p:cNvCxnSpPr>
          <p:nvPr/>
        </p:nvCxnSpPr>
        <p:spPr>
          <a:xfrm>
            <a:off x="9391650" y="3752845"/>
            <a:ext cx="419100" cy="0"/>
          </a:xfrm>
          <a:prstGeom prst="straightConnector1">
            <a:avLst/>
          </a:prstGeom>
          <a:ln w="19050">
            <a:solidFill>
              <a:srgbClr val="536575"/>
            </a:solidFill>
            <a:prstDash val="solid"/>
            <a:tailEnd type="triangle" w="sm" len="sm"/>
          </a:ln>
        </p:spPr>
      </p:cxnSp>
      <p:sp>
        <p:nvSpPr>
          <p:cNvPr id="50" name="Rectangle: Rounded Corners 49">
            <a:extLst>
              <a:ext uri="{FF2B5EF4-FFF2-40B4-BE49-F238E27FC236}">
                <a16:creationId xmlns:a16="http://schemas.microsoft.com/office/drawing/2014/main" id="{546EF1DB-2B65-418D-9F15-BAD9FAFE7CD1}"/>
              </a:ext>
            </a:extLst>
          </p:cNvPr>
          <p:cNvSpPr>
            <a:spLocks noGrp="1"/>
          </p:cNvSpPr>
          <p:nvPr/>
        </p:nvSpPr>
        <p:spPr>
          <a:xfrm>
            <a:off x="1466850" y="5619750"/>
            <a:ext cx="9258300" cy="533400"/>
          </a:xfrm>
          <a:prstGeom prst="roundRect">
            <a:avLst>
              <a:gd name="adj" fmla="val 14286"/>
            </a:avLst>
          </a:prstGeom>
          <a:solidFill>
            <a:srgbClr val="FFF5DF"/>
          </a:solidFill>
          <a:ln w="0">
            <a:noFill/>
          </a:ln>
        </p:spPr>
        <p:txBody>
          <a:bodyPr/>
          <a:lstStyle/>
          <a:p>
            <a:endParaRPr lang="en-ID"/>
          </a:p>
        </p:txBody>
      </p:sp>
      <p:sp>
        <p:nvSpPr>
          <p:cNvPr id="51" name="Rectangle 50">
            <a:extLst>
              <a:ext uri="{FF2B5EF4-FFF2-40B4-BE49-F238E27FC236}">
                <a16:creationId xmlns:a16="http://schemas.microsoft.com/office/drawing/2014/main" id="{ED3AAA5B-0F14-431E-879A-E1289F60AB12}"/>
              </a:ext>
            </a:extLst>
          </p:cNvPr>
          <p:cNvSpPr>
            <a:spLocks noGrp="1"/>
          </p:cNvSpPr>
          <p:nvPr/>
        </p:nvSpPr>
        <p:spPr>
          <a:xfrm>
            <a:off x="1752600" y="5743575"/>
            <a:ext cx="8686800" cy="285750"/>
          </a:xfrm>
          <a:prstGeom prst="rect">
            <a:avLst/>
          </a:prstGeom>
          <a:noFill/>
          <a:ln w="0">
            <a:noFill/>
          </a:ln>
        </p:spPr>
        <p:txBody>
          <a:bodyPr wrap="square" lIns="0" tIns="0" rIns="0" bIns="0" anchor="ctr">
            <a:normAutofit fontScale="98655"/>
          </a:bodyPr>
          <a:lstStyle/>
          <a:p>
            <a:pPr algn="ctr">
              <a:lnSpc>
                <a:spcPct val="100000"/>
              </a:lnSpc>
              <a:buNone/>
              <a:defRPr sz="1425" b="1">
                <a:solidFill>
                  <a:srgbClr val="8A5A00"/>
                </a:solidFill>
                <a:latin typeface="Aptos"/>
                <a:ea typeface="Aptos"/>
                <a:cs typeface="Aptos"/>
              </a:defRPr>
            </a:pPr>
            <a:r>
              <a:rPr sz="1425" b="1" dirty="0">
                <a:solidFill>
                  <a:srgbClr val="8A5A00"/>
                </a:solidFill>
                <a:latin typeface="Aptos"/>
                <a:ea typeface="Aptos"/>
                <a:cs typeface="Aptos"/>
              </a:rPr>
              <a:t>NOVA marks a transaction as posted only after SAP returns the document number. Errors remain visible for follow-up.</a:t>
            </a:r>
          </a:p>
        </p:txBody>
      </p:sp>
      <p:sp>
        <p:nvSpPr>
          <p:cNvPr id="52" name="Straight Connector 51">
            <a:extLst>
              <a:ext uri="{FF2B5EF4-FFF2-40B4-BE49-F238E27FC236}">
                <a16:creationId xmlns:a16="http://schemas.microsoft.com/office/drawing/2014/main" id="{52167904-0BE9-4C74-9695-FAA47927315F}"/>
              </a:ext>
            </a:extLst>
          </p:cNvPr>
          <p:cNvSpPr>
            <a:spLocks noGrp="1"/>
          </p:cNvSpPr>
          <p:nvPr/>
        </p:nvSpPr>
        <p:spPr>
          <a:xfrm>
            <a:off x="609600" y="6486525"/>
            <a:ext cx="10972800" cy="0"/>
          </a:xfrm>
          <a:prstGeom prst="line">
            <a:avLst/>
          </a:prstGeom>
          <a:noFill/>
          <a:ln w="9525">
            <a:solidFill>
              <a:srgbClr val="D5DEE6"/>
            </a:solidFill>
            <a:prstDash val="solid"/>
          </a:ln>
        </p:spPr>
        <p:txBody>
          <a:bodyPr/>
          <a:lstStyle/>
          <a:p>
            <a:endParaRPr lang="en-ID"/>
          </a:p>
        </p:txBody>
      </p:sp>
      <p:sp>
        <p:nvSpPr>
          <p:cNvPr id="53" name="Rectangle 52">
            <a:extLst>
              <a:ext uri="{FF2B5EF4-FFF2-40B4-BE49-F238E27FC236}">
                <a16:creationId xmlns:a16="http://schemas.microsoft.com/office/drawing/2014/main" id="{A4893298-A89C-45EB-B57C-2C0D3FC2DCF8}"/>
              </a:ext>
            </a:extLst>
          </p:cNvPr>
          <p:cNvSpPr>
            <a:spLocks noGrp="1"/>
          </p:cNvSpPr>
          <p:nvPr/>
        </p:nvSpPr>
        <p:spPr>
          <a:xfrm>
            <a:off x="609600" y="6553200"/>
            <a:ext cx="4953000" cy="190500"/>
          </a:xfrm>
          <a:prstGeom prst="rect">
            <a:avLst/>
          </a:prstGeom>
          <a:noFill/>
          <a:ln w="0">
            <a:noFill/>
          </a:ln>
        </p:spPr>
        <p:txBody>
          <a:bodyPr wrap="square" lIns="0" tIns="0" rIns="0" bIns="0" anchor="t">
            <a:normAutofit/>
          </a:bodyPr>
          <a:lstStyle/>
          <a:p>
            <a:pPr algn="l">
              <a:lnSpc>
                <a:spcPct val="100000"/>
              </a:lnSpc>
              <a:buNone/>
              <a:defRPr sz="975" b="0">
                <a:solidFill>
                  <a:srgbClr val="536575"/>
                </a:solidFill>
                <a:latin typeface="Aptos"/>
                <a:ea typeface="Aptos"/>
                <a:cs typeface="Aptos"/>
              </a:defRPr>
            </a:pPr>
            <a:r>
              <a:rPr sz="975" b="0" dirty="0">
                <a:solidFill>
                  <a:srgbClr val="536575"/>
                </a:solidFill>
                <a:latin typeface="Aptos"/>
                <a:ea typeface="Aptos"/>
                <a:cs typeface="Aptos"/>
              </a:rPr>
              <a:t>ANSEI / NOVA </a:t>
            </a:r>
            <a:r>
              <a:rPr lang="en-ID" sz="975" b="0" dirty="0">
                <a:solidFill>
                  <a:srgbClr val="536575"/>
                </a:solidFill>
                <a:latin typeface="Aptos"/>
                <a:ea typeface="Aptos"/>
                <a:cs typeface="Aptos"/>
              </a:rPr>
              <a:t>Shopfloor </a:t>
            </a:r>
            <a:r>
              <a:rPr sz="975" b="0" dirty="0">
                <a:solidFill>
                  <a:srgbClr val="536575"/>
                </a:solidFill>
                <a:latin typeface="Aptos"/>
                <a:ea typeface="Aptos"/>
                <a:cs typeface="Aptos"/>
              </a:rPr>
              <a:t>MES / SAP</a:t>
            </a:r>
          </a:p>
        </p:txBody>
      </p:sp>
      <p:sp>
        <p:nvSpPr>
          <p:cNvPr id="54" name="Rectangle 53">
            <a:extLst>
              <a:ext uri="{FF2B5EF4-FFF2-40B4-BE49-F238E27FC236}">
                <a16:creationId xmlns:a16="http://schemas.microsoft.com/office/drawing/2014/main" id="{06CA75C2-471A-4465-B21E-D3CB3D987E53}"/>
              </a:ext>
            </a:extLst>
          </p:cNvPr>
          <p:cNvSpPr>
            <a:spLocks noGrp="1"/>
          </p:cNvSpPr>
          <p:nvPr/>
        </p:nvSpPr>
        <p:spPr>
          <a:xfrm>
            <a:off x="11049000" y="6534150"/>
            <a:ext cx="533400" cy="209550"/>
          </a:xfrm>
          <a:prstGeom prst="rect">
            <a:avLst/>
          </a:prstGeom>
          <a:noFill/>
          <a:ln w="0">
            <a:noFill/>
          </a:ln>
        </p:spPr>
        <p:txBody>
          <a:bodyPr wrap="square" lIns="0" tIns="0" rIns="0" bIns="0" anchor="t">
            <a:normAutofit/>
          </a:bodyPr>
          <a:lstStyle/>
          <a:p>
            <a:pPr algn="r">
              <a:lnSpc>
                <a:spcPct val="100000"/>
              </a:lnSpc>
              <a:buNone/>
              <a:defRPr sz="1050" b="1">
                <a:solidFill>
                  <a:srgbClr val="0B5CAD"/>
                </a:solidFill>
                <a:latin typeface="Aptos"/>
                <a:ea typeface="Aptos"/>
                <a:cs typeface="Aptos"/>
              </a:defRPr>
            </a:pPr>
            <a:r>
              <a:rPr sz="1050" b="1">
                <a:solidFill>
                  <a:srgbClr val="0B5CAD"/>
                </a:solidFill>
                <a:latin typeface="Aptos"/>
                <a:ea typeface="Aptos"/>
                <a:cs typeface="Aptos"/>
              </a:rPr>
              <a:t>04</a:t>
            </a:r>
          </a:p>
        </p:txBody>
      </p:sp>
    </p:spTree>
    <p:extLst>
      <p:ext uri="{BB962C8B-B14F-4D97-AF65-F5344CB8AC3E}">
        <p14:creationId xmlns:p14="http://schemas.microsoft.com/office/powerpoint/2010/main" val="349427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FF524FDF-DB92-4156-971D-A0AD92DA4B66}"/>
              </a:ext>
            </a:extLst>
          </p:cNvPr>
          <p:cNvSpPr>
            <a:spLocks noGrp="1"/>
          </p:cNvSpPr>
          <p:nvPr/>
        </p:nvSpPr>
        <p:spPr>
          <a:xfrm>
            <a:off x="0" y="0"/>
            <a:ext cx="12192000" cy="95250"/>
          </a:xfrm>
          <a:prstGeom prst="rect">
            <a:avLst/>
          </a:prstGeom>
          <a:solidFill>
            <a:srgbClr val="12B7E6"/>
          </a:solidFill>
          <a:ln w="0">
            <a:noFill/>
          </a:ln>
        </p:spPr>
        <p:txBody>
          <a:bodyPr/>
          <a:lstStyle/>
          <a:p>
            <a:endParaRPr lang="en-ID"/>
          </a:p>
        </p:txBody>
      </p:sp>
      <p:sp>
        <p:nvSpPr>
          <p:cNvPr id="2" name="Rectangle 1">
            <a:extLst>
              <a:ext uri="{FF2B5EF4-FFF2-40B4-BE49-F238E27FC236}">
                <a16:creationId xmlns:a16="http://schemas.microsoft.com/office/drawing/2014/main" id="{9617FDC3-2C88-4168-9A1D-90AA76CCF90A}"/>
              </a:ext>
            </a:extLst>
          </p:cNvPr>
          <p:cNvSpPr>
            <a:spLocks noGrp="1"/>
          </p:cNvSpPr>
          <p:nvPr/>
        </p:nvSpPr>
        <p:spPr>
          <a:xfrm>
            <a:off x="609600" y="361950"/>
            <a:ext cx="10668000" cy="514350"/>
          </a:xfrm>
          <a:prstGeom prst="rect">
            <a:avLst/>
          </a:prstGeom>
          <a:noFill/>
          <a:ln w="0">
            <a:noFill/>
          </a:ln>
        </p:spPr>
        <p:txBody>
          <a:bodyPr wrap="square" lIns="0" tIns="0" rIns="0" bIns="0" anchor="t">
            <a:normAutofit/>
          </a:bodyPr>
          <a:lstStyle/>
          <a:p>
            <a:pPr algn="l">
              <a:lnSpc>
                <a:spcPct val="100000"/>
              </a:lnSpc>
              <a:buNone/>
              <a:defRPr sz="3150" b="1">
                <a:solidFill>
                  <a:srgbClr val="071A2B"/>
                </a:solidFill>
                <a:latin typeface="Aptos"/>
                <a:ea typeface="Aptos"/>
                <a:cs typeface="Aptos"/>
              </a:defRPr>
            </a:pPr>
            <a:r>
              <a:rPr sz="3150" b="1">
                <a:solidFill>
                  <a:srgbClr val="071A2B"/>
                </a:solidFill>
                <a:latin typeface="Aptos"/>
                <a:ea typeface="Aptos"/>
                <a:cs typeface="Aptos"/>
              </a:rPr>
              <a:t>Target connection to SAP</a:t>
            </a:r>
          </a:p>
        </p:txBody>
      </p:sp>
      <p:sp>
        <p:nvSpPr>
          <p:cNvPr id="3" name="Rectangle 2">
            <a:extLst>
              <a:ext uri="{FF2B5EF4-FFF2-40B4-BE49-F238E27FC236}">
                <a16:creationId xmlns:a16="http://schemas.microsoft.com/office/drawing/2014/main" id="{6F49E95C-1795-43AE-BE11-052C29BA887B}"/>
              </a:ext>
            </a:extLst>
          </p:cNvPr>
          <p:cNvSpPr>
            <a:spLocks noGrp="1"/>
          </p:cNvSpPr>
          <p:nvPr/>
        </p:nvSpPr>
        <p:spPr>
          <a:xfrm>
            <a:off x="628650" y="914400"/>
            <a:ext cx="10287000" cy="323850"/>
          </a:xfrm>
          <a:prstGeom prst="rect">
            <a:avLst/>
          </a:prstGeom>
          <a:noFill/>
          <a:ln w="0">
            <a:noFill/>
          </a:ln>
        </p:spPr>
        <p:txBody>
          <a:bodyPr wrap="square" lIns="0" tIns="0" rIns="0" bIns="0" anchor="t">
            <a:normAutofit/>
          </a:bodyPr>
          <a:lstStyle/>
          <a:p>
            <a:pPr algn="l">
              <a:lnSpc>
                <a:spcPct val="100000"/>
              </a:lnSpc>
              <a:buNone/>
              <a:defRPr sz="1500" b="0">
                <a:solidFill>
                  <a:srgbClr val="536575"/>
                </a:solidFill>
                <a:latin typeface="Aptos"/>
                <a:ea typeface="Aptos"/>
                <a:cs typeface="Aptos"/>
              </a:defRPr>
            </a:pPr>
            <a:r>
              <a:rPr sz="1500" b="0">
                <a:solidFill>
                  <a:srgbClr val="536575"/>
                </a:solidFill>
                <a:latin typeface="Aptos"/>
                <a:ea typeface="Aptos"/>
                <a:cs typeface="Aptos"/>
              </a:rPr>
              <a:t>SAP holds the business records. NOVA provides the shopfloor screens, scanning, and transaction status</a:t>
            </a:r>
          </a:p>
        </p:txBody>
      </p:sp>
      <p:sp>
        <p:nvSpPr>
          <p:cNvPr id="4" name="Rectangle: Rounded Corners 3">
            <a:extLst>
              <a:ext uri="{FF2B5EF4-FFF2-40B4-BE49-F238E27FC236}">
                <a16:creationId xmlns:a16="http://schemas.microsoft.com/office/drawing/2014/main" id="{489DDCF1-5784-48CB-8542-7ACDC0680C6E}"/>
              </a:ext>
            </a:extLst>
          </p:cNvPr>
          <p:cNvSpPr>
            <a:spLocks noGrp="1"/>
          </p:cNvSpPr>
          <p:nvPr/>
        </p:nvSpPr>
        <p:spPr>
          <a:xfrm>
            <a:off x="4229100" y="1485900"/>
            <a:ext cx="3733800" cy="1314450"/>
          </a:xfrm>
          <a:prstGeom prst="roundRect">
            <a:avLst>
              <a:gd name="adj" fmla="val 5797"/>
            </a:avLst>
          </a:prstGeom>
          <a:solidFill>
            <a:srgbClr val="0E2C47"/>
          </a:solidFill>
          <a:ln w="0">
            <a:noFill/>
          </a:ln>
        </p:spPr>
        <p:txBody>
          <a:bodyPr/>
          <a:lstStyle/>
          <a:p>
            <a:endParaRPr lang="en-ID"/>
          </a:p>
        </p:txBody>
      </p:sp>
      <p:sp>
        <p:nvSpPr>
          <p:cNvPr id="5" name="Rectangle 4">
            <a:extLst>
              <a:ext uri="{FF2B5EF4-FFF2-40B4-BE49-F238E27FC236}">
                <a16:creationId xmlns:a16="http://schemas.microsoft.com/office/drawing/2014/main" id="{D263EA3A-4A0F-4E56-9211-598AA446CEE5}"/>
              </a:ext>
            </a:extLst>
          </p:cNvPr>
          <p:cNvSpPr>
            <a:spLocks noGrp="1"/>
          </p:cNvSpPr>
          <p:nvPr/>
        </p:nvSpPr>
        <p:spPr>
          <a:xfrm>
            <a:off x="4229100" y="1676400"/>
            <a:ext cx="3733800" cy="495300"/>
          </a:xfrm>
          <a:prstGeom prst="rect">
            <a:avLst/>
          </a:prstGeom>
          <a:noFill/>
          <a:ln w="0">
            <a:noFill/>
          </a:ln>
        </p:spPr>
        <p:txBody>
          <a:bodyPr wrap="square" lIns="0" tIns="0" rIns="0" bIns="0" anchor="ctr">
            <a:normAutofit fontScale="90278"/>
          </a:bodyPr>
          <a:lstStyle/>
          <a:p>
            <a:pPr algn="ctr">
              <a:lnSpc>
                <a:spcPct val="100000"/>
              </a:lnSpc>
              <a:buNone/>
              <a:defRPr sz="3600" b="1">
                <a:solidFill>
                  <a:srgbClr val="FFFFFF"/>
                </a:solidFill>
                <a:latin typeface="Aptos"/>
                <a:ea typeface="Aptos"/>
                <a:cs typeface="Aptos"/>
              </a:defRPr>
            </a:pPr>
            <a:r>
              <a:rPr sz="3600" b="1">
                <a:solidFill>
                  <a:srgbClr val="FFFFFF"/>
                </a:solidFill>
                <a:latin typeface="Aptos"/>
                <a:ea typeface="Aptos"/>
                <a:cs typeface="Aptos"/>
              </a:rPr>
              <a:t>SAP</a:t>
            </a:r>
          </a:p>
        </p:txBody>
      </p:sp>
      <p:sp>
        <p:nvSpPr>
          <p:cNvPr id="6" name="Rectangle 5">
            <a:extLst>
              <a:ext uri="{FF2B5EF4-FFF2-40B4-BE49-F238E27FC236}">
                <a16:creationId xmlns:a16="http://schemas.microsoft.com/office/drawing/2014/main" id="{65684090-E8C9-4D13-908D-459389D9706B}"/>
              </a:ext>
            </a:extLst>
          </p:cNvPr>
          <p:cNvSpPr>
            <a:spLocks noGrp="1"/>
          </p:cNvSpPr>
          <p:nvPr/>
        </p:nvSpPr>
        <p:spPr>
          <a:xfrm>
            <a:off x="4229100" y="2266950"/>
            <a:ext cx="3733800" cy="285750"/>
          </a:xfrm>
          <a:prstGeom prst="rect">
            <a:avLst/>
          </a:prstGeom>
          <a:noFill/>
          <a:ln w="0">
            <a:noFill/>
          </a:ln>
        </p:spPr>
        <p:txBody>
          <a:bodyPr wrap="square" lIns="0" tIns="0" rIns="0" bIns="0" anchor="t">
            <a:normAutofit/>
          </a:bodyPr>
          <a:lstStyle/>
          <a:p>
            <a:pPr algn="ctr">
              <a:lnSpc>
                <a:spcPct val="100000"/>
              </a:lnSpc>
              <a:buNone/>
              <a:defRPr sz="1500" b="0">
                <a:solidFill>
                  <a:srgbClr val="CFE8F7"/>
                </a:solidFill>
                <a:latin typeface="Aptos"/>
                <a:ea typeface="Aptos"/>
                <a:cs typeface="Aptos"/>
              </a:defRPr>
            </a:pPr>
            <a:r>
              <a:rPr sz="1500" b="0">
                <a:solidFill>
                  <a:srgbClr val="CFE8F7"/>
                </a:solidFill>
                <a:latin typeface="Aptos"/>
                <a:ea typeface="Aptos"/>
                <a:cs typeface="Aptos"/>
              </a:rPr>
              <a:t>Inventory and accounting record</a:t>
            </a:r>
          </a:p>
        </p:txBody>
      </p:sp>
      <p:sp>
        <p:nvSpPr>
          <p:cNvPr id="7" name="Rectangle: Rounded Corners 6">
            <a:extLst>
              <a:ext uri="{FF2B5EF4-FFF2-40B4-BE49-F238E27FC236}">
                <a16:creationId xmlns:a16="http://schemas.microsoft.com/office/drawing/2014/main" id="{1C50C9AC-4B44-4A40-A228-AC63F0BFD27A}"/>
              </a:ext>
            </a:extLst>
          </p:cNvPr>
          <p:cNvSpPr>
            <a:spLocks noGrp="1"/>
          </p:cNvSpPr>
          <p:nvPr/>
        </p:nvSpPr>
        <p:spPr>
          <a:xfrm>
            <a:off x="4229100" y="4171950"/>
            <a:ext cx="3733800" cy="1162050"/>
          </a:xfrm>
          <a:prstGeom prst="roundRect">
            <a:avLst>
              <a:gd name="adj" fmla="val 6557"/>
            </a:avLst>
          </a:prstGeom>
          <a:solidFill>
            <a:srgbClr val="EAF5FB"/>
          </a:solidFill>
          <a:ln w="28575">
            <a:solidFill>
              <a:srgbClr val="12B7E6"/>
            </a:solidFill>
            <a:prstDash val="solid"/>
          </a:ln>
        </p:spPr>
        <p:txBody>
          <a:bodyPr/>
          <a:lstStyle/>
          <a:p>
            <a:endParaRPr lang="en-ID"/>
          </a:p>
        </p:txBody>
      </p:sp>
      <p:sp>
        <p:nvSpPr>
          <p:cNvPr id="8" name="Rectangle 7">
            <a:extLst>
              <a:ext uri="{FF2B5EF4-FFF2-40B4-BE49-F238E27FC236}">
                <a16:creationId xmlns:a16="http://schemas.microsoft.com/office/drawing/2014/main" id="{41998BFB-FB56-4EEB-9ECD-335A05EFF83E}"/>
              </a:ext>
            </a:extLst>
          </p:cNvPr>
          <p:cNvSpPr>
            <a:spLocks noGrp="1"/>
          </p:cNvSpPr>
          <p:nvPr/>
        </p:nvSpPr>
        <p:spPr>
          <a:xfrm>
            <a:off x="4229100" y="4362450"/>
            <a:ext cx="3733800" cy="381000"/>
          </a:xfrm>
          <a:prstGeom prst="rect">
            <a:avLst/>
          </a:prstGeom>
          <a:noFill/>
          <a:ln w="0">
            <a:noFill/>
          </a:ln>
        </p:spPr>
        <p:txBody>
          <a:bodyPr wrap="square" lIns="0" tIns="0" rIns="0" bIns="0" anchor="t">
            <a:normAutofit/>
          </a:bodyPr>
          <a:lstStyle/>
          <a:p>
            <a:pPr algn="ctr">
              <a:lnSpc>
                <a:spcPct val="100000"/>
              </a:lnSpc>
              <a:buNone/>
              <a:defRPr sz="2250" b="1">
                <a:solidFill>
                  <a:srgbClr val="071A2B"/>
                </a:solidFill>
                <a:latin typeface="Aptos"/>
                <a:ea typeface="Aptos"/>
                <a:cs typeface="Aptos"/>
              </a:defRPr>
            </a:pPr>
            <a:r>
              <a:rPr sz="2250" b="1">
                <a:solidFill>
                  <a:srgbClr val="071A2B"/>
                </a:solidFill>
                <a:latin typeface="Aptos"/>
                <a:ea typeface="Aptos"/>
                <a:cs typeface="Aptos"/>
              </a:rPr>
              <a:t>NOVA Shopfloor MES</a:t>
            </a:r>
          </a:p>
        </p:txBody>
      </p:sp>
      <p:sp>
        <p:nvSpPr>
          <p:cNvPr id="9" name="Rectangle 8">
            <a:extLst>
              <a:ext uri="{FF2B5EF4-FFF2-40B4-BE49-F238E27FC236}">
                <a16:creationId xmlns:a16="http://schemas.microsoft.com/office/drawing/2014/main" id="{D662CF56-E28C-4BD8-9775-512CA9B98490}"/>
              </a:ext>
            </a:extLst>
          </p:cNvPr>
          <p:cNvSpPr>
            <a:spLocks noGrp="1"/>
          </p:cNvSpPr>
          <p:nvPr/>
        </p:nvSpPr>
        <p:spPr>
          <a:xfrm>
            <a:off x="4514850" y="4838700"/>
            <a:ext cx="3162300" cy="342900"/>
          </a:xfrm>
          <a:prstGeom prst="rect">
            <a:avLst/>
          </a:prstGeom>
          <a:noFill/>
          <a:ln w="0">
            <a:noFill/>
          </a:ln>
        </p:spPr>
        <p:txBody>
          <a:bodyPr wrap="square" lIns="0" tIns="0" rIns="0" bIns="0" anchor="t">
            <a:normAutofit fontScale="83333"/>
          </a:bodyPr>
          <a:lstStyle/>
          <a:p>
            <a:pPr algn="ctr">
              <a:lnSpc>
                <a:spcPct val="100000"/>
              </a:lnSpc>
              <a:buNone/>
              <a:defRPr sz="1350" b="0">
                <a:solidFill>
                  <a:srgbClr val="536575"/>
                </a:solidFill>
                <a:latin typeface="Aptos"/>
                <a:ea typeface="Aptos"/>
                <a:cs typeface="Aptos"/>
              </a:defRPr>
            </a:pPr>
            <a:r>
              <a:rPr sz="1350" b="0">
                <a:solidFill>
                  <a:srgbClr val="536575"/>
                </a:solidFill>
                <a:latin typeface="Aptos"/>
                <a:ea typeface="Aptos"/>
                <a:cs typeface="Aptos"/>
              </a:rPr>
              <a:t>Operator screens, scanning, checks, and integration status</a:t>
            </a:r>
          </a:p>
        </p:txBody>
      </p:sp>
      <p:sp>
        <p:nvSpPr>
          <p:cNvPr id="10" name="Rectangle: Rounded Corners 9">
            <a:extLst>
              <a:ext uri="{FF2B5EF4-FFF2-40B4-BE49-F238E27FC236}">
                <a16:creationId xmlns:a16="http://schemas.microsoft.com/office/drawing/2014/main" id="{6018EB6F-A99E-4B39-8D02-F0FB107CEB4B}"/>
              </a:ext>
            </a:extLst>
          </p:cNvPr>
          <p:cNvSpPr>
            <a:spLocks noGrp="1"/>
          </p:cNvSpPr>
          <p:nvPr/>
        </p:nvSpPr>
        <p:spPr>
          <a:xfrm>
            <a:off x="666750" y="2457450"/>
            <a:ext cx="2686050" cy="1581150"/>
          </a:xfrm>
          <a:prstGeom prst="roundRect">
            <a:avLst>
              <a:gd name="adj" fmla="val 4819"/>
            </a:avLst>
          </a:prstGeom>
          <a:solidFill>
            <a:srgbClr val="F3F6F9"/>
          </a:solidFill>
          <a:ln w="9525">
            <a:solidFill>
              <a:srgbClr val="D5DEE6"/>
            </a:solidFill>
            <a:prstDash val="solid"/>
          </a:ln>
        </p:spPr>
        <p:txBody>
          <a:bodyPr/>
          <a:lstStyle/>
          <a:p>
            <a:endParaRPr lang="en-ID"/>
          </a:p>
        </p:txBody>
      </p:sp>
      <p:sp>
        <p:nvSpPr>
          <p:cNvPr id="11" name="Rectangle 10">
            <a:extLst>
              <a:ext uri="{FF2B5EF4-FFF2-40B4-BE49-F238E27FC236}">
                <a16:creationId xmlns:a16="http://schemas.microsoft.com/office/drawing/2014/main" id="{B3C363A9-47E1-436B-8692-8DE00B438453}"/>
              </a:ext>
            </a:extLst>
          </p:cNvPr>
          <p:cNvSpPr>
            <a:spLocks noGrp="1"/>
          </p:cNvSpPr>
          <p:nvPr/>
        </p:nvSpPr>
        <p:spPr>
          <a:xfrm>
            <a:off x="895350" y="2667000"/>
            <a:ext cx="2228850" cy="323850"/>
          </a:xfrm>
          <a:prstGeom prst="rect">
            <a:avLst/>
          </a:prstGeom>
          <a:noFill/>
          <a:ln w="0">
            <a:noFill/>
          </a:ln>
        </p:spPr>
        <p:txBody>
          <a:bodyPr wrap="square" lIns="0" tIns="0" rIns="0" bIns="0" anchor="t">
            <a:normAutofit/>
          </a:bodyPr>
          <a:lstStyle/>
          <a:p>
            <a:pPr algn="l">
              <a:lnSpc>
                <a:spcPct val="100000"/>
              </a:lnSpc>
              <a:buNone/>
              <a:defRPr sz="1875" b="1">
                <a:solidFill>
                  <a:srgbClr val="0B5CAD"/>
                </a:solidFill>
                <a:latin typeface="Aptos"/>
                <a:ea typeface="Aptos"/>
                <a:cs typeface="Aptos"/>
              </a:defRPr>
            </a:pPr>
            <a:r>
              <a:rPr sz="1875" b="1">
                <a:solidFill>
                  <a:srgbClr val="0B5CAD"/>
                </a:solidFill>
                <a:latin typeface="Aptos"/>
                <a:ea typeface="Aptos"/>
                <a:cs typeface="Aptos"/>
              </a:rPr>
              <a:t>SAP sends</a:t>
            </a:r>
          </a:p>
        </p:txBody>
      </p:sp>
      <p:sp>
        <p:nvSpPr>
          <p:cNvPr id="12" name="Rectangle 11">
            <a:extLst>
              <a:ext uri="{FF2B5EF4-FFF2-40B4-BE49-F238E27FC236}">
                <a16:creationId xmlns:a16="http://schemas.microsoft.com/office/drawing/2014/main" id="{A765108C-A06A-4589-A347-66EBB5D12177}"/>
              </a:ext>
            </a:extLst>
          </p:cNvPr>
          <p:cNvSpPr>
            <a:spLocks noGrp="1"/>
          </p:cNvSpPr>
          <p:nvPr/>
        </p:nvSpPr>
        <p:spPr>
          <a:xfrm>
            <a:off x="895350" y="3143250"/>
            <a:ext cx="2228850" cy="723900"/>
          </a:xfrm>
          <a:prstGeom prst="rect">
            <a:avLst/>
          </a:prstGeom>
          <a:noFill/>
          <a:ln w="0">
            <a:noFill/>
          </a:ln>
        </p:spPr>
        <p:txBody>
          <a:bodyPr wrap="square" lIns="0" tIns="0" rIns="0" bIns="0" anchor="t">
            <a:normAutofit fontScale="97466"/>
          </a:bodyPr>
          <a:lstStyle/>
          <a:p>
            <a:pPr algn="l">
              <a:lnSpc>
                <a:spcPct val="114000"/>
              </a:lnSpc>
              <a:buNone/>
              <a:defRPr sz="1425" b="0">
                <a:solidFill>
                  <a:srgbClr val="142433"/>
                </a:solidFill>
                <a:latin typeface="Aptos"/>
                <a:ea typeface="Aptos"/>
                <a:cs typeface="Aptos"/>
              </a:defRPr>
            </a:pPr>
            <a:r>
              <a:rPr sz="1425" b="0">
                <a:solidFill>
                  <a:srgbClr val="142433"/>
                </a:solidFill>
                <a:latin typeface="Aptos"/>
                <a:ea typeface="Aptos"/>
                <a:cs typeface="Aptos"/>
              </a:rPr>
              <a:t>Material and BOM master</a:t>
            </a:r>
          </a:p>
          <a:p>
            <a:pPr algn="l">
              <a:lnSpc>
                <a:spcPct val="114000"/>
              </a:lnSpc>
              <a:buNone/>
              <a:defRPr sz="1425" b="0">
                <a:solidFill>
                  <a:srgbClr val="142433"/>
                </a:solidFill>
                <a:latin typeface="Aptos"/>
                <a:ea typeface="Aptos"/>
                <a:cs typeface="Aptos"/>
              </a:defRPr>
            </a:pPr>
            <a:r>
              <a:rPr sz="1425" b="0">
                <a:solidFill>
                  <a:srgbClr val="142433"/>
                </a:solidFill>
                <a:latin typeface="Aptos"/>
                <a:ea typeface="Aptos"/>
                <a:cs typeface="Aptos"/>
              </a:rPr>
              <a:t>Production orders</a:t>
            </a:r>
          </a:p>
          <a:p>
            <a:pPr algn="l">
              <a:lnSpc>
                <a:spcPct val="114000"/>
              </a:lnSpc>
              <a:buNone/>
              <a:defRPr sz="1425" b="0">
                <a:solidFill>
                  <a:srgbClr val="142433"/>
                </a:solidFill>
                <a:latin typeface="Aptos"/>
                <a:ea typeface="Aptos"/>
                <a:cs typeface="Aptos"/>
              </a:defRPr>
            </a:pPr>
            <a:r>
              <a:rPr sz="1425" b="0">
                <a:solidFill>
                  <a:srgbClr val="142433"/>
                </a:solidFill>
                <a:latin typeface="Aptos"/>
                <a:ea typeface="Aptos"/>
                <a:cs typeface="Aptos"/>
              </a:rPr>
              <a:t>Stock and document status</a:t>
            </a:r>
          </a:p>
        </p:txBody>
      </p:sp>
      <p:sp>
        <p:nvSpPr>
          <p:cNvPr id="13" name="Rectangle: Rounded Corners 12">
            <a:extLst>
              <a:ext uri="{FF2B5EF4-FFF2-40B4-BE49-F238E27FC236}">
                <a16:creationId xmlns:a16="http://schemas.microsoft.com/office/drawing/2014/main" id="{FE151B83-3FD1-4477-A395-F5A580080B6B}"/>
              </a:ext>
            </a:extLst>
          </p:cNvPr>
          <p:cNvSpPr>
            <a:spLocks noGrp="1"/>
          </p:cNvSpPr>
          <p:nvPr/>
        </p:nvSpPr>
        <p:spPr>
          <a:xfrm>
            <a:off x="8839200" y="2266950"/>
            <a:ext cx="2686050" cy="1962150"/>
          </a:xfrm>
          <a:prstGeom prst="roundRect">
            <a:avLst>
              <a:gd name="adj" fmla="val 3883"/>
            </a:avLst>
          </a:prstGeom>
          <a:solidFill>
            <a:srgbClr val="F3F6F9"/>
          </a:solidFill>
          <a:ln w="9525">
            <a:solidFill>
              <a:srgbClr val="D5DEE6"/>
            </a:solidFill>
            <a:prstDash val="solid"/>
          </a:ln>
        </p:spPr>
        <p:txBody>
          <a:bodyPr/>
          <a:lstStyle/>
          <a:p>
            <a:endParaRPr lang="en-ID"/>
          </a:p>
        </p:txBody>
      </p:sp>
      <p:sp>
        <p:nvSpPr>
          <p:cNvPr id="14" name="Rectangle 13">
            <a:extLst>
              <a:ext uri="{FF2B5EF4-FFF2-40B4-BE49-F238E27FC236}">
                <a16:creationId xmlns:a16="http://schemas.microsoft.com/office/drawing/2014/main" id="{73A83765-BBDF-4F86-8460-57C2DA12666C}"/>
              </a:ext>
            </a:extLst>
          </p:cNvPr>
          <p:cNvSpPr>
            <a:spLocks noGrp="1"/>
          </p:cNvSpPr>
          <p:nvPr/>
        </p:nvSpPr>
        <p:spPr>
          <a:xfrm>
            <a:off x="9067800" y="2476500"/>
            <a:ext cx="2228850" cy="323850"/>
          </a:xfrm>
          <a:prstGeom prst="rect">
            <a:avLst/>
          </a:prstGeom>
          <a:noFill/>
          <a:ln w="0">
            <a:noFill/>
          </a:ln>
        </p:spPr>
        <p:txBody>
          <a:bodyPr wrap="square" lIns="0" tIns="0" rIns="0" bIns="0" anchor="t">
            <a:normAutofit/>
          </a:bodyPr>
          <a:lstStyle/>
          <a:p>
            <a:pPr algn="l">
              <a:lnSpc>
                <a:spcPct val="100000"/>
              </a:lnSpc>
              <a:buNone/>
              <a:defRPr sz="1875" b="1">
                <a:solidFill>
                  <a:srgbClr val="23845B"/>
                </a:solidFill>
                <a:latin typeface="Aptos"/>
                <a:ea typeface="Aptos"/>
                <a:cs typeface="Aptos"/>
              </a:defRPr>
            </a:pPr>
            <a:r>
              <a:rPr sz="1875" b="1">
                <a:solidFill>
                  <a:srgbClr val="23845B"/>
                </a:solidFill>
                <a:latin typeface="Aptos"/>
                <a:ea typeface="Aptos"/>
                <a:cs typeface="Aptos"/>
              </a:rPr>
              <a:t>NOVA sends</a:t>
            </a:r>
          </a:p>
        </p:txBody>
      </p:sp>
      <p:sp>
        <p:nvSpPr>
          <p:cNvPr id="15" name="Rectangle 14">
            <a:extLst>
              <a:ext uri="{FF2B5EF4-FFF2-40B4-BE49-F238E27FC236}">
                <a16:creationId xmlns:a16="http://schemas.microsoft.com/office/drawing/2014/main" id="{566D5A25-5092-4772-BE77-21800746BE58}"/>
              </a:ext>
            </a:extLst>
          </p:cNvPr>
          <p:cNvSpPr>
            <a:spLocks noGrp="1"/>
          </p:cNvSpPr>
          <p:nvPr/>
        </p:nvSpPr>
        <p:spPr>
          <a:xfrm>
            <a:off x="9067800" y="2952750"/>
            <a:ext cx="2228850" cy="1066800"/>
          </a:xfrm>
          <a:prstGeom prst="rect">
            <a:avLst/>
          </a:prstGeom>
          <a:noFill/>
          <a:ln w="0">
            <a:noFill/>
          </a:ln>
        </p:spPr>
        <p:txBody>
          <a:bodyPr wrap="square" lIns="0" tIns="0" rIns="0" bIns="0" anchor="t">
            <a:normAutofit fontScale="94269"/>
          </a:bodyPr>
          <a:lstStyle/>
          <a:p>
            <a:pPr algn="l">
              <a:lnSpc>
                <a:spcPct val="114000"/>
              </a:lnSpc>
              <a:buNone/>
              <a:defRPr sz="1350" b="0">
                <a:solidFill>
                  <a:srgbClr val="142433"/>
                </a:solidFill>
                <a:latin typeface="Aptos"/>
                <a:ea typeface="Aptos"/>
                <a:cs typeface="Aptos"/>
              </a:defRPr>
            </a:pPr>
            <a:r>
              <a:rPr sz="1350" b="0">
                <a:solidFill>
                  <a:srgbClr val="142433"/>
                </a:solidFill>
                <a:latin typeface="Aptos"/>
                <a:ea typeface="Aptos"/>
                <a:cs typeface="Aptos"/>
              </a:rPr>
              <a:t>Material receipt and consumption</a:t>
            </a:r>
          </a:p>
          <a:p>
            <a:pPr algn="l">
              <a:lnSpc>
                <a:spcPct val="114000"/>
              </a:lnSpc>
              <a:buNone/>
              <a:defRPr sz="1350" b="0">
                <a:solidFill>
                  <a:srgbClr val="142433"/>
                </a:solidFill>
                <a:latin typeface="Aptos"/>
                <a:ea typeface="Aptos"/>
                <a:cs typeface="Aptos"/>
              </a:defRPr>
            </a:pPr>
            <a:r>
              <a:rPr sz="1350" b="0">
                <a:solidFill>
                  <a:srgbClr val="142433"/>
                </a:solidFill>
                <a:latin typeface="Aptos"/>
                <a:ea typeface="Aptos"/>
                <a:cs typeface="Aptos"/>
              </a:rPr>
              <a:t>Production confirmation and FG receipt</a:t>
            </a:r>
          </a:p>
          <a:p>
            <a:pPr algn="l">
              <a:lnSpc>
                <a:spcPct val="114000"/>
              </a:lnSpc>
              <a:buNone/>
              <a:defRPr sz="1350" b="0">
                <a:solidFill>
                  <a:srgbClr val="142433"/>
                </a:solidFill>
                <a:latin typeface="Aptos"/>
                <a:ea typeface="Aptos"/>
                <a:cs typeface="Aptos"/>
              </a:defRPr>
            </a:pPr>
            <a:r>
              <a:rPr sz="1350" b="0">
                <a:solidFill>
                  <a:srgbClr val="142433"/>
                </a:solidFill>
                <a:latin typeface="Aptos"/>
                <a:ea typeface="Aptos"/>
                <a:cs typeface="Aptos"/>
              </a:rPr>
              <a:t>FG delivery posting</a:t>
            </a:r>
          </a:p>
        </p:txBody>
      </p:sp>
      <p:cxnSp>
        <p:nvCxnSpPr>
          <p:cNvPr id="39" name="Straight Arrow Connector 38"/>
          <p:cNvCxnSpPr>
            <a:stCxn id="4" idx="2"/>
            <a:endCxn id="7" idx="0"/>
          </p:cNvCxnSpPr>
          <p:nvPr/>
        </p:nvCxnSpPr>
        <p:spPr>
          <a:xfrm>
            <a:off x="6096000" y="2800350"/>
            <a:ext cx="0" cy="1371600"/>
          </a:xfrm>
          <a:prstGeom prst="straightConnector1">
            <a:avLst/>
          </a:prstGeom>
          <a:ln w="28575">
            <a:solidFill>
              <a:srgbClr val="12B7E6"/>
            </a:solidFill>
            <a:prstDash val="solid"/>
            <a:headEnd type="triangle" w="med" len="med"/>
            <a:tailEnd type="triangle" w="med" len="med"/>
          </a:ln>
        </p:spPr>
      </p:cxnSp>
      <p:sp>
        <p:nvSpPr>
          <p:cNvPr id="17" name="Rectangle 16">
            <a:extLst>
              <a:ext uri="{FF2B5EF4-FFF2-40B4-BE49-F238E27FC236}">
                <a16:creationId xmlns:a16="http://schemas.microsoft.com/office/drawing/2014/main" id="{0774D261-66FA-4C30-9DC2-A7D0E7096B19}"/>
              </a:ext>
            </a:extLst>
          </p:cNvPr>
          <p:cNvSpPr>
            <a:spLocks noGrp="1"/>
          </p:cNvSpPr>
          <p:nvPr/>
        </p:nvSpPr>
        <p:spPr>
          <a:xfrm>
            <a:off x="4000500" y="3276600"/>
            <a:ext cx="1828800" cy="228600"/>
          </a:xfrm>
          <a:prstGeom prst="rect">
            <a:avLst/>
          </a:prstGeom>
          <a:noFill/>
          <a:ln w="0">
            <a:noFill/>
          </a:ln>
        </p:spPr>
        <p:txBody>
          <a:bodyPr wrap="square" lIns="0" tIns="0" rIns="0" bIns="0" anchor="t">
            <a:normAutofit/>
          </a:bodyPr>
          <a:lstStyle/>
          <a:p>
            <a:pPr algn="r">
              <a:lnSpc>
                <a:spcPct val="100000"/>
              </a:lnSpc>
              <a:buNone/>
              <a:defRPr sz="1200" b="1">
                <a:solidFill>
                  <a:srgbClr val="0B5CAD"/>
                </a:solidFill>
                <a:latin typeface="Aptos"/>
                <a:ea typeface="Aptos"/>
                <a:cs typeface="Aptos"/>
              </a:defRPr>
            </a:pPr>
            <a:r>
              <a:rPr sz="1200" b="1">
                <a:solidFill>
                  <a:srgbClr val="0B5CAD"/>
                </a:solidFill>
                <a:latin typeface="Aptos"/>
                <a:ea typeface="Aptos"/>
                <a:cs typeface="Aptos"/>
              </a:rPr>
              <a:t>Master data and orders</a:t>
            </a:r>
          </a:p>
        </p:txBody>
      </p:sp>
      <p:sp>
        <p:nvSpPr>
          <p:cNvPr id="18" name="Rectangle 17">
            <a:extLst>
              <a:ext uri="{FF2B5EF4-FFF2-40B4-BE49-F238E27FC236}">
                <a16:creationId xmlns:a16="http://schemas.microsoft.com/office/drawing/2014/main" id="{74317C35-8D00-4D51-9BB7-795842BA9AB9}"/>
              </a:ext>
            </a:extLst>
          </p:cNvPr>
          <p:cNvSpPr>
            <a:spLocks noGrp="1"/>
          </p:cNvSpPr>
          <p:nvPr/>
        </p:nvSpPr>
        <p:spPr>
          <a:xfrm>
            <a:off x="6419850" y="3714750"/>
            <a:ext cx="1752600" cy="228600"/>
          </a:xfrm>
          <a:prstGeom prst="rect">
            <a:avLst/>
          </a:prstGeom>
          <a:noFill/>
          <a:ln w="0">
            <a:noFill/>
          </a:ln>
        </p:spPr>
        <p:txBody>
          <a:bodyPr wrap="square" lIns="0" tIns="0" rIns="0" bIns="0" anchor="t">
            <a:normAutofit/>
          </a:bodyPr>
          <a:lstStyle/>
          <a:p>
            <a:pPr algn="l">
              <a:lnSpc>
                <a:spcPct val="100000"/>
              </a:lnSpc>
              <a:buNone/>
              <a:defRPr sz="1200" b="1">
                <a:solidFill>
                  <a:srgbClr val="23845B"/>
                </a:solidFill>
                <a:latin typeface="Aptos"/>
                <a:ea typeface="Aptos"/>
                <a:cs typeface="Aptos"/>
              </a:defRPr>
            </a:pPr>
            <a:r>
              <a:rPr sz="1200" b="1">
                <a:solidFill>
                  <a:srgbClr val="23845B"/>
                </a:solidFill>
                <a:latin typeface="Aptos"/>
                <a:ea typeface="Aptos"/>
                <a:cs typeface="Aptos"/>
              </a:rPr>
              <a:t>Posted transactions</a:t>
            </a:r>
          </a:p>
        </p:txBody>
      </p:sp>
      <p:sp>
        <p:nvSpPr>
          <p:cNvPr id="19" name="Rectangle: Rounded Corners 18">
            <a:extLst>
              <a:ext uri="{FF2B5EF4-FFF2-40B4-BE49-F238E27FC236}">
                <a16:creationId xmlns:a16="http://schemas.microsoft.com/office/drawing/2014/main" id="{CDD7F64E-976E-401D-BC2F-755EA562198C}"/>
              </a:ext>
            </a:extLst>
          </p:cNvPr>
          <p:cNvSpPr>
            <a:spLocks noGrp="1"/>
          </p:cNvSpPr>
          <p:nvPr/>
        </p:nvSpPr>
        <p:spPr>
          <a:xfrm>
            <a:off x="1562100" y="5619750"/>
            <a:ext cx="9067800" cy="552450"/>
          </a:xfrm>
          <a:prstGeom prst="roundRect">
            <a:avLst>
              <a:gd name="adj" fmla="val 13793"/>
            </a:avLst>
          </a:prstGeom>
          <a:solidFill>
            <a:srgbClr val="FBEDEE"/>
          </a:solidFill>
          <a:ln w="0">
            <a:noFill/>
          </a:ln>
        </p:spPr>
        <p:txBody>
          <a:bodyPr/>
          <a:lstStyle/>
          <a:p>
            <a:endParaRPr lang="en-ID"/>
          </a:p>
        </p:txBody>
      </p:sp>
      <p:sp>
        <p:nvSpPr>
          <p:cNvPr id="20" name="Rectangle 19">
            <a:extLst>
              <a:ext uri="{FF2B5EF4-FFF2-40B4-BE49-F238E27FC236}">
                <a16:creationId xmlns:a16="http://schemas.microsoft.com/office/drawing/2014/main" id="{067F3A69-665C-4E95-9964-E6E2BD081C24}"/>
              </a:ext>
            </a:extLst>
          </p:cNvPr>
          <p:cNvSpPr>
            <a:spLocks noGrp="1"/>
          </p:cNvSpPr>
          <p:nvPr/>
        </p:nvSpPr>
        <p:spPr>
          <a:xfrm>
            <a:off x="1847850" y="5743575"/>
            <a:ext cx="8496300" cy="304800"/>
          </a:xfrm>
          <a:prstGeom prst="rect">
            <a:avLst/>
          </a:prstGeom>
          <a:noFill/>
          <a:ln w="0">
            <a:noFill/>
          </a:ln>
        </p:spPr>
        <p:txBody>
          <a:bodyPr wrap="square" lIns="0" tIns="0" rIns="0" bIns="0" anchor="ctr">
            <a:normAutofit fontScale="80866"/>
          </a:bodyPr>
          <a:lstStyle/>
          <a:p>
            <a:pPr algn="ctr">
              <a:lnSpc>
                <a:spcPct val="100000"/>
              </a:lnSpc>
              <a:buNone/>
              <a:defRPr sz="1425" b="1">
                <a:solidFill>
                  <a:srgbClr val="D94141"/>
                </a:solidFill>
                <a:latin typeface="Aptos"/>
                <a:ea typeface="Aptos"/>
                <a:cs typeface="Aptos"/>
              </a:defRPr>
            </a:pPr>
            <a:r>
              <a:rPr sz="1425" b="1">
                <a:solidFill>
                  <a:srgbClr val="D94141"/>
                </a:solidFill>
                <a:latin typeface="Aptos"/>
                <a:ea typeface="Aptos"/>
                <a:cs typeface="Aptos"/>
              </a:rPr>
              <a:t>NOVA keeps only the technical data needed to run and monitor the interface. SAP remains the source for balances and business documents.</a:t>
            </a:r>
          </a:p>
        </p:txBody>
      </p:sp>
      <p:sp>
        <p:nvSpPr>
          <p:cNvPr id="21" name="Straight Connector 20">
            <a:extLst>
              <a:ext uri="{FF2B5EF4-FFF2-40B4-BE49-F238E27FC236}">
                <a16:creationId xmlns:a16="http://schemas.microsoft.com/office/drawing/2014/main" id="{7DF79B54-E7B9-4F9E-9D0A-F7B2472CF8C9}"/>
              </a:ext>
            </a:extLst>
          </p:cNvPr>
          <p:cNvSpPr>
            <a:spLocks noGrp="1"/>
          </p:cNvSpPr>
          <p:nvPr/>
        </p:nvSpPr>
        <p:spPr>
          <a:xfrm>
            <a:off x="609600" y="6486525"/>
            <a:ext cx="10972800" cy="0"/>
          </a:xfrm>
          <a:prstGeom prst="line">
            <a:avLst/>
          </a:prstGeom>
          <a:noFill/>
          <a:ln w="9525">
            <a:solidFill>
              <a:srgbClr val="D5DEE6"/>
            </a:solidFill>
            <a:prstDash val="solid"/>
          </a:ln>
        </p:spPr>
        <p:txBody>
          <a:bodyPr/>
          <a:lstStyle/>
          <a:p>
            <a:endParaRPr lang="en-ID"/>
          </a:p>
        </p:txBody>
      </p:sp>
      <p:sp>
        <p:nvSpPr>
          <p:cNvPr id="22" name="Rectangle 21">
            <a:extLst>
              <a:ext uri="{FF2B5EF4-FFF2-40B4-BE49-F238E27FC236}">
                <a16:creationId xmlns:a16="http://schemas.microsoft.com/office/drawing/2014/main" id="{DA5C3391-A887-4626-AB6B-C5CAF62CD7F1}"/>
              </a:ext>
            </a:extLst>
          </p:cNvPr>
          <p:cNvSpPr>
            <a:spLocks noGrp="1"/>
          </p:cNvSpPr>
          <p:nvPr/>
        </p:nvSpPr>
        <p:spPr>
          <a:xfrm>
            <a:off x="609600" y="6553200"/>
            <a:ext cx="4953000" cy="190500"/>
          </a:xfrm>
          <a:prstGeom prst="rect">
            <a:avLst/>
          </a:prstGeom>
          <a:noFill/>
          <a:ln w="0">
            <a:noFill/>
          </a:ln>
        </p:spPr>
        <p:txBody>
          <a:bodyPr wrap="square" lIns="0" tIns="0" rIns="0" bIns="0" anchor="t">
            <a:normAutofit/>
          </a:bodyPr>
          <a:lstStyle/>
          <a:p>
            <a:pPr algn="l">
              <a:lnSpc>
                <a:spcPct val="100000"/>
              </a:lnSpc>
              <a:buNone/>
              <a:defRPr sz="975" b="0">
                <a:solidFill>
                  <a:srgbClr val="536575"/>
                </a:solidFill>
                <a:latin typeface="Aptos"/>
                <a:ea typeface="Aptos"/>
                <a:cs typeface="Aptos"/>
              </a:defRPr>
            </a:pPr>
            <a:r>
              <a:rPr sz="975" b="0">
                <a:solidFill>
                  <a:srgbClr val="536575"/>
                </a:solidFill>
                <a:latin typeface="Aptos"/>
                <a:ea typeface="Aptos"/>
                <a:cs typeface="Aptos"/>
              </a:rPr>
              <a:t>ANSEI / NOVA Shopfloor MES / SAP</a:t>
            </a:r>
          </a:p>
        </p:txBody>
      </p:sp>
      <p:sp>
        <p:nvSpPr>
          <p:cNvPr id="23" name="Rectangle 22">
            <a:extLst>
              <a:ext uri="{FF2B5EF4-FFF2-40B4-BE49-F238E27FC236}">
                <a16:creationId xmlns:a16="http://schemas.microsoft.com/office/drawing/2014/main" id="{0C4E1A35-C30A-4823-8139-41FBE9C679E5}"/>
              </a:ext>
            </a:extLst>
          </p:cNvPr>
          <p:cNvSpPr>
            <a:spLocks noGrp="1"/>
          </p:cNvSpPr>
          <p:nvPr/>
        </p:nvSpPr>
        <p:spPr>
          <a:xfrm>
            <a:off x="11049000" y="6534150"/>
            <a:ext cx="533400" cy="209550"/>
          </a:xfrm>
          <a:prstGeom prst="rect">
            <a:avLst/>
          </a:prstGeom>
          <a:noFill/>
          <a:ln w="0">
            <a:noFill/>
          </a:ln>
        </p:spPr>
        <p:txBody>
          <a:bodyPr wrap="square" lIns="0" tIns="0" rIns="0" bIns="0" anchor="t">
            <a:normAutofit/>
          </a:bodyPr>
          <a:lstStyle/>
          <a:p>
            <a:pPr algn="r">
              <a:lnSpc>
                <a:spcPct val="100000"/>
              </a:lnSpc>
              <a:buNone/>
              <a:defRPr sz="1050" b="1">
                <a:solidFill>
                  <a:srgbClr val="0B5CAD"/>
                </a:solidFill>
                <a:latin typeface="Aptos"/>
                <a:ea typeface="Aptos"/>
                <a:cs typeface="Aptos"/>
              </a:defRPr>
            </a:pPr>
            <a:r>
              <a:rPr sz="1050" b="1">
                <a:solidFill>
                  <a:srgbClr val="0B5CAD"/>
                </a:solidFill>
                <a:latin typeface="Aptos"/>
                <a:ea typeface="Aptos"/>
                <a:cs typeface="Aptos"/>
              </a:rPr>
              <a:t>05</a:t>
            </a:r>
          </a:p>
        </p:txBody>
      </p:sp>
    </p:spTree>
    <p:extLst>
      <p:ext uri="{BB962C8B-B14F-4D97-AF65-F5344CB8AC3E}">
        <p14:creationId xmlns:p14="http://schemas.microsoft.com/office/powerpoint/2010/main" val="1547486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0975599-2837-4F01-A602-7775FBEFC41D}"/>
              </a:ext>
            </a:extLst>
          </p:cNvPr>
          <p:cNvSpPr>
            <a:spLocks noGrp="1"/>
          </p:cNvSpPr>
          <p:nvPr/>
        </p:nvSpPr>
        <p:spPr>
          <a:xfrm>
            <a:off x="0" y="0"/>
            <a:ext cx="12192000" cy="95250"/>
          </a:xfrm>
          <a:prstGeom prst="rect">
            <a:avLst/>
          </a:prstGeom>
          <a:solidFill>
            <a:srgbClr val="12B7E6"/>
          </a:solidFill>
          <a:ln w="0">
            <a:noFill/>
          </a:ln>
        </p:spPr>
        <p:txBody>
          <a:bodyPr/>
          <a:lstStyle/>
          <a:p>
            <a:endParaRPr lang="en-ID"/>
          </a:p>
        </p:txBody>
      </p:sp>
      <p:sp>
        <p:nvSpPr>
          <p:cNvPr id="2" name="Rectangle 1">
            <a:extLst>
              <a:ext uri="{FF2B5EF4-FFF2-40B4-BE49-F238E27FC236}">
                <a16:creationId xmlns:a16="http://schemas.microsoft.com/office/drawing/2014/main" id="{94B4CB40-C3BA-4515-87AF-B14A83D04D29}"/>
              </a:ext>
            </a:extLst>
          </p:cNvPr>
          <p:cNvSpPr>
            <a:spLocks noGrp="1"/>
          </p:cNvSpPr>
          <p:nvPr/>
        </p:nvSpPr>
        <p:spPr>
          <a:xfrm>
            <a:off x="609600" y="361950"/>
            <a:ext cx="10668000" cy="514350"/>
          </a:xfrm>
          <a:prstGeom prst="rect">
            <a:avLst/>
          </a:prstGeom>
          <a:noFill/>
          <a:ln w="0">
            <a:noFill/>
          </a:ln>
        </p:spPr>
        <p:txBody>
          <a:bodyPr wrap="square" lIns="0" tIns="0" rIns="0" bIns="0" anchor="t">
            <a:normAutofit/>
          </a:bodyPr>
          <a:lstStyle/>
          <a:p>
            <a:pPr algn="l">
              <a:lnSpc>
                <a:spcPct val="100000"/>
              </a:lnSpc>
              <a:buNone/>
              <a:defRPr sz="3150" b="1">
                <a:solidFill>
                  <a:srgbClr val="071A2B"/>
                </a:solidFill>
                <a:latin typeface="Aptos"/>
                <a:ea typeface="Aptos"/>
                <a:cs typeface="Aptos"/>
              </a:defRPr>
            </a:pPr>
            <a:r>
              <a:rPr sz="3150" b="1">
                <a:solidFill>
                  <a:srgbClr val="071A2B"/>
                </a:solidFill>
                <a:latin typeface="Aptos"/>
                <a:ea typeface="Aptos"/>
                <a:cs typeface="Aptos"/>
              </a:rPr>
              <a:t>SAP transaction points</a:t>
            </a:r>
          </a:p>
        </p:txBody>
      </p:sp>
      <p:sp>
        <p:nvSpPr>
          <p:cNvPr id="3" name="Rectangle 2">
            <a:extLst>
              <a:ext uri="{FF2B5EF4-FFF2-40B4-BE49-F238E27FC236}">
                <a16:creationId xmlns:a16="http://schemas.microsoft.com/office/drawing/2014/main" id="{148CAFEC-A34E-42ED-A1EB-63FE11CD5531}"/>
              </a:ext>
            </a:extLst>
          </p:cNvPr>
          <p:cNvSpPr>
            <a:spLocks noGrp="1"/>
          </p:cNvSpPr>
          <p:nvPr/>
        </p:nvSpPr>
        <p:spPr>
          <a:xfrm>
            <a:off x="628650" y="914400"/>
            <a:ext cx="10287000" cy="323850"/>
          </a:xfrm>
          <a:prstGeom prst="rect">
            <a:avLst/>
          </a:prstGeom>
          <a:noFill/>
          <a:ln w="0">
            <a:noFill/>
          </a:ln>
        </p:spPr>
        <p:txBody>
          <a:bodyPr wrap="square" lIns="0" tIns="0" rIns="0" bIns="0" anchor="t">
            <a:normAutofit/>
          </a:bodyPr>
          <a:lstStyle/>
          <a:p>
            <a:pPr algn="l">
              <a:lnSpc>
                <a:spcPct val="100000"/>
              </a:lnSpc>
              <a:buNone/>
              <a:defRPr sz="1500" b="0">
                <a:solidFill>
                  <a:srgbClr val="536575"/>
                </a:solidFill>
                <a:latin typeface="Aptos"/>
                <a:ea typeface="Aptos"/>
                <a:cs typeface="Aptos"/>
              </a:defRPr>
            </a:pPr>
            <a:r>
              <a:rPr sz="1500" b="0">
                <a:solidFill>
                  <a:srgbClr val="536575"/>
                </a:solidFill>
                <a:latin typeface="Aptos"/>
                <a:ea typeface="Aptos"/>
                <a:cs typeface="Aptos"/>
              </a:rPr>
              <a:t>NOVA posts each transaction only after the related shopfloor event is complete</a:t>
            </a:r>
          </a:p>
        </p:txBody>
      </p:sp>
      <p:graphicFrame>
        <p:nvGraphicFramePr>
          <p:cNvPr id="15" name="Table 14"/>
          <p:cNvGraphicFramePr/>
          <p:nvPr/>
        </p:nvGraphicFramePr>
        <p:xfrm>
          <a:off x="609600" y="1466850"/>
          <a:ext cx="10972800" cy="3714750"/>
        </p:xfrm>
        <a:graphic>
          <a:graphicData uri="http://schemas.openxmlformats.org/drawingml/2006/table">
            <a:tbl>
              <a:tblPr/>
              <a:tblGrid>
                <a:gridCol w="2095500">
                  <a:extLst>
                    <a:ext uri="{9D8B030D-6E8A-4147-A177-3AD203B41FA5}">
                      <a16:colId xmlns:a16="http://schemas.microsoft.com/office/drawing/2014/main" val="20000"/>
                    </a:ext>
                  </a:extLst>
                </a:gridCol>
                <a:gridCol w="2781300">
                  <a:extLst>
                    <a:ext uri="{9D8B030D-6E8A-4147-A177-3AD203B41FA5}">
                      <a16:colId xmlns:a16="http://schemas.microsoft.com/office/drawing/2014/main" val="20001"/>
                    </a:ext>
                  </a:extLst>
                </a:gridCol>
                <a:gridCol w="358140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590550">
                <a:tc>
                  <a:txBody>
                    <a:bodyPr/>
                    <a:lstStyle/>
                    <a:p>
                      <a:pPr algn="ctr"/>
                      <a:r>
                        <a:rPr sz="1500" b="1">
                          <a:solidFill>
                            <a:srgbClr val="FFFFFF"/>
                          </a:solidFill>
                          <a:latin typeface="Aptos"/>
                          <a:ea typeface="Aptos"/>
                          <a:cs typeface="Aptos"/>
                        </a:rPr>
                        <a:t>Shopfloor event</a:t>
                      </a:r>
                    </a:p>
                  </a:txBody>
                  <a:tcPr marL="95250" marR="95250" marT="76200" marB="76200" anchor="ctr">
                    <a:solidFill>
                      <a:srgbClr val="0E2C47"/>
                    </a:solidFill>
                  </a:tcPr>
                </a:tc>
                <a:tc>
                  <a:txBody>
                    <a:bodyPr/>
                    <a:lstStyle/>
                    <a:p>
                      <a:pPr algn="ctr"/>
                      <a:r>
                        <a:rPr sz="1500" b="1">
                          <a:solidFill>
                            <a:srgbClr val="FFFFFF"/>
                          </a:solidFill>
                          <a:latin typeface="Aptos"/>
                          <a:ea typeface="Aptos"/>
                          <a:cs typeface="Aptos"/>
                        </a:rPr>
                        <a:t>When NOVA sends it</a:t>
                      </a:r>
                    </a:p>
                  </a:txBody>
                  <a:tcPr marL="95250" marR="95250" marT="76200" marB="76200" anchor="ctr">
                    <a:solidFill>
                      <a:srgbClr val="0E2C47"/>
                    </a:solidFill>
                  </a:tcPr>
                </a:tc>
                <a:tc>
                  <a:txBody>
                    <a:bodyPr/>
                    <a:lstStyle/>
                    <a:p>
                      <a:pPr algn="ctr"/>
                      <a:r>
                        <a:rPr sz="1500" b="1">
                          <a:solidFill>
                            <a:srgbClr val="FFFFFF"/>
                          </a:solidFill>
                          <a:latin typeface="Aptos"/>
                          <a:ea typeface="Aptos"/>
                          <a:cs typeface="Aptos"/>
                        </a:rPr>
                        <a:t>SAP record</a:t>
                      </a:r>
                    </a:p>
                  </a:txBody>
                  <a:tcPr marL="95250" marR="95250" marT="76200" marB="76200" anchor="ctr">
                    <a:solidFill>
                      <a:srgbClr val="0E2C47"/>
                    </a:solidFill>
                  </a:tcPr>
                </a:tc>
                <a:tc>
                  <a:txBody>
                    <a:bodyPr/>
                    <a:lstStyle/>
                    <a:p>
                      <a:pPr algn="ctr"/>
                      <a:r>
                        <a:rPr sz="1500" b="1">
                          <a:solidFill>
                            <a:srgbClr val="FFFFFF"/>
                          </a:solidFill>
                          <a:latin typeface="Aptos"/>
                          <a:ea typeface="Aptos"/>
                          <a:cs typeface="Aptos"/>
                        </a:rPr>
                        <a:t>Confirmation back to NOVA</a:t>
                      </a:r>
                    </a:p>
                  </a:txBody>
                  <a:tcPr marL="95250" marR="95250" marT="76200" marB="76200" anchor="ctr">
                    <a:solidFill>
                      <a:srgbClr val="0E2C47"/>
                    </a:solidFill>
                  </a:tcPr>
                </a:tc>
                <a:extLst>
                  <a:ext uri="{0D108BD9-81ED-4DB2-BD59-A6C34878D82A}">
                    <a16:rowId xmlns:a16="http://schemas.microsoft.com/office/drawing/2014/main" val="10000"/>
                  </a:ext>
                </a:extLst>
              </a:tr>
              <a:tr h="781050">
                <a:tc>
                  <a:txBody>
                    <a:bodyPr/>
                    <a:lstStyle/>
                    <a:p>
                      <a:r>
                        <a:rPr sz="1425" b="1">
                          <a:solidFill>
                            <a:srgbClr val="071A2B"/>
                          </a:solidFill>
                          <a:latin typeface="Aptos"/>
                          <a:ea typeface="Aptos"/>
                          <a:cs typeface="Aptos"/>
                        </a:rPr>
                        <a:t>Material receipt</a:t>
                      </a:r>
                    </a:p>
                  </a:txBody>
                  <a:tcPr marL="95250" marR="95250" marT="76200" marB="76200" anchor="ctr">
                    <a:solidFill>
                      <a:srgbClr val="EAF5FB"/>
                    </a:solidFill>
                  </a:tcPr>
                </a:tc>
                <a:tc>
                  <a:txBody>
                    <a:bodyPr/>
                    <a:lstStyle/>
                    <a:p>
                      <a:r>
                        <a:rPr sz="1350">
                          <a:solidFill>
                            <a:srgbClr val="142433"/>
                          </a:solidFill>
                          <a:latin typeface="Aptos"/>
                          <a:ea typeface="Aptos"/>
                          <a:cs typeface="Aptos"/>
                        </a:rPr>
                        <a:t>Incoming has been checked and approved</a:t>
                      </a:r>
                    </a:p>
                  </a:txBody>
                  <a:tcPr marL="95250" marR="95250" marT="76200" marB="76200" anchor="ctr">
                    <a:solidFill>
                      <a:srgbClr val="FFFFFF"/>
                    </a:solidFill>
                  </a:tcPr>
                </a:tc>
                <a:tc>
                  <a:txBody>
                    <a:bodyPr/>
                    <a:lstStyle/>
                    <a:p>
                      <a:r>
                        <a:rPr sz="1350">
                          <a:solidFill>
                            <a:srgbClr val="142433"/>
                          </a:solidFill>
                          <a:latin typeface="Aptos"/>
                          <a:ea typeface="Aptos"/>
                          <a:cs typeface="Aptos"/>
                        </a:rPr>
                        <a:t>Material goods receipt</a:t>
                      </a:r>
                    </a:p>
                  </a:txBody>
                  <a:tcPr marL="95250" marR="95250" marT="76200" marB="76200" anchor="ctr">
                    <a:solidFill>
                      <a:srgbClr val="FFFFFF"/>
                    </a:solidFill>
                  </a:tcPr>
                </a:tc>
                <a:tc>
                  <a:txBody>
                    <a:bodyPr/>
                    <a:lstStyle/>
                    <a:p>
                      <a:r>
                        <a:rPr sz="1350">
                          <a:solidFill>
                            <a:srgbClr val="142433"/>
                          </a:solidFill>
                          <a:latin typeface="Aptos"/>
                          <a:ea typeface="Aptos"/>
                          <a:cs typeface="Aptos"/>
                        </a:rPr>
                        <a:t>SAP document number</a:t>
                      </a:r>
                    </a:p>
                  </a:txBody>
                  <a:tcPr marL="95250" marR="95250" marT="76200" marB="76200" anchor="ctr">
                    <a:solidFill>
                      <a:srgbClr val="FFFFFF"/>
                    </a:solidFill>
                  </a:tcPr>
                </a:tc>
                <a:extLst>
                  <a:ext uri="{0D108BD9-81ED-4DB2-BD59-A6C34878D82A}">
                    <a16:rowId xmlns:a16="http://schemas.microsoft.com/office/drawing/2014/main" val="10001"/>
                  </a:ext>
                </a:extLst>
              </a:tr>
              <a:tr h="781050">
                <a:tc>
                  <a:txBody>
                    <a:bodyPr/>
                    <a:lstStyle/>
                    <a:p>
                      <a:r>
                        <a:rPr sz="1425" b="1">
                          <a:solidFill>
                            <a:srgbClr val="071A2B"/>
                          </a:solidFill>
                          <a:latin typeface="Aptos"/>
                          <a:ea typeface="Aptos"/>
                          <a:cs typeface="Aptos"/>
                        </a:rPr>
                        <a:t>Material consumption</a:t>
                      </a:r>
                    </a:p>
                  </a:txBody>
                  <a:tcPr marL="95250" marR="95250" marT="76200" marB="76200" anchor="ctr">
                    <a:solidFill>
                      <a:srgbClr val="F3F6F9"/>
                    </a:solidFill>
                  </a:tcPr>
                </a:tc>
                <a:tc>
                  <a:txBody>
                    <a:bodyPr/>
                    <a:lstStyle/>
                    <a:p>
                      <a:r>
                        <a:rPr sz="1350">
                          <a:solidFill>
                            <a:srgbClr val="142433"/>
                          </a:solidFill>
                          <a:latin typeface="Aptos"/>
                          <a:ea typeface="Aptos"/>
                          <a:cs typeface="Aptos"/>
                        </a:rPr>
                        <a:t>BOM picking has been confirmed</a:t>
                      </a:r>
                    </a:p>
                  </a:txBody>
                  <a:tcPr marL="95250" marR="95250" marT="76200" marB="76200" anchor="ctr">
                    <a:solidFill>
                      <a:srgbClr val="FFFFFF"/>
                    </a:solidFill>
                  </a:tcPr>
                </a:tc>
                <a:tc>
                  <a:txBody>
                    <a:bodyPr/>
                    <a:lstStyle/>
                    <a:p>
                      <a:r>
                        <a:rPr sz="1350">
                          <a:solidFill>
                            <a:srgbClr val="142433"/>
                          </a:solidFill>
                          <a:latin typeface="Aptos"/>
                          <a:ea typeface="Aptos"/>
                          <a:cs typeface="Aptos"/>
                        </a:rPr>
                        <a:t>Goods issue to the production order</a:t>
                      </a:r>
                    </a:p>
                  </a:txBody>
                  <a:tcPr marL="95250" marR="95250" marT="76200" marB="76200" anchor="ctr">
                    <a:solidFill>
                      <a:srgbClr val="FFFFFF"/>
                    </a:solidFill>
                  </a:tcPr>
                </a:tc>
                <a:tc>
                  <a:txBody>
                    <a:bodyPr/>
                    <a:lstStyle/>
                    <a:p>
                      <a:r>
                        <a:rPr sz="1350">
                          <a:solidFill>
                            <a:srgbClr val="142433"/>
                          </a:solidFill>
                          <a:latin typeface="Aptos"/>
                          <a:ea typeface="Aptos"/>
                          <a:cs typeface="Aptos"/>
                        </a:rPr>
                        <a:t>Material document number</a:t>
                      </a:r>
                    </a:p>
                  </a:txBody>
                  <a:tcPr marL="95250" marR="95250" marT="76200" marB="76200" anchor="ctr">
                    <a:solidFill>
                      <a:srgbClr val="FFFFFF"/>
                    </a:solidFill>
                  </a:tcPr>
                </a:tc>
                <a:extLst>
                  <a:ext uri="{0D108BD9-81ED-4DB2-BD59-A6C34878D82A}">
                    <a16:rowId xmlns:a16="http://schemas.microsoft.com/office/drawing/2014/main" val="10002"/>
                  </a:ext>
                </a:extLst>
              </a:tr>
              <a:tr h="781050">
                <a:tc>
                  <a:txBody>
                    <a:bodyPr/>
                    <a:lstStyle/>
                    <a:p>
                      <a:r>
                        <a:rPr sz="1425" b="1">
                          <a:solidFill>
                            <a:srgbClr val="071A2B"/>
                          </a:solidFill>
                          <a:latin typeface="Aptos"/>
                          <a:ea typeface="Aptos"/>
                          <a:cs typeface="Aptos"/>
                        </a:rPr>
                        <a:t>Production output</a:t>
                      </a:r>
                    </a:p>
                  </a:txBody>
                  <a:tcPr marL="95250" marR="95250" marT="76200" marB="76200" anchor="ctr">
                    <a:solidFill>
                      <a:srgbClr val="EAF5FB"/>
                    </a:solidFill>
                  </a:tcPr>
                </a:tc>
                <a:tc>
                  <a:txBody>
                    <a:bodyPr/>
                    <a:lstStyle/>
                    <a:p>
                      <a:r>
                        <a:rPr sz="1350">
                          <a:solidFill>
                            <a:srgbClr val="142433"/>
                          </a:solidFill>
                          <a:latin typeface="Aptos"/>
                          <a:ea typeface="Aptos"/>
                          <a:cs typeface="Aptos"/>
                        </a:rPr>
                        <a:t>Passthrough or box assembly is complete</a:t>
                      </a:r>
                    </a:p>
                  </a:txBody>
                  <a:tcPr marL="95250" marR="95250" marT="76200" marB="76200" anchor="ctr">
                    <a:solidFill>
                      <a:srgbClr val="FFFFFF"/>
                    </a:solidFill>
                  </a:tcPr>
                </a:tc>
                <a:tc>
                  <a:txBody>
                    <a:bodyPr/>
                    <a:lstStyle/>
                    <a:p>
                      <a:r>
                        <a:rPr sz="1350">
                          <a:solidFill>
                            <a:srgbClr val="142433"/>
                          </a:solidFill>
                          <a:latin typeface="Aptos"/>
                          <a:ea typeface="Aptos"/>
                          <a:cs typeface="Aptos"/>
                        </a:rPr>
                        <a:t>Production confirmation and FG receipt</a:t>
                      </a:r>
                    </a:p>
                  </a:txBody>
                  <a:tcPr marL="95250" marR="95250" marT="76200" marB="76200" anchor="ctr">
                    <a:solidFill>
                      <a:srgbClr val="FFFFFF"/>
                    </a:solidFill>
                  </a:tcPr>
                </a:tc>
                <a:tc>
                  <a:txBody>
                    <a:bodyPr/>
                    <a:lstStyle/>
                    <a:p>
                      <a:r>
                        <a:rPr sz="1350">
                          <a:solidFill>
                            <a:srgbClr val="142433"/>
                          </a:solidFill>
                          <a:latin typeface="Aptos"/>
                          <a:ea typeface="Aptos"/>
                          <a:cs typeface="Aptos"/>
                        </a:rPr>
                        <a:t>Confirmation and material document</a:t>
                      </a:r>
                    </a:p>
                  </a:txBody>
                  <a:tcPr marL="95250" marR="95250" marT="76200" marB="76200" anchor="ctr">
                    <a:solidFill>
                      <a:srgbClr val="FFFFFF"/>
                    </a:solidFill>
                  </a:tcPr>
                </a:tc>
                <a:extLst>
                  <a:ext uri="{0D108BD9-81ED-4DB2-BD59-A6C34878D82A}">
                    <a16:rowId xmlns:a16="http://schemas.microsoft.com/office/drawing/2014/main" val="10003"/>
                  </a:ext>
                </a:extLst>
              </a:tr>
              <a:tr h="781050">
                <a:tc>
                  <a:txBody>
                    <a:bodyPr/>
                    <a:lstStyle/>
                    <a:p>
                      <a:r>
                        <a:rPr sz="1425" b="1">
                          <a:solidFill>
                            <a:srgbClr val="071A2B"/>
                          </a:solidFill>
                          <a:latin typeface="Aptos"/>
                          <a:ea typeface="Aptos"/>
                          <a:cs typeface="Aptos"/>
                        </a:rPr>
                        <a:t>FG delivery</a:t>
                      </a:r>
                    </a:p>
                  </a:txBody>
                  <a:tcPr marL="95250" marR="95250" marT="76200" marB="76200" anchor="ctr">
                    <a:solidFill>
                      <a:srgbClr val="F3F6F9"/>
                    </a:solidFill>
                  </a:tcPr>
                </a:tc>
                <a:tc>
                  <a:txBody>
                    <a:bodyPr/>
                    <a:lstStyle/>
                    <a:p>
                      <a:r>
                        <a:rPr sz="1350">
                          <a:solidFill>
                            <a:srgbClr val="142433"/>
                          </a:solidFill>
                          <a:latin typeface="Aptos"/>
                          <a:ea typeface="Aptos"/>
                          <a:cs typeface="Aptos"/>
                        </a:rPr>
                        <a:t>Poka-Yoke passed and the label was delivered</a:t>
                      </a:r>
                    </a:p>
                  </a:txBody>
                  <a:tcPr marL="95250" marR="95250" marT="76200" marB="76200" anchor="ctr">
                    <a:solidFill>
                      <a:srgbClr val="FFFFFF"/>
                    </a:solidFill>
                  </a:tcPr>
                </a:tc>
                <a:tc>
                  <a:txBody>
                    <a:bodyPr/>
                    <a:lstStyle/>
                    <a:p>
                      <a:r>
                        <a:rPr sz="1350">
                          <a:solidFill>
                            <a:srgbClr val="142433"/>
                          </a:solidFill>
                          <a:latin typeface="Aptos"/>
                          <a:ea typeface="Aptos"/>
                          <a:cs typeface="Aptos"/>
                        </a:rPr>
                        <a:t>FG goods issue or delivery posting</a:t>
                      </a:r>
                    </a:p>
                  </a:txBody>
                  <a:tcPr marL="95250" marR="95250" marT="76200" marB="76200" anchor="ctr">
                    <a:solidFill>
                      <a:srgbClr val="FFFFFF"/>
                    </a:solidFill>
                  </a:tcPr>
                </a:tc>
                <a:tc>
                  <a:txBody>
                    <a:bodyPr/>
                    <a:lstStyle/>
                    <a:p>
                      <a:r>
                        <a:rPr sz="1350">
                          <a:solidFill>
                            <a:srgbClr val="142433"/>
                          </a:solidFill>
                          <a:latin typeface="Aptos"/>
                          <a:ea typeface="Aptos"/>
                          <a:cs typeface="Aptos"/>
                        </a:rPr>
                        <a:t>Delivery document and final status</a:t>
                      </a:r>
                    </a:p>
                  </a:txBody>
                  <a:tcPr marL="95250" marR="95250" marT="76200" marB="76200" anchor="ctr">
                    <a:solidFill>
                      <a:srgbClr val="FFFFFF"/>
                    </a:solidFill>
                  </a:tcPr>
                </a:tc>
                <a:extLst>
                  <a:ext uri="{0D108BD9-81ED-4DB2-BD59-A6C34878D82A}">
                    <a16:rowId xmlns:a16="http://schemas.microsoft.com/office/drawing/2014/main" val="10004"/>
                  </a:ext>
                </a:extLst>
              </a:tr>
            </a:tbl>
          </a:graphicData>
        </a:graphic>
      </p:graphicFrame>
      <p:sp>
        <p:nvSpPr>
          <p:cNvPr id="5" name="Rectangle: Rounded Corners 4">
            <a:extLst>
              <a:ext uri="{FF2B5EF4-FFF2-40B4-BE49-F238E27FC236}">
                <a16:creationId xmlns:a16="http://schemas.microsoft.com/office/drawing/2014/main" id="{EBA44E64-099B-45F7-A38E-521EB7D2DF82}"/>
              </a:ext>
            </a:extLst>
          </p:cNvPr>
          <p:cNvSpPr>
            <a:spLocks noGrp="1"/>
          </p:cNvSpPr>
          <p:nvPr/>
        </p:nvSpPr>
        <p:spPr>
          <a:xfrm>
            <a:off x="1085850" y="5353050"/>
            <a:ext cx="10020300" cy="857250"/>
          </a:xfrm>
          <a:prstGeom prst="roundRect">
            <a:avLst>
              <a:gd name="adj" fmla="val 8889"/>
            </a:avLst>
          </a:prstGeom>
          <a:solidFill>
            <a:srgbClr val="0E2C47"/>
          </a:solidFill>
          <a:ln w="0">
            <a:noFill/>
          </a:ln>
        </p:spPr>
        <p:txBody>
          <a:bodyPr/>
          <a:lstStyle/>
          <a:p>
            <a:endParaRPr lang="en-ID"/>
          </a:p>
        </p:txBody>
      </p:sp>
      <p:sp>
        <p:nvSpPr>
          <p:cNvPr id="6" name="Rectangle 5">
            <a:extLst>
              <a:ext uri="{FF2B5EF4-FFF2-40B4-BE49-F238E27FC236}">
                <a16:creationId xmlns:a16="http://schemas.microsoft.com/office/drawing/2014/main" id="{01FABFA9-4278-4CFE-B270-86B5B053CDD2}"/>
              </a:ext>
            </a:extLst>
          </p:cNvPr>
          <p:cNvSpPr>
            <a:spLocks noGrp="1"/>
          </p:cNvSpPr>
          <p:nvPr/>
        </p:nvSpPr>
        <p:spPr>
          <a:xfrm>
            <a:off x="1371600" y="5619750"/>
            <a:ext cx="1962150" cy="304800"/>
          </a:xfrm>
          <a:prstGeom prst="rect">
            <a:avLst/>
          </a:prstGeom>
          <a:noFill/>
          <a:ln w="0">
            <a:noFill/>
          </a:ln>
        </p:spPr>
        <p:txBody>
          <a:bodyPr wrap="square" lIns="0" tIns="0" rIns="0" bIns="0" anchor="t">
            <a:normAutofit/>
          </a:bodyPr>
          <a:lstStyle/>
          <a:p>
            <a:pPr algn="l">
              <a:lnSpc>
                <a:spcPct val="100000"/>
              </a:lnSpc>
              <a:buNone/>
              <a:defRPr sz="1575" b="1">
                <a:solidFill>
                  <a:srgbClr val="12B7E6"/>
                </a:solidFill>
                <a:latin typeface="Aptos"/>
                <a:ea typeface="Aptos"/>
                <a:cs typeface="Aptos"/>
              </a:defRPr>
            </a:pPr>
            <a:r>
              <a:rPr sz="1575" b="1">
                <a:solidFill>
                  <a:srgbClr val="12B7E6"/>
                </a:solidFill>
                <a:latin typeface="Aptos"/>
                <a:ea typeface="Aptos"/>
                <a:cs typeface="Aptos"/>
              </a:rPr>
              <a:t>Management ask</a:t>
            </a:r>
          </a:p>
        </p:txBody>
      </p:sp>
      <p:sp>
        <p:nvSpPr>
          <p:cNvPr id="7" name="Rectangle 6">
            <a:extLst>
              <a:ext uri="{FF2B5EF4-FFF2-40B4-BE49-F238E27FC236}">
                <a16:creationId xmlns:a16="http://schemas.microsoft.com/office/drawing/2014/main" id="{2FC28B05-EE17-47B7-85DA-430E8E7A1797}"/>
              </a:ext>
            </a:extLst>
          </p:cNvPr>
          <p:cNvSpPr>
            <a:spLocks noGrp="1"/>
          </p:cNvSpPr>
          <p:nvPr/>
        </p:nvSpPr>
        <p:spPr>
          <a:xfrm>
            <a:off x="3429000" y="5505450"/>
            <a:ext cx="7219950" cy="323850"/>
          </a:xfrm>
          <a:prstGeom prst="rect">
            <a:avLst/>
          </a:prstGeom>
          <a:noFill/>
          <a:ln w="0">
            <a:noFill/>
          </a:ln>
        </p:spPr>
        <p:txBody>
          <a:bodyPr wrap="square" lIns="0" tIns="0" rIns="0" bIns="0" anchor="ctr">
            <a:normAutofit/>
          </a:bodyPr>
          <a:lstStyle/>
          <a:p>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Support Production's formal request to Accounting and the SAP design review.</a:t>
            </a:r>
          </a:p>
        </p:txBody>
      </p:sp>
      <p:sp>
        <p:nvSpPr>
          <p:cNvPr id="8" name="Rectangle 7">
            <a:extLst>
              <a:ext uri="{FF2B5EF4-FFF2-40B4-BE49-F238E27FC236}">
                <a16:creationId xmlns:a16="http://schemas.microsoft.com/office/drawing/2014/main" id="{52635F45-2077-4740-8960-E5CCD5E8F9EA}"/>
              </a:ext>
            </a:extLst>
          </p:cNvPr>
          <p:cNvSpPr>
            <a:spLocks noGrp="1"/>
          </p:cNvSpPr>
          <p:nvPr/>
        </p:nvSpPr>
        <p:spPr>
          <a:xfrm>
            <a:off x="3429000" y="5905500"/>
            <a:ext cx="7219950" cy="190500"/>
          </a:xfrm>
          <a:prstGeom prst="rect">
            <a:avLst/>
          </a:prstGeom>
          <a:noFill/>
          <a:ln w="0">
            <a:noFill/>
          </a:ln>
        </p:spPr>
        <p:txBody>
          <a:bodyPr wrap="square" lIns="0" tIns="0" rIns="0" bIns="0" anchor="t">
            <a:normAutofit/>
          </a:bodyPr>
          <a:lstStyle/>
          <a:p>
            <a:pPr algn="ctr">
              <a:lnSpc>
                <a:spcPct val="100000"/>
              </a:lnSpc>
              <a:buNone/>
              <a:defRPr sz="1125" b="0">
                <a:solidFill>
                  <a:srgbClr val="CFE8F7"/>
                </a:solidFill>
                <a:latin typeface="Aptos"/>
                <a:ea typeface="Aptos"/>
                <a:cs typeface="Aptos"/>
              </a:defRPr>
            </a:pPr>
            <a:r>
              <a:rPr sz="1125" b="0">
                <a:solidFill>
                  <a:srgbClr val="CFE8F7"/>
                </a:solidFill>
                <a:latin typeface="Aptos"/>
                <a:ea typeface="Aptos"/>
                <a:cs typeface="Aptos"/>
              </a:rPr>
              <a:t>Accounting and the SAP team will confirm the final document types and account setup.</a:t>
            </a:r>
          </a:p>
        </p:txBody>
      </p:sp>
      <p:sp>
        <p:nvSpPr>
          <p:cNvPr id="9" name="Straight Connector 8">
            <a:extLst>
              <a:ext uri="{FF2B5EF4-FFF2-40B4-BE49-F238E27FC236}">
                <a16:creationId xmlns:a16="http://schemas.microsoft.com/office/drawing/2014/main" id="{3E69F4F9-F006-4353-864B-32AC8E525135}"/>
              </a:ext>
            </a:extLst>
          </p:cNvPr>
          <p:cNvSpPr>
            <a:spLocks noGrp="1"/>
          </p:cNvSpPr>
          <p:nvPr/>
        </p:nvSpPr>
        <p:spPr>
          <a:xfrm>
            <a:off x="609600" y="6486525"/>
            <a:ext cx="10972800" cy="0"/>
          </a:xfrm>
          <a:prstGeom prst="line">
            <a:avLst/>
          </a:prstGeom>
          <a:noFill/>
          <a:ln w="9525">
            <a:solidFill>
              <a:srgbClr val="D5DEE6"/>
            </a:solidFill>
            <a:prstDash val="solid"/>
          </a:ln>
        </p:spPr>
        <p:txBody>
          <a:bodyPr/>
          <a:lstStyle/>
          <a:p>
            <a:endParaRPr lang="en-ID"/>
          </a:p>
        </p:txBody>
      </p:sp>
      <p:sp>
        <p:nvSpPr>
          <p:cNvPr id="10" name="Rectangle 9">
            <a:extLst>
              <a:ext uri="{FF2B5EF4-FFF2-40B4-BE49-F238E27FC236}">
                <a16:creationId xmlns:a16="http://schemas.microsoft.com/office/drawing/2014/main" id="{CBE3416D-B085-4819-A5D8-13B73A6B9F30}"/>
              </a:ext>
            </a:extLst>
          </p:cNvPr>
          <p:cNvSpPr>
            <a:spLocks noGrp="1"/>
          </p:cNvSpPr>
          <p:nvPr/>
        </p:nvSpPr>
        <p:spPr>
          <a:xfrm>
            <a:off x="609600" y="6553200"/>
            <a:ext cx="4953000" cy="190500"/>
          </a:xfrm>
          <a:prstGeom prst="rect">
            <a:avLst/>
          </a:prstGeom>
          <a:noFill/>
          <a:ln w="0">
            <a:noFill/>
          </a:ln>
        </p:spPr>
        <p:txBody>
          <a:bodyPr wrap="square" lIns="0" tIns="0" rIns="0" bIns="0" anchor="t">
            <a:normAutofit/>
          </a:bodyPr>
          <a:lstStyle/>
          <a:p>
            <a:pPr algn="l">
              <a:lnSpc>
                <a:spcPct val="100000"/>
              </a:lnSpc>
              <a:buNone/>
              <a:defRPr sz="975" b="0">
                <a:solidFill>
                  <a:srgbClr val="536575"/>
                </a:solidFill>
                <a:latin typeface="Aptos"/>
                <a:ea typeface="Aptos"/>
                <a:cs typeface="Aptos"/>
              </a:defRPr>
            </a:pPr>
            <a:r>
              <a:rPr sz="975" b="0">
                <a:solidFill>
                  <a:srgbClr val="536575"/>
                </a:solidFill>
                <a:latin typeface="Aptos"/>
                <a:ea typeface="Aptos"/>
                <a:cs typeface="Aptos"/>
              </a:rPr>
              <a:t>ANSEI / NOVA Shopfloor MES / SAP</a:t>
            </a:r>
          </a:p>
        </p:txBody>
      </p:sp>
      <p:sp>
        <p:nvSpPr>
          <p:cNvPr id="11" name="Rectangle 10">
            <a:extLst>
              <a:ext uri="{FF2B5EF4-FFF2-40B4-BE49-F238E27FC236}">
                <a16:creationId xmlns:a16="http://schemas.microsoft.com/office/drawing/2014/main" id="{5C321DC6-402D-47D6-98F7-AF9606B63418}"/>
              </a:ext>
            </a:extLst>
          </p:cNvPr>
          <p:cNvSpPr>
            <a:spLocks noGrp="1"/>
          </p:cNvSpPr>
          <p:nvPr/>
        </p:nvSpPr>
        <p:spPr>
          <a:xfrm>
            <a:off x="11049000" y="6534150"/>
            <a:ext cx="533400" cy="209550"/>
          </a:xfrm>
          <a:prstGeom prst="rect">
            <a:avLst/>
          </a:prstGeom>
          <a:noFill/>
          <a:ln w="0">
            <a:noFill/>
          </a:ln>
        </p:spPr>
        <p:txBody>
          <a:bodyPr wrap="square" lIns="0" tIns="0" rIns="0" bIns="0" anchor="t">
            <a:normAutofit/>
          </a:bodyPr>
          <a:lstStyle/>
          <a:p>
            <a:pPr algn="r">
              <a:lnSpc>
                <a:spcPct val="100000"/>
              </a:lnSpc>
              <a:buNone/>
              <a:defRPr sz="1050" b="1">
                <a:solidFill>
                  <a:srgbClr val="0B5CAD"/>
                </a:solidFill>
                <a:latin typeface="Aptos"/>
                <a:ea typeface="Aptos"/>
                <a:cs typeface="Aptos"/>
              </a:defRPr>
            </a:pPr>
            <a:r>
              <a:rPr sz="1050" b="1">
                <a:solidFill>
                  <a:srgbClr val="0B5CAD"/>
                </a:solidFill>
                <a:latin typeface="Aptos"/>
                <a:ea typeface="Aptos"/>
                <a:cs typeface="Aptos"/>
              </a:rPr>
              <a:t>06</a:t>
            </a:r>
          </a:p>
        </p:txBody>
      </p:sp>
    </p:spTree>
    <p:extLst>
      <p:ext uri="{BB962C8B-B14F-4D97-AF65-F5344CB8AC3E}">
        <p14:creationId xmlns:p14="http://schemas.microsoft.com/office/powerpoint/2010/main" val="39486559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939</Words>
  <Application>Microsoft Office PowerPoint</Application>
  <DocSecurity>0</DocSecurity>
  <PresentationFormat>Widescreen</PresentationFormat>
  <Paragraphs>135</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Aptos</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Irfan Akbari Habibi</cp:lastModifiedBy>
  <cp:revision>1</cp:revision>
  <dcterms:created xsi:type="dcterms:W3CDTF">2026-09-23T07:07:02Z</dcterms:created>
  <dcterms:modified xsi:type="dcterms:W3CDTF">2026-09-23T07:36:07Z</dcterms:modified>
</cp:coreProperties>
</file>